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_Sneha _" userId="8bed0b989fa08156" providerId="LiveId" clId="{A3C9F93C-D62B-4C99-9158-0016F787760E}"/>
    <pc:docChg chg="modSld">
      <pc:chgData name="_Sneha _" userId="8bed0b989fa08156" providerId="LiveId" clId="{A3C9F93C-D62B-4C99-9158-0016F787760E}" dt="2026-08-03T02:57:54.939" v="4" actId="1076"/>
      <pc:docMkLst>
        <pc:docMk/>
      </pc:docMkLst>
      <pc:sldChg chg="modSp mod">
        <pc:chgData name="_Sneha _" userId="8bed0b989fa08156" providerId="LiveId" clId="{A3C9F93C-D62B-4C99-9158-0016F787760E}" dt="2026-08-03T02:57:54.939" v="4" actId="1076"/>
        <pc:sldMkLst>
          <pc:docMk/>
          <pc:sldMk cId="0" sldId="259"/>
        </pc:sldMkLst>
        <pc:spChg chg="mod">
          <ac:chgData name="_Sneha _" userId="8bed0b989fa08156" providerId="LiveId" clId="{A3C9F93C-D62B-4C99-9158-0016F787760E}" dt="2026-08-03T02:56:49.196" v="1" actId="1076"/>
          <ac:spMkLst>
            <pc:docMk/>
            <pc:sldMk cId="0" sldId="259"/>
            <ac:spMk id="23" creationId="{00000000-0000-0000-0000-000000000000}"/>
          </ac:spMkLst>
        </pc:spChg>
        <pc:spChg chg="mod">
          <ac:chgData name="_Sneha _" userId="8bed0b989fa08156" providerId="LiveId" clId="{A3C9F93C-D62B-4C99-9158-0016F787760E}" dt="2026-08-03T02:57:54.939" v="4" actId="1076"/>
          <ac:spMkLst>
            <pc:docMk/>
            <pc:sldMk cId="0" sldId="259"/>
            <ac:spMk id="32" creationId="{00000000-0000-0000-0000-000000000000}"/>
          </ac:spMkLst>
        </pc:spChg>
        <pc:spChg chg="mod">
          <ac:chgData name="_Sneha _" userId="8bed0b989fa08156" providerId="LiveId" clId="{A3C9F93C-D62B-4C99-9158-0016F787760E}" dt="2026-08-03T02:56:41.180" v="0" actId="1076"/>
          <ac:spMkLst>
            <pc:docMk/>
            <pc:sldMk cId="0" sldId="259"/>
            <ac:spMk id="35" creationId="{00000000-0000-0000-0000-000000000000}"/>
          </ac:spMkLst>
        </pc:spChg>
        <pc:cxnChg chg="mod">
          <ac:chgData name="_Sneha _" userId="8bed0b989fa08156" providerId="LiveId" clId="{A3C9F93C-D62B-4C99-9158-0016F787760E}" dt="2026-08-03T02:56:58.538" v="3" actId="14100"/>
          <ac:cxnSpMkLst>
            <pc:docMk/>
            <pc:sldMk cId="0" sldId="259"/>
            <ac:cxnSpMk id="24"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3921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and introduce the project: a time-aware, centralized online feature store for auto insurance policy models built on Databricks. One sentence on the core idea — policy events flow into a single feature computation pipeline that serves multiple ML models consistently. Introduce yourself, your role, team and mentor, then move to the problem statement.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problem before showing any solution. Four things were true before this project: models were duplicating feature logic, that duplication caused drift between models, some policy changes are dated in the future and can't go live yet, and nobody had a reliable way to see what a feature's value was in the past for debugging or audit. The diagram on the right shows the 'before' state — three models, three separate recalculations from the same raw transactions. Land on the highlighted line: one trusted source, right value, right time.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scope contract for the project. Four objectives: one shared active table instead of per-model computation, 29 features computed once, explicit handling of past, present and future feature states, and a low-latency lookup path with full traceability. On the right, the technology scope — everything here is Databricks-native: Delta Lake with Change Data Feed for streaming triggers, PySpark for computation, Unity Catalog for governance, and Lakebase plus Feature Serving for online access. Databricks Workflows handles the scheduled jobs we'll see in the architecture next.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main architecture slide — walk it left to right, top to bottom. Transaction JSON files land in a Volume; Auto Loader detects them and inserts valid events into the RAW_POLICY_EVENTS Bronze table, sending malformed ones to a dead-letter queue instead of stalling the pipeline. Change Data Feed on that Bronze table triggers PySpark feature computation, which writes to the COMPUTED_FEATURE_EVENTS Silver table — CDF on that table then triggers registry-driven routing. Routing fans out to three tables: ACTIVE for serving, PENDING for future-dated changes, and HISTORY for SCD Type 2 snapshots. Two scheduled jobs keep this correct over time — an hourly job promotes due PENDING rows into ACTIVE, and a daily job recomputes GROUP_A directly because those features can drift purely from the passage of time. Finally, ACTIVE is published to a Lakebase online store and exposed through a REST Feature Serving Endpoint that multiple models query by policy ID. Note the color coding — teal is event-driven, amber is hourly, purple is daily; none of this is a single always-on stream.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29 features split into two groups with fundamentally different lifecycles. GROUP_A — five features — is driven by transaction and wall-clock time: transaction counts and tenure. It always routes immediately, but because it depends on elapsed time rather than only on new events, it also gets refreshed daily. GROUP_B — 24 features — covers vehicle, driver, premium, coverage, and demographic-change signals derived by comparing the latest transaction snapshot to the previous one. GROUP_B is the only group that can be future-effective and land in pending. Across both groups the computation is pure PySpark DataFrame operations — explode for the JSON arrays, aggregation for snapshot counts, window lag for previous-transaction comparison, and set or map comparison for added/removed coverage and demographic changes — not a row-by-row stored procedure.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concept slide non-technical stakeholders remember. Three states exist for every policy at once: history preserves everything that used to be true with precise validity windows, active holds exactly one current row per policy and is what models actually read, and pending holds GROUP_B changes whose effective date hasn't arrived yet — they are stored but never exposed to a model early. Walk the example at the bottom with a fictional policy, POLICY-1001: a transaction arrives today, its GROUP_A features go active immediately, but its GROUP_B change is dated in the future, so it waits in pending. When the hourly job sees the effective date has arrived, it promotes the pending values into active and closes the prior active row into history — a clean, auditable handoff with no gap and no overlap.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registry is what keeps this pipeline from turning into hardcoded column lists scattered across notebooks. FEATURE_GROUP_REGISTRY stores, per feature group, which columns it owns, how it routes, and which column drives its effective time — read fresh on every micro-batch. The routing pipeline decides per event: an immediate group always merges into active; an effective-date group merges into active if its date has already arrived, otherwise it's inserted into pending. Because column lists come from the registry rather than being hardcoded, adding a third feature group later is a metadata change, not a pipeline rewrite. The footnote calls out a real correctness detail from the code — history is closed exactly once per event, using the earliest effective date across whatever groups that event touches, which is what prevents a negative or overlapping validity window when two groups land at once.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supported metrics: 29 features computed centrally, an observed lookup latency of about 130.4 milliseconds measured during project testing, exactly one active row per policy, and explicit support for past, present, and future feature states. Below that, four concrete benefits — no per-model recalculation, consistent feature definitions across models, full traceability through source transaction IDs and SCD Type 2 history, and a serving layer that can be reused as more models and feature groups are added. Be careful to frame the latency number as an observed test measurement, not a committed SLA — that's called out explicitly in the footnote.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engineering risks, each paired with how the implementation addresses it. Two are structural correctness guarantees baked into the code: keeping pending values invisible until their effective date, and closing history exactly once per event to avoid overlapping validity windows. Two are operational: the daily GROUP_A refresh compensates for time-based drift, and transaction-level idempotency plus a dead-letter queue handle duplicate or malformed events. The last two are open engineering considerations rather than fully solved problems — online endpoint availability needs monitoring and a warm-capacity strategy, and re-reading full transaction history per touched policy is a known scaling concern with clear future optimizations rather than a current bottleneck.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a forward-looking roadmap across three horizons. Near term is about hardening what exists — validation checks, monitoring, latency percentiles, and integration tests around the temporal routing logic specifically. Medium term extends the platform — more feature groups through the same registry mechanism, model-specific feature specs, drift monitoring, and performance work for larger policy histories. Long term is about scope — more product lines, point-in-time training set generation for offline/online consistency, and formal governance and SLOs. End on the closing statement: this platform's job is delivering the right feature value to every model at the right time — thank the audience and open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6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0" y="0"/>
            <a:ext cx="256032" cy="6858000"/>
          </a:xfrm>
          <a:prstGeom prst="roundRect">
            <a:avLst>
              <a:gd name="adj" fmla="val 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56032" y="0"/>
            <a:ext cx="73152" cy="6858000"/>
          </a:xfrm>
          <a:prstGeom prst="roundRect">
            <a:avLst>
              <a:gd name="adj" fmla="val 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17320"/>
            <a:ext cx="9601200" cy="365760"/>
          </a:xfrm>
          <a:prstGeom prst="rect">
            <a:avLst/>
          </a:prstGeom>
          <a:noFill/>
        </p:spPr>
        <p:txBody>
          <a:bodyPr wrap="square" lIns="0" tIns="0" rIns="0" bIns="0" anchor="t">
            <a:spAutoFit/>
          </a:bodyPr>
          <a:lstStyle/>
          <a:p>
            <a:pPr algn="l">
              <a:lnSpc>
                <a:spcPct val="100000"/>
              </a:lnSpc>
            </a:pPr>
            <a:r>
              <a:rPr sz="1300" b="1" i="0">
                <a:solidFill>
                  <a:srgbClr val="0E7C86"/>
                </a:solidFill>
                <a:latin typeface="Calibri"/>
              </a:rPr>
              <a:t>INTERNSHIP / PROJECT REVIEW</a:t>
            </a:r>
          </a:p>
        </p:txBody>
      </p:sp>
      <p:sp>
        <p:nvSpPr>
          <p:cNvPr id="6" name="TextBox 5"/>
          <p:cNvSpPr txBox="1"/>
          <p:nvPr/>
        </p:nvSpPr>
        <p:spPr>
          <a:xfrm>
            <a:off x="914400" y="1828800"/>
            <a:ext cx="10058400" cy="1554480"/>
          </a:xfrm>
          <a:prstGeom prst="rect">
            <a:avLst/>
          </a:prstGeom>
          <a:noFill/>
        </p:spPr>
        <p:txBody>
          <a:bodyPr wrap="square" lIns="0" tIns="0" rIns="0" bIns="0" anchor="t">
            <a:spAutoFit/>
          </a:bodyPr>
          <a:lstStyle/>
          <a:p>
            <a:pPr algn="l">
              <a:lnSpc>
                <a:spcPct val="105000"/>
              </a:lnSpc>
            </a:pPr>
            <a:r>
              <a:rPr sz="3400" b="1" i="0">
                <a:solidFill>
                  <a:srgbClr val="0B2545"/>
                </a:solidFill>
                <a:latin typeface="Calibri"/>
              </a:rPr>
              <a:t>Time-Aware Online Feature Store</a:t>
            </a:r>
          </a:p>
          <a:p>
            <a:pPr algn="l">
              <a:lnSpc>
                <a:spcPct val="105000"/>
              </a:lnSpc>
            </a:pPr>
            <a:r>
              <a:rPr sz="3400" b="1" i="0">
                <a:solidFill>
                  <a:srgbClr val="0B2545"/>
                </a:solidFill>
                <a:latin typeface="Calibri"/>
              </a:rPr>
              <a:t>for Real-Time Insurance Models</a:t>
            </a:r>
          </a:p>
        </p:txBody>
      </p:sp>
      <p:sp>
        <p:nvSpPr>
          <p:cNvPr id="7" name="TextBox 6"/>
          <p:cNvSpPr txBox="1"/>
          <p:nvPr/>
        </p:nvSpPr>
        <p:spPr>
          <a:xfrm>
            <a:off x="914400" y="3246120"/>
            <a:ext cx="9601200" cy="822960"/>
          </a:xfrm>
          <a:prstGeom prst="rect">
            <a:avLst/>
          </a:prstGeom>
          <a:noFill/>
        </p:spPr>
        <p:txBody>
          <a:bodyPr wrap="square" lIns="0" tIns="0" rIns="0" bIns="0" anchor="t">
            <a:spAutoFit/>
          </a:bodyPr>
          <a:lstStyle/>
          <a:p>
            <a:pPr algn="l">
              <a:lnSpc>
                <a:spcPct val="115000"/>
              </a:lnSpc>
            </a:pPr>
            <a:r>
              <a:rPr sz="1700" b="0" i="0">
                <a:solidFill>
                  <a:srgbClr val="44515F"/>
                </a:solidFill>
                <a:latin typeface="Calibri"/>
              </a:rPr>
              <a:t>Centralized feature computation, future-effective routing, historical traceability,</a:t>
            </a:r>
          </a:p>
          <a:p>
            <a:pPr algn="l">
              <a:lnSpc>
                <a:spcPct val="115000"/>
              </a:lnSpc>
            </a:pPr>
            <a:r>
              <a:rPr sz="1700" b="0" i="0">
                <a:solidFill>
                  <a:srgbClr val="44515F"/>
                </a:solidFill>
                <a:latin typeface="Calibri"/>
              </a:rPr>
              <a:t>and low-latency serving using Databricks</a:t>
            </a:r>
          </a:p>
        </p:txBody>
      </p:sp>
      <p:sp>
        <p:nvSpPr>
          <p:cNvPr id="8" name="Rounded Rectangle 7"/>
          <p:cNvSpPr/>
          <p:nvPr/>
        </p:nvSpPr>
        <p:spPr>
          <a:xfrm>
            <a:off x="914400" y="4343400"/>
            <a:ext cx="2331720" cy="566928"/>
          </a:xfrm>
          <a:prstGeom prst="roundRect">
            <a:avLst>
              <a:gd name="adj" fmla="val 12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300" b="1">
                <a:solidFill>
                  <a:srgbClr val="FFFFFF"/>
                </a:solidFill>
                <a:latin typeface="Calibri"/>
              </a:rPr>
              <a:t>Policy Events</a:t>
            </a:r>
          </a:p>
        </p:txBody>
      </p:sp>
      <p:cxnSp>
        <p:nvCxnSpPr>
          <p:cNvPr id="9" name="Connector 8"/>
          <p:cNvCxnSpPr/>
          <p:nvPr/>
        </p:nvCxnSpPr>
        <p:spPr>
          <a:xfrm>
            <a:off x="3246120" y="4626864"/>
            <a:ext cx="457200" cy="0"/>
          </a:xfrm>
          <a:prstGeom prst="line">
            <a:avLst/>
          </a:prstGeom>
          <a:ln w="2857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03320" y="4343400"/>
            <a:ext cx="2514600" cy="566928"/>
          </a:xfrm>
          <a:prstGeom prst="roundRect">
            <a:avLst>
              <a:gd name="adj" fmla="val 12000"/>
            </a:avLst>
          </a:prstGeom>
          <a:solidFill>
            <a:srgbClr val="0E7C86"/>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300" b="1">
                <a:solidFill>
                  <a:srgbClr val="FFFFFF"/>
                </a:solidFill>
                <a:latin typeface="Calibri"/>
              </a:rPr>
              <a:t>Feature Store</a:t>
            </a:r>
          </a:p>
        </p:txBody>
      </p:sp>
      <p:cxnSp>
        <p:nvCxnSpPr>
          <p:cNvPr id="11" name="Connector 10"/>
          <p:cNvCxnSpPr/>
          <p:nvPr/>
        </p:nvCxnSpPr>
        <p:spPr>
          <a:xfrm>
            <a:off x="6217920" y="4626864"/>
            <a:ext cx="457200" cy="0"/>
          </a:xfrm>
          <a:prstGeom prst="line">
            <a:avLst/>
          </a:prstGeom>
          <a:ln w="2857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675120" y="4343400"/>
            <a:ext cx="2331720" cy="566928"/>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300" b="1">
                <a:solidFill>
                  <a:srgbClr val="FFFFFF"/>
                </a:solidFill>
                <a:latin typeface="Calibri"/>
              </a:rPr>
              <a:t>Multiple Models</a:t>
            </a:r>
          </a:p>
        </p:txBody>
      </p:sp>
      <p:sp>
        <p:nvSpPr>
          <p:cNvPr id="13" name="TextBox 12"/>
          <p:cNvSpPr txBox="1"/>
          <p:nvPr/>
        </p:nvSpPr>
        <p:spPr>
          <a:xfrm>
            <a:off x="914400" y="5349240"/>
            <a:ext cx="1965960" cy="274320"/>
          </a:xfrm>
          <a:prstGeom prst="rect">
            <a:avLst/>
          </a:prstGeom>
          <a:noFill/>
        </p:spPr>
        <p:txBody>
          <a:bodyPr wrap="square" lIns="0" tIns="0" rIns="0" bIns="0" anchor="t">
            <a:spAutoFit/>
          </a:bodyPr>
          <a:lstStyle/>
          <a:p>
            <a:pPr algn="l">
              <a:lnSpc>
                <a:spcPct val="100000"/>
              </a:lnSpc>
            </a:pPr>
            <a:r>
              <a:rPr sz="950" b="1" i="0">
                <a:solidFill>
                  <a:srgbClr val="7C8A99"/>
                </a:solidFill>
                <a:latin typeface="Calibri"/>
              </a:rPr>
              <a:t>PRESENTER</a:t>
            </a:r>
          </a:p>
        </p:txBody>
      </p:sp>
      <p:sp>
        <p:nvSpPr>
          <p:cNvPr id="14" name="TextBox 13"/>
          <p:cNvSpPr txBox="1"/>
          <p:nvPr/>
        </p:nvSpPr>
        <p:spPr>
          <a:xfrm>
            <a:off x="914400" y="5586983"/>
            <a:ext cx="1965960" cy="274320"/>
          </a:xfrm>
          <a:prstGeom prst="rect">
            <a:avLst/>
          </a:prstGeom>
          <a:noFill/>
        </p:spPr>
        <p:txBody>
          <a:bodyPr wrap="square" lIns="0" tIns="0" rIns="0" bIns="0" anchor="t">
            <a:spAutoFit/>
          </a:bodyPr>
          <a:lstStyle/>
          <a:p>
            <a:pPr algn="l">
              <a:lnSpc>
                <a:spcPct val="100000"/>
              </a:lnSpc>
            </a:pPr>
            <a:r>
              <a:rPr sz="1200" b="1" i="0">
                <a:solidFill>
                  <a:srgbClr val="0B2545"/>
                </a:solidFill>
                <a:latin typeface="Calibri"/>
              </a:rPr>
              <a:t>[Presenter Name]</a:t>
            </a:r>
          </a:p>
        </p:txBody>
      </p:sp>
      <p:sp>
        <p:nvSpPr>
          <p:cNvPr id="15" name="TextBox 14"/>
          <p:cNvSpPr txBox="1"/>
          <p:nvPr/>
        </p:nvSpPr>
        <p:spPr>
          <a:xfrm>
            <a:off x="2880360" y="5349240"/>
            <a:ext cx="1965960" cy="274320"/>
          </a:xfrm>
          <a:prstGeom prst="rect">
            <a:avLst/>
          </a:prstGeom>
          <a:noFill/>
        </p:spPr>
        <p:txBody>
          <a:bodyPr wrap="square" lIns="0" tIns="0" rIns="0" bIns="0" anchor="t">
            <a:spAutoFit/>
          </a:bodyPr>
          <a:lstStyle/>
          <a:p>
            <a:pPr algn="l">
              <a:lnSpc>
                <a:spcPct val="100000"/>
              </a:lnSpc>
            </a:pPr>
            <a:r>
              <a:rPr sz="950" b="1" i="0">
                <a:solidFill>
                  <a:srgbClr val="7C8A99"/>
                </a:solidFill>
                <a:latin typeface="Calibri"/>
              </a:rPr>
              <a:t>ROLE</a:t>
            </a:r>
          </a:p>
        </p:txBody>
      </p:sp>
      <p:sp>
        <p:nvSpPr>
          <p:cNvPr id="16" name="TextBox 15"/>
          <p:cNvSpPr txBox="1"/>
          <p:nvPr/>
        </p:nvSpPr>
        <p:spPr>
          <a:xfrm>
            <a:off x="2880360" y="5586983"/>
            <a:ext cx="1965960" cy="274320"/>
          </a:xfrm>
          <a:prstGeom prst="rect">
            <a:avLst/>
          </a:prstGeom>
          <a:noFill/>
        </p:spPr>
        <p:txBody>
          <a:bodyPr wrap="square" lIns="0" tIns="0" rIns="0" bIns="0" anchor="t">
            <a:spAutoFit/>
          </a:bodyPr>
          <a:lstStyle/>
          <a:p>
            <a:pPr algn="l">
              <a:lnSpc>
                <a:spcPct val="100000"/>
              </a:lnSpc>
            </a:pPr>
            <a:r>
              <a:rPr sz="1200" b="1" i="0">
                <a:solidFill>
                  <a:srgbClr val="0B2545"/>
                </a:solidFill>
                <a:latin typeface="Calibri"/>
              </a:rPr>
              <a:t>[Internship Title]</a:t>
            </a:r>
          </a:p>
        </p:txBody>
      </p:sp>
      <p:sp>
        <p:nvSpPr>
          <p:cNvPr id="17" name="TextBox 16"/>
          <p:cNvSpPr txBox="1"/>
          <p:nvPr/>
        </p:nvSpPr>
        <p:spPr>
          <a:xfrm>
            <a:off x="4846320" y="5349240"/>
            <a:ext cx="1965960" cy="274320"/>
          </a:xfrm>
          <a:prstGeom prst="rect">
            <a:avLst/>
          </a:prstGeom>
          <a:noFill/>
        </p:spPr>
        <p:txBody>
          <a:bodyPr wrap="square" lIns="0" tIns="0" rIns="0" bIns="0" anchor="t">
            <a:spAutoFit/>
          </a:bodyPr>
          <a:lstStyle/>
          <a:p>
            <a:pPr algn="l">
              <a:lnSpc>
                <a:spcPct val="100000"/>
              </a:lnSpc>
            </a:pPr>
            <a:r>
              <a:rPr sz="950" b="1" i="0">
                <a:solidFill>
                  <a:srgbClr val="7C8A99"/>
                </a:solidFill>
                <a:latin typeface="Calibri"/>
              </a:rPr>
              <a:t>TEAM</a:t>
            </a:r>
          </a:p>
        </p:txBody>
      </p:sp>
      <p:sp>
        <p:nvSpPr>
          <p:cNvPr id="18" name="TextBox 17"/>
          <p:cNvSpPr txBox="1"/>
          <p:nvPr/>
        </p:nvSpPr>
        <p:spPr>
          <a:xfrm>
            <a:off x="4846320" y="5586983"/>
            <a:ext cx="1965960" cy="274320"/>
          </a:xfrm>
          <a:prstGeom prst="rect">
            <a:avLst/>
          </a:prstGeom>
          <a:noFill/>
        </p:spPr>
        <p:txBody>
          <a:bodyPr wrap="square" lIns="0" tIns="0" rIns="0" bIns="0" anchor="t">
            <a:spAutoFit/>
          </a:bodyPr>
          <a:lstStyle/>
          <a:p>
            <a:pPr algn="l">
              <a:lnSpc>
                <a:spcPct val="100000"/>
              </a:lnSpc>
            </a:pPr>
            <a:r>
              <a:rPr sz="1200" b="1" i="0">
                <a:solidFill>
                  <a:srgbClr val="0B2545"/>
                </a:solidFill>
                <a:latin typeface="Calibri"/>
              </a:rPr>
              <a:t>[Team Name]</a:t>
            </a:r>
          </a:p>
        </p:txBody>
      </p:sp>
      <p:sp>
        <p:nvSpPr>
          <p:cNvPr id="19" name="TextBox 18"/>
          <p:cNvSpPr txBox="1"/>
          <p:nvPr/>
        </p:nvSpPr>
        <p:spPr>
          <a:xfrm>
            <a:off x="6812279" y="5349240"/>
            <a:ext cx="1965960" cy="274320"/>
          </a:xfrm>
          <a:prstGeom prst="rect">
            <a:avLst/>
          </a:prstGeom>
          <a:noFill/>
        </p:spPr>
        <p:txBody>
          <a:bodyPr wrap="square" lIns="0" tIns="0" rIns="0" bIns="0" anchor="t">
            <a:spAutoFit/>
          </a:bodyPr>
          <a:lstStyle/>
          <a:p>
            <a:pPr algn="l">
              <a:lnSpc>
                <a:spcPct val="100000"/>
              </a:lnSpc>
            </a:pPr>
            <a:r>
              <a:rPr sz="950" b="1" i="0">
                <a:solidFill>
                  <a:srgbClr val="7C8A99"/>
                </a:solidFill>
                <a:latin typeface="Calibri"/>
              </a:rPr>
              <a:t>MENTOR</a:t>
            </a:r>
          </a:p>
        </p:txBody>
      </p:sp>
      <p:sp>
        <p:nvSpPr>
          <p:cNvPr id="20" name="TextBox 19"/>
          <p:cNvSpPr txBox="1"/>
          <p:nvPr/>
        </p:nvSpPr>
        <p:spPr>
          <a:xfrm>
            <a:off x="6812279" y="5586983"/>
            <a:ext cx="1965960" cy="274320"/>
          </a:xfrm>
          <a:prstGeom prst="rect">
            <a:avLst/>
          </a:prstGeom>
          <a:noFill/>
        </p:spPr>
        <p:txBody>
          <a:bodyPr wrap="square" lIns="0" tIns="0" rIns="0" bIns="0" anchor="t">
            <a:spAutoFit/>
          </a:bodyPr>
          <a:lstStyle/>
          <a:p>
            <a:pPr algn="l">
              <a:lnSpc>
                <a:spcPct val="100000"/>
              </a:lnSpc>
            </a:pPr>
            <a:r>
              <a:rPr sz="1200" b="1" i="0">
                <a:solidFill>
                  <a:srgbClr val="0B2545"/>
                </a:solidFill>
                <a:latin typeface="Calibri"/>
              </a:rPr>
              <a:t>[Mentor Name]</a:t>
            </a:r>
          </a:p>
        </p:txBody>
      </p:sp>
      <p:sp>
        <p:nvSpPr>
          <p:cNvPr id="21" name="TextBox 20"/>
          <p:cNvSpPr txBox="1"/>
          <p:nvPr/>
        </p:nvSpPr>
        <p:spPr>
          <a:xfrm>
            <a:off x="8778240" y="5349240"/>
            <a:ext cx="1965960" cy="274320"/>
          </a:xfrm>
          <a:prstGeom prst="rect">
            <a:avLst/>
          </a:prstGeom>
          <a:noFill/>
        </p:spPr>
        <p:txBody>
          <a:bodyPr wrap="square" lIns="0" tIns="0" rIns="0" bIns="0" anchor="t">
            <a:spAutoFit/>
          </a:bodyPr>
          <a:lstStyle/>
          <a:p>
            <a:pPr algn="l">
              <a:lnSpc>
                <a:spcPct val="100000"/>
              </a:lnSpc>
            </a:pPr>
            <a:r>
              <a:rPr sz="950" b="1" i="0">
                <a:solidFill>
                  <a:srgbClr val="7C8A99"/>
                </a:solidFill>
                <a:latin typeface="Calibri"/>
              </a:rPr>
              <a:t>DATE</a:t>
            </a:r>
          </a:p>
        </p:txBody>
      </p:sp>
      <p:sp>
        <p:nvSpPr>
          <p:cNvPr id="22" name="TextBox 21"/>
          <p:cNvSpPr txBox="1"/>
          <p:nvPr/>
        </p:nvSpPr>
        <p:spPr>
          <a:xfrm>
            <a:off x="8778240" y="5586983"/>
            <a:ext cx="1965960" cy="274320"/>
          </a:xfrm>
          <a:prstGeom prst="rect">
            <a:avLst/>
          </a:prstGeom>
          <a:noFill/>
        </p:spPr>
        <p:txBody>
          <a:bodyPr wrap="square" lIns="0" tIns="0" rIns="0" bIns="0" anchor="t">
            <a:spAutoFit/>
          </a:bodyPr>
          <a:lstStyle/>
          <a:p>
            <a:pPr algn="l">
              <a:lnSpc>
                <a:spcPct val="100000"/>
              </a:lnSpc>
            </a:pPr>
            <a:r>
              <a:rPr sz="1200" b="1" i="0">
                <a:solidFill>
                  <a:srgbClr val="0B2545"/>
                </a:solidFill>
                <a:latin typeface="Calibri"/>
              </a:rPr>
              <a:t>[Presentation 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BACKGROUND</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Why a Centralized Feature Store Was Needed</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2</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sp>
        <p:nvSpPr>
          <p:cNvPr id="7" name="Rounded Rectangle 6"/>
          <p:cNvSpPr/>
          <p:nvPr/>
        </p:nvSpPr>
        <p:spPr>
          <a:xfrm>
            <a:off x="502920" y="1508760"/>
            <a:ext cx="6309360" cy="841248"/>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508760"/>
            <a:ext cx="82296" cy="841248"/>
          </a:xfrm>
          <a:prstGeom prst="roundRect">
            <a:avLst>
              <a:gd name="adj" fmla="val 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04088" y="1655063"/>
            <a:ext cx="457200" cy="457200"/>
          </a:xfrm>
          <a:prstGeom prst="roundRect">
            <a:avLst>
              <a:gd name="adj" fmla="val 50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500" b="1">
                <a:solidFill>
                  <a:srgbClr val="FFFFFF"/>
                </a:solidFill>
                <a:latin typeface="Calibri"/>
              </a:rPr>
              <a:t>1</a:t>
            </a:r>
          </a:p>
        </p:txBody>
      </p:sp>
      <p:sp>
        <p:nvSpPr>
          <p:cNvPr id="10" name="TextBox 9"/>
          <p:cNvSpPr txBox="1"/>
          <p:nvPr/>
        </p:nvSpPr>
        <p:spPr>
          <a:xfrm>
            <a:off x="1344168" y="1600200"/>
            <a:ext cx="5303520" cy="658368"/>
          </a:xfrm>
          <a:prstGeom prst="rect">
            <a:avLst/>
          </a:prstGeom>
          <a:noFill/>
        </p:spPr>
        <p:txBody>
          <a:bodyPr wrap="square" lIns="0" tIns="0" rIns="0" bIns="0" anchor="ctr">
            <a:spAutoFit/>
          </a:bodyPr>
          <a:lstStyle/>
          <a:p>
            <a:pPr algn="l">
              <a:lnSpc>
                <a:spcPct val="105000"/>
              </a:lnSpc>
            </a:pPr>
            <a:r>
              <a:rPr sz="1350" b="0" i="0">
                <a:solidFill>
                  <a:srgbClr val="44515F"/>
                </a:solidFill>
                <a:latin typeface="Calibri"/>
              </a:rPr>
              <a:t>Multiple models may independently calculate the same policy features.</a:t>
            </a:r>
          </a:p>
        </p:txBody>
      </p:sp>
      <p:sp>
        <p:nvSpPr>
          <p:cNvPr id="11" name="Rounded Rectangle 10"/>
          <p:cNvSpPr/>
          <p:nvPr/>
        </p:nvSpPr>
        <p:spPr>
          <a:xfrm>
            <a:off x="502920" y="2478024"/>
            <a:ext cx="6309360" cy="841248"/>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2478024"/>
            <a:ext cx="82296" cy="841248"/>
          </a:xfrm>
          <a:prstGeom prst="roundRect">
            <a:avLst>
              <a:gd name="adj" fmla="val 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04088" y="2624328"/>
            <a:ext cx="457200" cy="457200"/>
          </a:xfrm>
          <a:prstGeom prst="roundRect">
            <a:avLst>
              <a:gd name="adj" fmla="val 50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500" b="1">
                <a:solidFill>
                  <a:srgbClr val="FFFFFF"/>
                </a:solidFill>
                <a:latin typeface="Calibri"/>
              </a:rPr>
              <a:t>2</a:t>
            </a:r>
          </a:p>
        </p:txBody>
      </p:sp>
      <p:sp>
        <p:nvSpPr>
          <p:cNvPr id="14" name="TextBox 13"/>
          <p:cNvSpPr txBox="1"/>
          <p:nvPr/>
        </p:nvSpPr>
        <p:spPr>
          <a:xfrm>
            <a:off x="1344168" y="2569464"/>
            <a:ext cx="5303520" cy="658368"/>
          </a:xfrm>
          <a:prstGeom prst="rect">
            <a:avLst/>
          </a:prstGeom>
          <a:noFill/>
        </p:spPr>
        <p:txBody>
          <a:bodyPr wrap="square" lIns="0" tIns="0" rIns="0" bIns="0" anchor="ctr">
            <a:spAutoFit/>
          </a:bodyPr>
          <a:lstStyle/>
          <a:p>
            <a:pPr algn="l">
              <a:lnSpc>
                <a:spcPct val="105000"/>
              </a:lnSpc>
            </a:pPr>
            <a:r>
              <a:rPr sz="1350" b="0" i="0">
                <a:solidFill>
                  <a:srgbClr val="44515F"/>
                </a:solidFill>
                <a:latin typeface="Calibri"/>
              </a:rPr>
              <a:t>Repeated feature logic creates inconsistency and maintenance overhead.</a:t>
            </a:r>
          </a:p>
        </p:txBody>
      </p:sp>
      <p:sp>
        <p:nvSpPr>
          <p:cNvPr id="15" name="Rounded Rectangle 14"/>
          <p:cNvSpPr/>
          <p:nvPr/>
        </p:nvSpPr>
        <p:spPr>
          <a:xfrm>
            <a:off x="502920" y="3447288"/>
            <a:ext cx="6309360" cy="841248"/>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447288"/>
            <a:ext cx="82296" cy="841248"/>
          </a:xfrm>
          <a:prstGeom prst="roundRect">
            <a:avLst>
              <a:gd name="adj" fmla="val 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04088" y="3593592"/>
            <a:ext cx="457200" cy="457200"/>
          </a:xfrm>
          <a:prstGeom prst="roundRect">
            <a:avLst>
              <a:gd name="adj" fmla="val 50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500" b="1">
                <a:solidFill>
                  <a:srgbClr val="FFFFFF"/>
                </a:solidFill>
                <a:latin typeface="Calibri"/>
              </a:rPr>
              <a:t>3</a:t>
            </a:r>
          </a:p>
        </p:txBody>
      </p:sp>
      <p:sp>
        <p:nvSpPr>
          <p:cNvPr id="18" name="TextBox 17"/>
          <p:cNvSpPr txBox="1"/>
          <p:nvPr/>
        </p:nvSpPr>
        <p:spPr>
          <a:xfrm>
            <a:off x="1344168" y="3538728"/>
            <a:ext cx="5303520" cy="658368"/>
          </a:xfrm>
          <a:prstGeom prst="rect">
            <a:avLst/>
          </a:prstGeom>
          <a:noFill/>
        </p:spPr>
        <p:txBody>
          <a:bodyPr wrap="square" lIns="0" tIns="0" rIns="0" bIns="0" anchor="ctr">
            <a:spAutoFit/>
          </a:bodyPr>
          <a:lstStyle/>
          <a:p>
            <a:pPr algn="l">
              <a:lnSpc>
                <a:spcPct val="105000"/>
              </a:lnSpc>
            </a:pPr>
            <a:r>
              <a:rPr sz="1350" b="0" i="0">
                <a:solidFill>
                  <a:srgbClr val="44515F"/>
                </a:solidFill>
                <a:latin typeface="Calibri"/>
              </a:rPr>
              <a:t>Future-effective policy transactions cannot always be activated immediately.</a:t>
            </a:r>
          </a:p>
        </p:txBody>
      </p:sp>
      <p:sp>
        <p:nvSpPr>
          <p:cNvPr id="19" name="Rounded Rectangle 18"/>
          <p:cNvSpPr/>
          <p:nvPr/>
        </p:nvSpPr>
        <p:spPr>
          <a:xfrm>
            <a:off x="502920" y="4416552"/>
            <a:ext cx="6309360" cy="841248"/>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02920" y="4416552"/>
            <a:ext cx="82296" cy="841248"/>
          </a:xfrm>
          <a:prstGeom prst="roundRect">
            <a:avLst>
              <a:gd name="adj" fmla="val 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04088" y="4562856"/>
            <a:ext cx="457200" cy="457200"/>
          </a:xfrm>
          <a:prstGeom prst="roundRect">
            <a:avLst>
              <a:gd name="adj" fmla="val 50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500" b="1">
                <a:solidFill>
                  <a:srgbClr val="FFFFFF"/>
                </a:solidFill>
                <a:latin typeface="Calibri"/>
              </a:rPr>
              <a:t>4</a:t>
            </a:r>
          </a:p>
        </p:txBody>
      </p:sp>
      <p:sp>
        <p:nvSpPr>
          <p:cNvPr id="22" name="TextBox 21"/>
          <p:cNvSpPr txBox="1"/>
          <p:nvPr/>
        </p:nvSpPr>
        <p:spPr>
          <a:xfrm>
            <a:off x="1344168" y="4507992"/>
            <a:ext cx="5303520" cy="658368"/>
          </a:xfrm>
          <a:prstGeom prst="rect">
            <a:avLst/>
          </a:prstGeom>
          <a:noFill/>
        </p:spPr>
        <p:txBody>
          <a:bodyPr wrap="square" lIns="0" tIns="0" rIns="0" bIns="0" anchor="ctr">
            <a:spAutoFit/>
          </a:bodyPr>
          <a:lstStyle/>
          <a:p>
            <a:pPr algn="l">
              <a:lnSpc>
                <a:spcPct val="105000"/>
              </a:lnSpc>
            </a:pPr>
            <a:r>
              <a:rPr sz="1350" b="0" i="0">
                <a:solidFill>
                  <a:srgbClr val="44515F"/>
                </a:solidFill>
                <a:latin typeface="Calibri"/>
              </a:rPr>
              <a:t>Historical feature states are required for debugging, audit, and reproducibility.</a:t>
            </a:r>
          </a:p>
        </p:txBody>
      </p:sp>
      <p:sp>
        <p:nvSpPr>
          <p:cNvPr id="23" name="Rounded Rectangle 22"/>
          <p:cNvSpPr/>
          <p:nvPr/>
        </p:nvSpPr>
        <p:spPr>
          <a:xfrm>
            <a:off x="502920" y="5532120"/>
            <a:ext cx="6309360" cy="777240"/>
          </a:xfrm>
          <a:prstGeom prst="roundRect">
            <a:avLst>
              <a:gd name="adj" fmla="val 10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532120"/>
            <a:ext cx="5760720" cy="777240"/>
          </a:xfrm>
          <a:prstGeom prst="rect">
            <a:avLst/>
          </a:prstGeom>
          <a:noFill/>
        </p:spPr>
        <p:txBody>
          <a:bodyPr wrap="square" lIns="0" tIns="0" rIns="0" bIns="0" anchor="ctr">
            <a:spAutoFit/>
          </a:bodyPr>
          <a:lstStyle/>
          <a:p>
            <a:pPr algn="l">
              <a:lnSpc>
                <a:spcPct val="110000"/>
              </a:lnSpc>
            </a:pPr>
            <a:r>
              <a:rPr sz="1450" b="1" i="1">
                <a:solidFill>
                  <a:srgbClr val="FFFFFF"/>
                </a:solidFill>
                <a:latin typeface="Calibri"/>
              </a:rPr>
              <a:t>Models need one trusted source for the correct feature value</a:t>
            </a:r>
          </a:p>
          <a:p>
            <a:pPr algn="l">
              <a:lnSpc>
                <a:spcPct val="110000"/>
              </a:lnSpc>
            </a:pPr>
            <a:r>
              <a:rPr sz="1450" b="1" i="1">
                <a:solidFill>
                  <a:srgbClr val="FFFFFF"/>
                </a:solidFill>
                <a:latin typeface="Calibri"/>
              </a:rPr>
              <a:t>at the correct point in time.</a:t>
            </a:r>
          </a:p>
        </p:txBody>
      </p:sp>
      <p:sp>
        <p:nvSpPr>
          <p:cNvPr id="25" name="Rounded Rectangle 24"/>
          <p:cNvSpPr/>
          <p:nvPr/>
        </p:nvSpPr>
        <p:spPr>
          <a:xfrm>
            <a:off x="7086600" y="1508760"/>
            <a:ext cx="4617720" cy="4800600"/>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0" y="1691640"/>
            <a:ext cx="4114800" cy="32004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BEFORE: DUPLICATED CALCULATION</a:t>
            </a:r>
          </a:p>
        </p:txBody>
      </p:sp>
      <p:sp>
        <p:nvSpPr>
          <p:cNvPr id="27" name="Rounded Rectangle 26"/>
          <p:cNvSpPr/>
          <p:nvPr/>
        </p:nvSpPr>
        <p:spPr>
          <a:xfrm>
            <a:off x="8595360" y="2148840"/>
            <a:ext cx="1600200" cy="502920"/>
          </a:xfrm>
          <a:prstGeom prst="roundRect">
            <a:avLst>
              <a:gd name="adj" fmla="val 12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000" b="1">
                <a:solidFill>
                  <a:srgbClr val="FFFFFF"/>
                </a:solidFill>
                <a:latin typeface="Calibri"/>
              </a:rPr>
              <a:t>Raw Policy
Transactions</a:t>
            </a:r>
          </a:p>
        </p:txBody>
      </p:sp>
      <p:sp>
        <p:nvSpPr>
          <p:cNvPr id="28" name="Rounded Rectangle 27"/>
          <p:cNvSpPr/>
          <p:nvPr/>
        </p:nvSpPr>
        <p:spPr>
          <a:xfrm>
            <a:off x="7406640" y="3246120"/>
            <a:ext cx="1280160" cy="868680"/>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Model A
recalculates
features</a:t>
            </a:r>
          </a:p>
        </p:txBody>
      </p:sp>
      <p:cxnSp>
        <p:nvCxnSpPr>
          <p:cNvPr id="29" name="Connector 28"/>
          <p:cNvCxnSpPr/>
          <p:nvPr/>
        </p:nvCxnSpPr>
        <p:spPr>
          <a:xfrm flipH="1">
            <a:off x="8046719" y="2651760"/>
            <a:ext cx="1344169" cy="594360"/>
          </a:xfrm>
          <a:prstGeom prst="line">
            <a:avLst/>
          </a:prstGeom>
          <a:ln w="1905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887967" y="3246120"/>
            <a:ext cx="1280160" cy="868680"/>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Model B
recalculates
features</a:t>
            </a:r>
          </a:p>
        </p:txBody>
      </p:sp>
      <p:cxnSp>
        <p:nvCxnSpPr>
          <p:cNvPr id="31" name="Connector 30"/>
          <p:cNvCxnSpPr/>
          <p:nvPr/>
        </p:nvCxnSpPr>
        <p:spPr>
          <a:xfrm>
            <a:off x="9390888" y="2651760"/>
            <a:ext cx="137159" cy="594360"/>
          </a:xfrm>
          <a:prstGeom prst="line">
            <a:avLst/>
          </a:prstGeom>
          <a:ln w="1905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369296" y="3246120"/>
            <a:ext cx="1280160" cy="868680"/>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Model C
recalculates
features</a:t>
            </a:r>
          </a:p>
        </p:txBody>
      </p:sp>
      <p:cxnSp>
        <p:nvCxnSpPr>
          <p:cNvPr id="33" name="Connector 32"/>
          <p:cNvCxnSpPr/>
          <p:nvPr/>
        </p:nvCxnSpPr>
        <p:spPr>
          <a:xfrm>
            <a:off x="9390888" y="2651760"/>
            <a:ext cx="1618488" cy="594360"/>
          </a:xfrm>
          <a:prstGeom prst="line">
            <a:avLst/>
          </a:prstGeom>
          <a:ln w="1905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315200" y="4343400"/>
            <a:ext cx="4160520" cy="1737360"/>
          </a:xfrm>
          <a:prstGeom prst="rect">
            <a:avLst/>
          </a:prstGeom>
          <a:noFill/>
        </p:spPr>
        <p:txBody>
          <a:bodyPr wrap="square" lIns="0" tIns="0" rIns="0" bIns="0" anchor="t">
            <a:spAutoFit/>
          </a:bodyPr>
          <a:lstStyle/>
          <a:p>
            <a:pPr algn="l">
              <a:lnSpc>
                <a:spcPct val="115000"/>
              </a:lnSpc>
            </a:pPr>
            <a:r>
              <a:rPr sz="1150" b="0" i="0" dirty="0">
                <a:solidFill>
                  <a:srgbClr val="44515F"/>
                </a:solidFill>
                <a:latin typeface="Calibri"/>
              </a:rPr>
              <a:t>Each model re-implements the same aggregation, lag, and time-window logic against raw transactions — three copies of business logic, three chances to disagree, and no shared history of what a feature's value was at any given moment.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SCOPE &amp; GOALS</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Project Objective</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3</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sp>
        <p:nvSpPr>
          <p:cNvPr id="7" name="Rounded Rectangle 6"/>
          <p:cNvSpPr/>
          <p:nvPr/>
        </p:nvSpPr>
        <p:spPr>
          <a:xfrm>
            <a:off x="502920" y="1600200"/>
            <a:ext cx="6492240" cy="960120"/>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1856232"/>
            <a:ext cx="457200" cy="457200"/>
          </a:xfrm>
          <a:prstGeom prst="roundRect">
            <a:avLst>
              <a:gd name="adj" fmla="val 5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500" b="1">
                <a:solidFill>
                  <a:srgbClr val="FFFFFF"/>
                </a:solidFill>
                <a:latin typeface="Calibri"/>
              </a:rPr>
              <a:t>1</a:t>
            </a:r>
          </a:p>
        </p:txBody>
      </p:sp>
      <p:sp>
        <p:nvSpPr>
          <p:cNvPr id="9" name="TextBox 8"/>
          <p:cNvSpPr txBox="1"/>
          <p:nvPr/>
        </p:nvSpPr>
        <p:spPr>
          <a:xfrm>
            <a:off x="1371600" y="1709928"/>
            <a:ext cx="5394959" cy="740664"/>
          </a:xfrm>
          <a:prstGeom prst="rect">
            <a:avLst/>
          </a:prstGeom>
          <a:noFill/>
        </p:spPr>
        <p:txBody>
          <a:bodyPr wrap="square" lIns="0" tIns="0" rIns="0" bIns="0" anchor="ctr">
            <a:spAutoFit/>
          </a:bodyPr>
          <a:lstStyle/>
          <a:p>
            <a:pPr algn="l">
              <a:lnSpc>
                <a:spcPct val="105000"/>
              </a:lnSpc>
            </a:pPr>
            <a:r>
              <a:rPr sz="1400" b="1" i="0">
                <a:solidFill>
                  <a:srgbClr val="0B2545"/>
                </a:solidFill>
                <a:latin typeface="Calibri"/>
              </a:rPr>
              <a:t>Build one active feature table serving multiple machine learning models.</a:t>
            </a:r>
          </a:p>
        </p:txBody>
      </p:sp>
      <p:sp>
        <p:nvSpPr>
          <p:cNvPr id="10" name="Rounded Rectangle 9"/>
          <p:cNvSpPr/>
          <p:nvPr/>
        </p:nvSpPr>
        <p:spPr>
          <a:xfrm>
            <a:off x="502920" y="2724912"/>
            <a:ext cx="6492240" cy="960120"/>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2980944"/>
            <a:ext cx="457200" cy="457200"/>
          </a:xfrm>
          <a:prstGeom prst="roundRect">
            <a:avLst>
              <a:gd name="adj" fmla="val 5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500" b="1">
                <a:solidFill>
                  <a:srgbClr val="FFFFFF"/>
                </a:solidFill>
                <a:latin typeface="Calibri"/>
              </a:rPr>
              <a:t>2</a:t>
            </a:r>
          </a:p>
        </p:txBody>
      </p:sp>
      <p:sp>
        <p:nvSpPr>
          <p:cNvPr id="12" name="TextBox 11"/>
          <p:cNvSpPr txBox="1"/>
          <p:nvPr/>
        </p:nvSpPr>
        <p:spPr>
          <a:xfrm>
            <a:off x="1371600" y="2834640"/>
            <a:ext cx="5394959" cy="740664"/>
          </a:xfrm>
          <a:prstGeom prst="rect">
            <a:avLst/>
          </a:prstGeom>
          <a:noFill/>
        </p:spPr>
        <p:txBody>
          <a:bodyPr wrap="square" lIns="0" tIns="0" rIns="0" bIns="0" anchor="ctr">
            <a:spAutoFit/>
          </a:bodyPr>
          <a:lstStyle/>
          <a:p>
            <a:pPr algn="l">
              <a:lnSpc>
                <a:spcPct val="105000"/>
              </a:lnSpc>
            </a:pPr>
            <a:r>
              <a:rPr sz="1400" b="1" i="0">
                <a:solidFill>
                  <a:srgbClr val="0B2545"/>
                </a:solidFill>
                <a:latin typeface="Calibri"/>
              </a:rPr>
              <a:t>Compute and maintain 29 reusable policy-level features.</a:t>
            </a:r>
          </a:p>
        </p:txBody>
      </p:sp>
      <p:sp>
        <p:nvSpPr>
          <p:cNvPr id="13" name="Rounded Rectangle 12"/>
          <p:cNvSpPr/>
          <p:nvPr/>
        </p:nvSpPr>
        <p:spPr>
          <a:xfrm>
            <a:off x="502920" y="3849624"/>
            <a:ext cx="6492240" cy="960120"/>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4105656"/>
            <a:ext cx="457200" cy="457200"/>
          </a:xfrm>
          <a:prstGeom prst="roundRect">
            <a:avLst>
              <a:gd name="adj" fmla="val 5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500" b="1">
                <a:solidFill>
                  <a:srgbClr val="FFFFFF"/>
                </a:solidFill>
                <a:latin typeface="Calibri"/>
              </a:rPr>
              <a:t>3</a:t>
            </a:r>
          </a:p>
        </p:txBody>
      </p:sp>
      <p:sp>
        <p:nvSpPr>
          <p:cNvPr id="15" name="TextBox 14"/>
          <p:cNvSpPr txBox="1"/>
          <p:nvPr/>
        </p:nvSpPr>
        <p:spPr>
          <a:xfrm>
            <a:off x="1371600" y="3959352"/>
            <a:ext cx="5394959" cy="740664"/>
          </a:xfrm>
          <a:prstGeom prst="rect">
            <a:avLst/>
          </a:prstGeom>
          <a:noFill/>
        </p:spPr>
        <p:txBody>
          <a:bodyPr wrap="square" lIns="0" tIns="0" rIns="0" bIns="0" anchor="ctr">
            <a:spAutoFit/>
          </a:bodyPr>
          <a:lstStyle/>
          <a:p>
            <a:pPr algn="l">
              <a:lnSpc>
                <a:spcPct val="105000"/>
              </a:lnSpc>
            </a:pPr>
            <a:r>
              <a:rPr sz="1400" b="1" i="0">
                <a:solidFill>
                  <a:srgbClr val="0B2545"/>
                </a:solidFill>
                <a:latin typeface="Calibri"/>
              </a:rPr>
              <a:t>Handle immediate, historical, and future-effective feature states.</a:t>
            </a:r>
          </a:p>
        </p:txBody>
      </p:sp>
      <p:sp>
        <p:nvSpPr>
          <p:cNvPr id="16" name="Rounded Rectangle 15"/>
          <p:cNvSpPr/>
          <p:nvPr/>
        </p:nvSpPr>
        <p:spPr>
          <a:xfrm>
            <a:off x="502920" y="4974336"/>
            <a:ext cx="6492240" cy="960120"/>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1520" y="5230368"/>
            <a:ext cx="457200" cy="457200"/>
          </a:xfrm>
          <a:prstGeom prst="roundRect">
            <a:avLst>
              <a:gd name="adj" fmla="val 5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1500" b="1">
                <a:solidFill>
                  <a:srgbClr val="FFFFFF"/>
                </a:solidFill>
                <a:latin typeface="Calibri"/>
              </a:rPr>
              <a:t>4</a:t>
            </a:r>
          </a:p>
        </p:txBody>
      </p:sp>
      <p:sp>
        <p:nvSpPr>
          <p:cNvPr id="18" name="TextBox 17"/>
          <p:cNvSpPr txBox="1"/>
          <p:nvPr/>
        </p:nvSpPr>
        <p:spPr>
          <a:xfrm>
            <a:off x="1371600" y="5084064"/>
            <a:ext cx="5394959" cy="740664"/>
          </a:xfrm>
          <a:prstGeom prst="rect">
            <a:avLst/>
          </a:prstGeom>
          <a:noFill/>
        </p:spPr>
        <p:txBody>
          <a:bodyPr wrap="square" lIns="0" tIns="0" rIns="0" bIns="0" anchor="ctr">
            <a:spAutoFit/>
          </a:bodyPr>
          <a:lstStyle/>
          <a:p>
            <a:pPr algn="l">
              <a:lnSpc>
                <a:spcPct val="105000"/>
              </a:lnSpc>
            </a:pPr>
            <a:r>
              <a:rPr sz="1400" b="1" i="0">
                <a:solidFill>
                  <a:srgbClr val="0B2545"/>
                </a:solidFill>
                <a:latin typeface="Calibri"/>
              </a:rPr>
              <a:t>Enable low-latency policy-ID lookup with complete traceability.</a:t>
            </a:r>
          </a:p>
        </p:txBody>
      </p:sp>
      <p:sp>
        <p:nvSpPr>
          <p:cNvPr id="19" name="Rounded Rectangle 18"/>
          <p:cNvSpPr/>
          <p:nvPr/>
        </p:nvSpPr>
        <p:spPr>
          <a:xfrm>
            <a:off x="7269480" y="1600200"/>
            <a:ext cx="4434840" cy="4617720"/>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43800" y="1783080"/>
            <a:ext cx="3931920" cy="365760"/>
          </a:xfrm>
          <a:prstGeom prst="rect">
            <a:avLst/>
          </a:prstGeom>
          <a:noFill/>
        </p:spPr>
        <p:txBody>
          <a:bodyPr wrap="square" lIns="0" tIns="0" rIns="0" bIns="0" anchor="t">
            <a:spAutoFit/>
          </a:bodyPr>
          <a:lstStyle/>
          <a:p>
            <a:pPr algn="l">
              <a:lnSpc>
                <a:spcPct val="100000"/>
              </a:lnSpc>
            </a:pPr>
            <a:r>
              <a:rPr sz="1300" b="1" i="0">
                <a:solidFill>
                  <a:srgbClr val="0E7C86"/>
                </a:solidFill>
                <a:latin typeface="Calibri"/>
              </a:rPr>
              <a:t>SCOPE</a:t>
            </a:r>
          </a:p>
        </p:txBody>
      </p:sp>
      <p:sp>
        <p:nvSpPr>
          <p:cNvPr id="21" name="Oval 20"/>
          <p:cNvSpPr/>
          <p:nvPr/>
        </p:nvSpPr>
        <p:spPr>
          <a:xfrm>
            <a:off x="7543800" y="2322576"/>
            <a:ext cx="128016" cy="128016"/>
          </a:xfrm>
          <a:prstGeom prst="ellipse">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99831" y="2240280"/>
            <a:ext cx="3657600" cy="365760"/>
          </a:xfrm>
          <a:prstGeom prst="rect">
            <a:avLst/>
          </a:prstGeom>
          <a:noFill/>
        </p:spPr>
        <p:txBody>
          <a:bodyPr wrap="square" lIns="0" tIns="0" rIns="0" bIns="0" anchor="t">
            <a:spAutoFit/>
          </a:bodyPr>
          <a:lstStyle/>
          <a:p>
            <a:pPr algn="l">
              <a:lnSpc>
                <a:spcPct val="100000"/>
              </a:lnSpc>
            </a:pPr>
            <a:r>
              <a:rPr sz="1350" b="0" i="0">
                <a:solidFill>
                  <a:srgbClr val="44515F"/>
                </a:solidFill>
                <a:latin typeface="Calibri"/>
              </a:rPr>
              <a:t>Databricks</a:t>
            </a:r>
          </a:p>
        </p:txBody>
      </p:sp>
      <p:sp>
        <p:nvSpPr>
          <p:cNvPr id="23" name="Oval 22"/>
          <p:cNvSpPr/>
          <p:nvPr/>
        </p:nvSpPr>
        <p:spPr>
          <a:xfrm>
            <a:off x="7543800" y="2852928"/>
            <a:ext cx="128016" cy="128016"/>
          </a:xfrm>
          <a:prstGeom prst="ellipse">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99831" y="2770632"/>
            <a:ext cx="3657600" cy="365760"/>
          </a:xfrm>
          <a:prstGeom prst="rect">
            <a:avLst/>
          </a:prstGeom>
          <a:noFill/>
        </p:spPr>
        <p:txBody>
          <a:bodyPr wrap="square" lIns="0" tIns="0" rIns="0" bIns="0" anchor="t">
            <a:spAutoFit/>
          </a:bodyPr>
          <a:lstStyle/>
          <a:p>
            <a:pPr algn="l">
              <a:lnSpc>
                <a:spcPct val="100000"/>
              </a:lnSpc>
            </a:pPr>
            <a:r>
              <a:rPr sz="1350" b="0" i="0">
                <a:solidFill>
                  <a:srgbClr val="44515F"/>
                </a:solidFill>
                <a:latin typeface="Calibri"/>
              </a:rPr>
              <a:t>Delta Lake &amp; Change Data Feed</a:t>
            </a:r>
          </a:p>
        </p:txBody>
      </p:sp>
      <p:sp>
        <p:nvSpPr>
          <p:cNvPr id="25" name="Oval 24"/>
          <p:cNvSpPr/>
          <p:nvPr/>
        </p:nvSpPr>
        <p:spPr>
          <a:xfrm>
            <a:off x="7543800" y="3383280"/>
            <a:ext cx="128016" cy="128016"/>
          </a:xfrm>
          <a:prstGeom prst="ellipse">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99831" y="3300984"/>
            <a:ext cx="3657600" cy="365760"/>
          </a:xfrm>
          <a:prstGeom prst="rect">
            <a:avLst/>
          </a:prstGeom>
          <a:noFill/>
        </p:spPr>
        <p:txBody>
          <a:bodyPr wrap="square" lIns="0" tIns="0" rIns="0" bIns="0" anchor="t">
            <a:spAutoFit/>
          </a:bodyPr>
          <a:lstStyle/>
          <a:p>
            <a:pPr algn="l">
              <a:lnSpc>
                <a:spcPct val="100000"/>
              </a:lnSpc>
            </a:pPr>
            <a:r>
              <a:rPr sz="1350" b="0" i="0">
                <a:solidFill>
                  <a:srgbClr val="44515F"/>
                </a:solidFill>
                <a:latin typeface="Calibri"/>
              </a:rPr>
              <a:t>PySpark</a:t>
            </a:r>
          </a:p>
        </p:txBody>
      </p:sp>
      <p:sp>
        <p:nvSpPr>
          <p:cNvPr id="27" name="Oval 26"/>
          <p:cNvSpPr/>
          <p:nvPr/>
        </p:nvSpPr>
        <p:spPr>
          <a:xfrm>
            <a:off x="7543800" y="3913632"/>
            <a:ext cx="128016" cy="128016"/>
          </a:xfrm>
          <a:prstGeom prst="ellipse">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99831" y="3831336"/>
            <a:ext cx="3657600" cy="365760"/>
          </a:xfrm>
          <a:prstGeom prst="rect">
            <a:avLst/>
          </a:prstGeom>
          <a:noFill/>
        </p:spPr>
        <p:txBody>
          <a:bodyPr wrap="square" lIns="0" tIns="0" rIns="0" bIns="0" anchor="t">
            <a:spAutoFit/>
          </a:bodyPr>
          <a:lstStyle/>
          <a:p>
            <a:pPr algn="l">
              <a:lnSpc>
                <a:spcPct val="100000"/>
              </a:lnSpc>
            </a:pPr>
            <a:r>
              <a:rPr sz="1350" b="0" i="0">
                <a:solidFill>
                  <a:srgbClr val="44515F"/>
                </a:solidFill>
                <a:latin typeface="Calibri"/>
              </a:rPr>
              <a:t>Unity Catalog</a:t>
            </a:r>
          </a:p>
        </p:txBody>
      </p:sp>
      <p:sp>
        <p:nvSpPr>
          <p:cNvPr id="29" name="Oval 28"/>
          <p:cNvSpPr/>
          <p:nvPr/>
        </p:nvSpPr>
        <p:spPr>
          <a:xfrm>
            <a:off x="7543800" y="4443984"/>
            <a:ext cx="128016" cy="128016"/>
          </a:xfrm>
          <a:prstGeom prst="ellipse">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99831" y="4361688"/>
            <a:ext cx="3657600" cy="365760"/>
          </a:xfrm>
          <a:prstGeom prst="rect">
            <a:avLst/>
          </a:prstGeom>
          <a:noFill/>
        </p:spPr>
        <p:txBody>
          <a:bodyPr wrap="square" lIns="0" tIns="0" rIns="0" bIns="0" anchor="t">
            <a:spAutoFit/>
          </a:bodyPr>
          <a:lstStyle/>
          <a:p>
            <a:pPr algn="l">
              <a:lnSpc>
                <a:spcPct val="100000"/>
              </a:lnSpc>
            </a:pPr>
            <a:r>
              <a:rPr sz="1350" b="0" i="0">
                <a:solidFill>
                  <a:srgbClr val="44515F"/>
                </a:solidFill>
                <a:latin typeface="Calibri"/>
              </a:rPr>
              <a:t>Lakebase Online Store</a:t>
            </a:r>
          </a:p>
        </p:txBody>
      </p:sp>
      <p:sp>
        <p:nvSpPr>
          <p:cNvPr id="31" name="Oval 30"/>
          <p:cNvSpPr/>
          <p:nvPr/>
        </p:nvSpPr>
        <p:spPr>
          <a:xfrm>
            <a:off x="7543800" y="4974336"/>
            <a:ext cx="128016" cy="128016"/>
          </a:xfrm>
          <a:prstGeom prst="ellipse">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99831" y="4892040"/>
            <a:ext cx="3657600" cy="365760"/>
          </a:xfrm>
          <a:prstGeom prst="rect">
            <a:avLst/>
          </a:prstGeom>
          <a:noFill/>
        </p:spPr>
        <p:txBody>
          <a:bodyPr wrap="square" lIns="0" tIns="0" rIns="0" bIns="0" anchor="t">
            <a:spAutoFit/>
          </a:bodyPr>
          <a:lstStyle/>
          <a:p>
            <a:pPr algn="l">
              <a:lnSpc>
                <a:spcPct val="100000"/>
              </a:lnSpc>
            </a:pPr>
            <a:r>
              <a:rPr sz="1350" b="0" i="0">
                <a:solidFill>
                  <a:srgbClr val="44515F"/>
                </a:solidFill>
                <a:latin typeface="Calibri"/>
              </a:rPr>
              <a:t>Feature Serving Endpoint</a:t>
            </a:r>
          </a:p>
        </p:txBody>
      </p:sp>
      <p:sp>
        <p:nvSpPr>
          <p:cNvPr id="33" name="Oval 32"/>
          <p:cNvSpPr/>
          <p:nvPr/>
        </p:nvSpPr>
        <p:spPr>
          <a:xfrm>
            <a:off x="7543800" y="5504688"/>
            <a:ext cx="128016" cy="128016"/>
          </a:xfrm>
          <a:prstGeom prst="ellipse">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99831" y="5422392"/>
            <a:ext cx="3657600" cy="365760"/>
          </a:xfrm>
          <a:prstGeom prst="rect">
            <a:avLst/>
          </a:prstGeom>
          <a:noFill/>
        </p:spPr>
        <p:txBody>
          <a:bodyPr wrap="square" lIns="0" tIns="0" rIns="0" bIns="0" anchor="t">
            <a:spAutoFit/>
          </a:bodyPr>
          <a:lstStyle/>
          <a:p>
            <a:pPr algn="l">
              <a:lnSpc>
                <a:spcPct val="100000"/>
              </a:lnSpc>
            </a:pPr>
            <a:r>
              <a:rPr sz="1350" b="0" i="0">
                <a:solidFill>
                  <a:srgbClr val="44515F"/>
                </a:solidFill>
                <a:latin typeface="Calibri"/>
              </a:rPr>
              <a:t>Databricks Workflows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SYSTEM DESIGN</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End-to-End Solution Architecture</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4</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sp>
        <p:nvSpPr>
          <p:cNvPr id="7" name="Rounded Rectangle 6"/>
          <p:cNvSpPr/>
          <p:nvPr/>
        </p:nvSpPr>
        <p:spPr>
          <a:xfrm>
            <a:off x="9006840" y="292608"/>
            <a:ext cx="960120" cy="256032"/>
          </a:xfrm>
          <a:prstGeom prst="roundRect">
            <a:avLst>
              <a:gd name="adj" fmla="val 50000"/>
            </a:avLst>
          </a:prstGeom>
          <a:solidFill>
            <a:srgbClr val="E1F1F2"/>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900" b="1">
                <a:solidFill>
                  <a:srgbClr val="0A5C64"/>
                </a:solidFill>
                <a:latin typeface="Calibri"/>
              </a:rPr>
              <a:t>Event-driven</a:t>
            </a:r>
          </a:p>
        </p:txBody>
      </p:sp>
      <p:sp>
        <p:nvSpPr>
          <p:cNvPr id="8" name="Rounded Rectangle 7"/>
          <p:cNvSpPr/>
          <p:nvPr/>
        </p:nvSpPr>
        <p:spPr>
          <a:xfrm>
            <a:off x="10030967" y="292608"/>
            <a:ext cx="777240" cy="256032"/>
          </a:xfrm>
          <a:prstGeom prst="roundRect">
            <a:avLst>
              <a:gd name="adj" fmla="val 50000"/>
            </a:avLst>
          </a:prstGeom>
          <a:solidFill>
            <a:srgbClr val="FBEEDA"/>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900" b="1">
                <a:solidFill>
                  <a:srgbClr val="C97A1E"/>
                </a:solidFill>
                <a:latin typeface="Calibri"/>
              </a:rPr>
              <a:t>Hourly</a:t>
            </a:r>
          </a:p>
        </p:txBody>
      </p:sp>
      <p:sp>
        <p:nvSpPr>
          <p:cNvPr id="9" name="Rounded Rectangle 8"/>
          <p:cNvSpPr/>
          <p:nvPr/>
        </p:nvSpPr>
        <p:spPr>
          <a:xfrm>
            <a:off x="10872216" y="292608"/>
            <a:ext cx="713232" cy="256032"/>
          </a:xfrm>
          <a:prstGeom prst="roundRect">
            <a:avLst>
              <a:gd name="adj" fmla="val 50000"/>
            </a:avLst>
          </a:prstGeom>
          <a:solidFill>
            <a:srgbClr val="EAE3F5"/>
          </a:solidFill>
          <a:ln>
            <a:noFill/>
          </a:ln>
          <a:effectLst/>
        </p:spPr>
        <p:style>
          <a:lnRef idx="1">
            <a:schemeClr val="accent1"/>
          </a:lnRef>
          <a:fillRef idx="3">
            <a:schemeClr val="accent1"/>
          </a:fillRef>
          <a:effectRef idx="2">
            <a:schemeClr val="accent1"/>
          </a:effectRef>
          <a:fontRef idx="minor">
            <a:schemeClr val="lt1"/>
          </a:fontRef>
        </p:style>
        <p:txBody>
          <a:bodyPr lIns="36576" tIns="0" rIns="36576" bIns="0" rtlCol="0" anchor="ctr"/>
          <a:lstStyle/>
          <a:p>
            <a:pPr algn="ctr"/>
            <a:r>
              <a:rPr sz="900" b="1">
                <a:solidFill>
                  <a:srgbClr val="5B3E96"/>
                </a:solidFill>
                <a:latin typeface="Calibri"/>
              </a:rPr>
              <a:t>Daily</a:t>
            </a:r>
          </a:p>
        </p:txBody>
      </p:sp>
      <p:sp>
        <p:nvSpPr>
          <p:cNvPr id="10" name="Rounded Rectangle 9"/>
          <p:cNvSpPr/>
          <p:nvPr/>
        </p:nvSpPr>
        <p:spPr>
          <a:xfrm>
            <a:off x="502920" y="1417320"/>
            <a:ext cx="1737360" cy="658368"/>
          </a:xfrm>
          <a:prstGeom prst="roundRect">
            <a:avLst>
              <a:gd name="adj" fmla="val 12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Transaction
JSON Files</a:t>
            </a:r>
          </a:p>
        </p:txBody>
      </p:sp>
      <p:sp>
        <p:nvSpPr>
          <p:cNvPr id="11" name="Rounded Rectangle 10"/>
          <p:cNvSpPr/>
          <p:nvPr/>
        </p:nvSpPr>
        <p:spPr>
          <a:xfrm>
            <a:off x="2345436" y="1417320"/>
            <a:ext cx="1737360" cy="658368"/>
          </a:xfrm>
          <a:prstGeom prst="roundRect">
            <a:avLst>
              <a:gd name="adj" fmla="val 12000"/>
            </a:avLst>
          </a:prstGeom>
          <a:solidFill>
            <a:srgbClr val="0E7C86"/>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Auto
Loader</a:t>
            </a:r>
          </a:p>
        </p:txBody>
      </p:sp>
      <p:sp>
        <p:nvSpPr>
          <p:cNvPr id="12" name="Rounded Rectangle 11"/>
          <p:cNvSpPr/>
          <p:nvPr/>
        </p:nvSpPr>
        <p:spPr>
          <a:xfrm>
            <a:off x="4187952" y="1417320"/>
            <a:ext cx="1737360" cy="658368"/>
          </a:xfrm>
          <a:prstGeom prst="roundRect">
            <a:avLst>
              <a:gd name="adj" fmla="val 12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RAW_POLICY_EVENTS
(Bronze)</a:t>
            </a:r>
          </a:p>
        </p:txBody>
      </p:sp>
      <p:sp>
        <p:nvSpPr>
          <p:cNvPr id="13" name="Rounded Rectangle 12"/>
          <p:cNvSpPr/>
          <p:nvPr/>
        </p:nvSpPr>
        <p:spPr>
          <a:xfrm>
            <a:off x="6030468" y="1417320"/>
            <a:ext cx="1737360" cy="658368"/>
          </a:xfrm>
          <a:prstGeom prst="roundRect">
            <a:avLst>
              <a:gd name="adj" fmla="val 12000"/>
            </a:avLst>
          </a:prstGeom>
          <a:solidFill>
            <a:srgbClr val="0E7C86"/>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PySpark Feature
Computation</a:t>
            </a:r>
          </a:p>
        </p:txBody>
      </p:sp>
      <p:sp>
        <p:nvSpPr>
          <p:cNvPr id="14" name="Rounded Rectangle 13"/>
          <p:cNvSpPr/>
          <p:nvPr/>
        </p:nvSpPr>
        <p:spPr>
          <a:xfrm>
            <a:off x="7872984" y="1417320"/>
            <a:ext cx="1737360" cy="658368"/>
          </a:xfrm>
          <a:prstGeom prst="roundRect">
            <a:avLst>
              <a:gd name="adj" fmla="val 12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COMPUTED_FEATURE_
EVENTS (Silver)</a:t>
            </a:r>
          </a:p>
        </p:txBody>
      </p:sp>
      <p:sp>
        <p:nvSpPr>
          <p:cNvPr id="15" name="Rounded Rectangle 14"/>
          <p:cNvSpPr/>
          <p:nvPr/>
        </p:nvSpPr>
        <p:spPr>
          <a:xfrm>
            <a:off x="9715500" y="1417320"/>
            <a:ext cx="1737360" cy="658368"/>
          </a:xfrm>
          <a:prstGeom prst="roundRect">
            <a:avLst>
              <a:gd name="adj" fmla="val 12000"/>
            </a:avLst>
          </a:prstGeom>
          <a:solidFill>
            <a:srgbClr val="0A5C64"/>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Registry-Driven
Routing</a:t>
            </a:r>
          </a:p>
        </p:txBody>
      </p:sp>
      <p:cxnSp>
        <p:nvCxnSpPr>
          <p:cNvPr id="16" name="Connector 15"/>
          <p:cNvCxnSpPr/>
          <p:nvPr/>
        </p:nvCxnSpPr>
        <p:spPr>
          <a:xfrm>
            <a:off x="2240280" y="1746504"/>
            <a:ext cx="105156" cy="0"/>
          </a:xfrm>
          <a:prstGeom prst="line">
            <a:avLst/>
          </a:prstGeom>
          <a:ln w="2222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82796" y="1746504"/>
            <a:ext cx="105156" cy="0"/>
          </a:xfrm>
          <a:prstGeom prst="line">
            <a:avLst/>
          </a:prstGeom>
          <a:ln w="2222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925312" y="1746504"/>
            <a:ext cx="105156" cy="0"/>
          </a:xfrm>
          <a:prstGeom prst="line">
            <a:avLst/>
          </a:prstGeom>
          <a:ln w="2222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67828" y="1746504"/>
            <a:ext cx="105156" cy="0"/>
          </a:xfrm>
          <a:prstGeom prst="line">
            <a:avLst/>
          </a:prstGeom>
          <a:ln w="2222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610344" y="1746504"/>
            <a:ext cx="105156" cy="0"/>
          </a:xfrm>
          <a:prstGeom prst="line">
            <a:avLst/>
          </a:prstGeom>
          <a:ln w="2222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0" y="2103120"/>
            <a:ext cx="914400" cy="182880"/>
          </a:xfrm>
          <a:prstGeom prst="rect">
            <a:avLst/>
          </a:prstGeom>
          <a:noFill/>
        </p:spPr>
        <p:txBody>
          <a:bodyPr wrap="square" lIns="0" tIns="0" rIns="0" bIns="0" anchor="t">
            <a:spAutoFit/>
          </a:bodyPr>
          <a:lstStyle/>
          <a:p>
            <a:pPr algn="ctr">
              <a:lnSpc>
                <a:spcPct val="100000"/>
              </a:lnSpc>
            </a:pPr>
            <a:r>
              <a:rPr sz="850" b="1" i="0">
                <a:solidFill>
                  <a:srgbClr val="0A5C64"/>
                </a:solidFill>
                <a:latin typeface="Calibri"/>
              </a:rPr>
              <a:t>CDF</a:t>
            </a:r>
          </a:p>
        </p:txBody>
      </p:sp>
      <p:sp>
        <p:nvSpPr>
          <p:cNvPr id="22" name="TextBox 21"/>
          <p:cNvSpPr txBox="1"/>
          <p:nvPr/>
        </p:nvSpPr>
        <p:spPr>
          <a:xfrm>
            <a:off x="9628632" y="2103120"/>
            <a:ext cx="914400" cy="182880"/>
          </a:xfrm>
          <a:prstGeom prst="rect">
            <a:avLst/>
          </a:prstGeom>
          <a:noFill/>
        </p:spPr>
        <p:txBody>
          <a:bodyPr wrap="square" lIns="0" tIns="0" rIns="0" bIns="0" anchor="t">
            <a:spAutoFit/>
          </a:bodyPr>
          <a:lstStyle/>
          <a:p>
            <a:pPr algn="ctr">
              <a:lnSpc>
                <a:spcPct val="100000"/>
              </a:lnSpc>
            </a:pPr>
            <a:r>
              <a:rPr sz="850" b="1" i="0">
                <a:solidFill>
                  <a:srgbClr val="0A5C64"/>
                </a:solidFill>
                <a:latin typeface="Calibri"/>
              </a:rPr>
              <a:t>CDF</a:t>
            </a:r>
          </a:p>
        </p:txBody>
      </p:sp>
      <p:sp>
        <p:nvSpPr>
          <p:cNvPr id="23" name="Rounded Rectangle 22"/>
          <p:cNvSpPr/>
          <p:nvPr/>
        </p:nvSpPr>
        <p:spPr>
          <a:xfrm>
            <a:off x="5159502" y="2359152"/>
            <a:ext cx="1737360" cy="457200"/>
          </a:xfrm>
          <a:prstGeom prst="roundRect">
            <a:avLst>
              <a:gd name="adj" fmla="val 12000"/>
            </a:avLst>
          </a:prstGeom>
          <a:solidFill>
            <a:srgbClr val="A6422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850" b="1">
                <a:solidFill>
                  <a:srgbClr val="FFFFFF"/>
                </a:solidFill>
                <a:latin typeface="Calibri"/>
              </a:rPr>
              <a:t>RAW_EVENTS_DLQ
(malformed events)</a:t>
            </a:r>
          </a:p>
        </p:txBody>
      </p:sp>
      <p:cxnSp>
        <p:nvCxnSpPr>
          <p:cNvPr id="24" name="Connector 23"/>
          <p:cNvCxnSpPr>
            <a:cxnSpLocks/>
          </p:cNvCxnSpPr>
          <p:nvPr/>
        </p:nvCxnSpPr>
        <p:spPr>
          <a:xfrm>
            <a:off x="5550408" y="2075688"/>
            <a:ext cx="0" cy="278892"/>
          </a:xfrm>
          <a:prstGeom prst="line">
            <a:avLst/>
          </a:prstGeom>
          <a:ln w="19050">
            <a:solidFill>
              <a:srgbClr val="A6422E"/>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231135" y="3246120"/>
            <a:ext cx="2331720" cy="621792"/>
          </a:xfrm>
          <a:prstGeom prst="roundRect">
            <a:avLst>
              <a:gd name="adj" fmla="val 12000"/>
            </a:avLst>
          </a:prstGeom>
          <a:solidFill>
            <a:srgbClr val="0A5C64"/>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AUTO_FEATURES_ACTIVE
(serving — 1 row/policy)</a:t>
            </a:r>
          </a:p>
        </p:txBody>
      </p:sp>
      <p:sp>
        <p:nvSpPr>
          <p:cNvPr id="26" name="Rounded Rectangle 25"/>
          <p:cNvSpPr/>
          <p:nvPr/>
        </p:nvSpPr>
        <p:spPr>
          <a:xfrm>
            <a:off x="4928616" y="3246120"/>
            <a:ext cx="2331720" cy="621792"/>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AUTO_FEATURES_PENDING
(future-effective GROUP_B)</a:t>
            </a:r>
          </a:p>
        </p:txBody>
      </p:sp>
      <p:sp>
        <p:nvSpPr>
          <p:cNvPr id="27" name="Rounded Rectangle 26"/>
          <p:cNvSpPr/>
          <p:nvPr/>
        </p:nvSpPr>
        <p:spPr>
          <a:xfrm>
            <a:off x="7626096" y="3246120"/>
            <a:ext cx="2331720" cy="621792"/>
          </a:xfrm>
          <a:prstGeom prst="roundRect">
            <a:avLst>
              <a:gd name="adj" fmla="val 12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50" b="1">
                <a:solidFill>
                  <a:srgbClr val="FFFFFF"/>
                </a:solidFill>
                <a:latin typeface="Calibri"/>
              </a:rPr>
              <a:t>AUTO_FEATURES_HISTORY
(SCD Type 2 snapshots)</a:t>
            </a:r>
          </a:p>
        </p:txBody>
      </p:sp>
      <p:cxnSp>
        <p:nvCxnSpPr>
          <p:cNvPr id="28" name="Connector 27"/>
          <p:cNvCxnSpPr/>
          <p:nvPr/>
        </p:nvCxnSpPr>
        <p:spPr>
          <a:xfrm flipH="1">
            <a:off x="3396995" y="2075688"/>
            <a:ext cx="7187185" cy="1170432"/>
          </a:xfrm>
          <a:prstGeom prst="line">
            <a:avLst/>
          </a:prstGeom>
          <a:ln w="19050">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094475" y="2075688"/>
            <a:ext cx="4489705" cy="1170432"/>
          </a:xfrm>
          <a:prstGeom prst="line">
            <a:avLst/>
          </a:prstGeom>
          <a:ln w="19050">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8791956" y="2075688"/>
            <a:ext cx="1792224" cy="1170432"/>
          </a:xfrm>
          <a:prstGeom prst="line">
            <a:avLst/>
          </a:prstGeom>
          <a:ln w="19050">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562855" y="3557015"/>
            <a:ext cx="365761" cy="0"/>
          </a:xfrm>
          <a:prstGeom prst="line">
            <a:avLst/>
          </a:prstGeom>
          <a:ln w="22225">
            <a:solidFill>
              <a:srgbClr val="C97A1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968496" y="3931921"/>
            <a:ext cx="1554480" cy="228600"/>
          </a:xfrm>
          <a:prstGeom prst="rect">
            <a:avLst/>
          </a:prstGeom>
          <a:noFill/>
        </p:spPr>
        <p:txBody>
          <a:bodyPr wrap="square" lIns="0" tIns="0" rIns="0" bIns="0" anchor="t">
            <a:spAutoFit/>
          </a:bodyPr>
          <a:lstStyle/>
          <a:p>
            <a:pPr algn="ctr">
              <a:lnSpc>
                <a:spcPct val="100000"/>
              </a:lnSpc>
            </a:pPr>
            <a:r>
              <a:rPr sz="850" b="1" i="0" dirty="0">
                <a:solidFill>
                  <a:srgbClr val="C97A1E"/>
                </a:solidFill>
                <a:latin typeface="Calibri"/>
              </a:rPr>
              <a:t>Hourly promotion</a:t>
            </a:r>
          </a:p>
        </p:txBody>
      </p:sp>
      <p:cxnSp>
        <p:nvCxnSpPr>
          <p:cNvPr id="33" name="Connector 32"/>
          <p:cNvCxnSpPr/>
          <p:nvPr/>
        </p:nvCxnSpPr>
        <p:spPr>
          <a:xfrm>
            <a:off x="4622292" y="2075688"/>
            <a:ext cx="0" cy="914399"/>
          </a:xfrm>
          <a:prstGeom prst="line">
            <a:avLst/>
          </a:prstGeom>
          <a:ln w="19050">
            <a:solidFill>
              <a:srgbClr val="5B3E96"/>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2814065" y="2990087"/>
            <a:ext cx="1808227" cy="256033"/>
          </a:xfrm>
          <a:prstGeom prst="line">
            <a:avLst/>
          </a:prstGeom>
          <a:ln w="19050">
            <a:solidFill>
              <a:srgbClr val="5B3E96"/>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482595" y="2331719"/>
            <a:ext cx="2743200" cy="228600"/>
          </a:xfrm>
          <a:prstGeom prst="rect">
            <a:avLst/>
          </a:prstGeom>
          <a:noFill/>
        </p:spPr>
        <p:txBody>
          <a:bodyPr wrap="square" lIns="0" tIns="0" rIns="0" bIns="0" anchor="t">
            <a:spAutoFit/>
          </a:bodyPr>
          <a:lstStyle/>
          <a:p>
            <a:pPr algn="ctr">
              <a:lnSpc>
                <a:spcPct val="100000"/>
              </a:lnSpc>
            </a:pPr>
            <a:r>
              <a:rPr sz="850" b="1" i="0" dirty="0">
                <a:solidFill>
                  <a:srgbClr val="5B3E96"/>
                </a:solidFill>
                <a:latin typeface="Calibri"/>
              </a:rPr>
              <a:t>Daily job: GROUP_A recompute</a:t>
            </a:r>
          </a:p>
        </p:txBody>
      </p:sp>
      <p:sp>
        <p:nvSpPr>
          <p:cNvPr id="36" name="Rounded Rectangle 35"/>
          <p:cNvSpPr/>
          <p:nvPr/>
        </p:nvSpPr>
        <p:spPr>
          <a:xfrm>
            <a:off x="502920" y="4709160"/>
            <a:ext cx="2514600" cy="658368"/>
          </a:xfrm>
          <a:prstGeom prst="roundRect">
            <a:avLst>
              <a:gd name="adj" fmla="val 12000"/>
            </a:avLst>
          </a:prstGeom>
          <a:solidFill>
            <a:srgbClr val="0A5C64"/>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000" b="1">
                <a:solidFill>
                  <a:srgbClr val="FFFFFF"/>
                </a:solidFill>
                <a:latin typeface="Calibri"/>
              </a:rPr>
              <a:t>AUTO_FEATURES_ACTIVE</a:t>
            </a:r>
          </a:p>
        </p:txBody>
      </p:sp>
      <p:sp>
        <p:nvSpPr>
          <p:cNvPr id="37" name="Rounded Rectangle 36"/>
          <p:cNvSpPr/>
          <p:nvPr/>
        </p:nvSpPr>
        <p:spPr>
          <a:xfrm>
            <a:off x="3337560" y="4709160"/>
            <a:ext cx="2514600" cy="658368"/>
          </a:xfrm>
          <a:prstGeom prst="roundRect">
            <a:avLst>
              <a:gd name="adj" fmla="val 12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000" b="1">
                <a:solidFill>
                  <a:srgbClr val="FFFFFF"/>
                </a:solidFill>
                <a:latin typeface="Calibri"/>
              </a:rPr>
              <a:t>Lakebase
Online Store</a:t>
            </a:r>
          </a:p>
        </p:txBody>
      </p:sp>
      <p:sp>
        <p:nvSpPr>
          <p:cNvPr id="38" name="Rounded Rectangle 37"/>
          <p:cNvSpPr/>
          <p:nvPr/>
        </p:nvSpPr>
        <p:spPr>
          <a:xfrm>
            <a:off x="6172200" y="4709160"/>
            <a:ext cx="2514600" cy="658368"/>
          </a:xfrm>
          <a:prstGeom prst="roundRect">
            <a:avLst>
              <a:gd name="adj" fmla="val 12000"/>
            </a:avLst>
          </a:prstGeom>
          <a:solidFill>
            <a:srgbClr val="0E7C86"/>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000" b="1">
                <a:solidFill>
                  <a:srgbClr val="FFFFFF"/>
                </a:solidFill>
                <a:latin typeface="Calibri"/>
              </a:rPr>
              <a:t>Feature Serving
Endpoint (REST)</a:t>
            </a:r>
          </a:p>
        </p:txBody>
      </p:sp>
      <p:sp>
        <p:nvSpPr>
          <p:cNvPr id="39" name="Rounded Rectangle 38"/>
          <p:cNvSpPr/>
          <p:nvPr/>
        </p:nvSpPr>
        <p:spPr>
          <a:xfrm>
            <a:off x="9006840" y="4709160"/>
            <a:ext cx="2514600" cy="658368"/>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000" b="1">
                <a:solidFill>
                  <a:srgbClr val="FFFFFF"/>
                </a:solidFill>
                <a:latin typeface="Calibri"/>
              </a:rPr>
              <a:t>Multiple ML Models</a:t>
            </a:r>
          </a:p>
        </p:txBody>
      </p:sp>
      <p:cxnSp>
        <p:nvCxnSpPr>
          <p:cNvPr id="40" name="Connector 39"/>
          <p:cNvCxnSpPr/>
          <p:nvPr/>
        </p:nvCxnSpPr>
        <p:spPr>
          <a:xfrm>
            <a:off x="3017520" y="5038344"/>
            <a:ext cx="320040" cy="0"/>
          </a:xfrm>
          <a:prstGeom prst="line">
            <a:avLst/>
          </a:prstGeom>
          <a:ln w="25400">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852160" y="5038344"/>
            <a:ext cx="320040" cy="0"/>
          </a:xfrm>
          <a:prstGeom prst="line">
            <a:avLst/>
          </a:prstGeom>
          <a:ln w="25400">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5038344"/>
            <a:ext cx="320040" cy="0"/>
          </a:xfrm>
          <a:prstGeom prst="line">
            <a:avLst/>
          </a:prstGeom>
          <a:ln w="25400">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760220" y="3867911"/>
            <a:ext cx="1636775" cy="841249"/>
          </a:xfrm>
          <a:prstGeom prst="line">
            <a:avLst/>
          </a:prstGeom>
          <a:ln w="22225">
            <a:solidFill>
              <a:srgbClr val="0A5C64"/>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FEATURE ENGINEERING</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29 Features Computed Once and Reused Across Models</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5</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sp>
        <p:nvSpPr>
          <p:cNvPr id="7" name="Rounded Rectangle 6"/>
          <p:cNvSpPr/>
          <p:nvPr/>
        </p:nvSpPr>
        <p:spPr>
          <a:xfrm>
            <a:off x="502920" y="1417320"/>
            <a:ext cx="5349240" cy="3520440"/>
          </a:xfrm>
          <a:prstGeom prst="roundRect">
            <a:avLst>
              <a:gd name="adj" fmla="val 6000"/>
            </a:avLst>
          </a:prstGeom>
          <a:solidFill>
            <a:srgbClr val="E1F1F2"/>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417320"/>
            <a:ext cx="5349240" cy="502920"/>
          </a:xfrm>
          <a:prstGeom prst="roundRect">
            <a:avLst>
              <a:gd name="adj" fmla="val 0"/>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08760"/>
            <a:ext cx="4892040" cy="365760"/>
          </a:xfrm>
          <a:prstGeom prst="rect">
            <a:avLst/>
          </a:prstGeom>
          <a:noFill/>
        </p:spPr>
        <p:txBody>
          <a:bodyPr wrap="square" lIns="0" tIns="0" rIns="0" bIns="0" anchor="ctr">
            <a:spAutoFit/>
          </a:bodyPr>
          <a:lstStyle/>
          <a:p>
            <a:pPr algn="l">
              <a:lnSpc>
                <a:spcPct val="100000"/>
              </a:lnSpc>
            </a:pPr>
            <a:r>
              <a:rPr sz="1400" b="1" i="0">
                <a:solidFill>
                  <a:srgbClr val="FFFFFF"/>
                </a:solidFill>
                <a:latin typeface="Calibri"/>
              </a:rPr>
              <a:t>GROUP_A — Immediate &amp; Time-Dependent (5)</a:t>
            </a:r>
          </a:p>
        </p:txBody>
      </p:sp>
      <p:sp>
        <p:nvSpPr>
          <p:cNvPr id="10" name="Oval 9"/>
          <p:cNvSpPr/>
          <p:nvPr/>
        </p:nvSpPr>
        <p:spPr>
          <a:xfrm>
            <a:off x="731520" y="2130552"/>
            <a:ext cx="109728" cy="109728"/>
          </a:xfrm>
          <a:prstGeom prst="ellipse">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075688"/>
            <a:ext cx="4114800"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onsolas"/>
              </a:rPr>
              <a:t>TXN_CNT_1D</a:t>
            </a:r>
          </a:p>
        </p:txBody>
      </p:sp>
      <p:sp>
        <p:nvSpPr>
          <p:cNvPr id="12" name="Oval 11"/>
          <p:cNvSpPr/>
          <p:nvPr/>
        </p:nvSpPr>
        <p:spPr>
          <a:xfrm>
            <a:off x="731520" y="2459736"/>
            <a:ext cx="109728" cy="109728"/>
          </a:xfrm>
          <a:prstGeom prst="ellipse">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2404872"/>
            <a:ext cx="4114800"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onsolas"/>
              </a:rPr>
              <a:t>TXN_CNT_1W</a:t>
            </a:r>
          </a:p>
        </p:txBody>
      </p:sp>
      <p:sp>
        <p:nvSpPr>
          <p:cNvPr id="14" name="Oval 13"/>
          <p:cNvSpPr/>
          <p:nvPr/>
        </p:nvSpPr>
        <p:spPr>
          <a:xfrm>
            <a:off x="731520" y="2788920"/>
            <a:ext cx="109728" cy="109728"/>
          </a:xfrm>
          <a:prstGeom prst="ellipse">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2734056"/>
            <a:ext cx="4114800"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onsolas"/>
              </a:rPr>
              <a:t>TXN_CNT_1M</a:t>
            </a:r>
          </a:p>
        </p:txBody>
      </p:sp>
      <p:sp>
        <p:nvSpPr>
          <p:cNvPr id="16" name="Oval 15"/>
          <p:cNvSpPr/>
          <p:nvPr/>
        </p:nvSpPr>
        <p:spPr>
          <a:xfrm>
            <a:off x="731520" y="3118103"/>
            <a:ext cx="109728" cy="109728"/>
          </a:xfrm>
          <a:prstGeom prst="ellipse">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063239"/>
            <a:ext cx="4114800"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onsolas"/>
              </a:rPr>
              <a:t>OUTSTANDING_TXN_IND</a:t>
            </a:r>
          </a:p>
        </p:txBody>
      </p:sp>
      <p:sp>
        <p:nvSpPr>
          <p:cNvPr id="18" name="Oval 17"/>
          <p:cNvSpPr/>
          <p:nvPr/>
        </p:nvSpPr>
        <p:spPr>
          <a:xfrm>
            <a:off x="731520" y="3447287"/>
            <a:ext cx="109728" cy="109728"/>
          </a:xfrm>
          <a:prstGeom prst="ellipse">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3392423"/>
            <a:ext cx="4114800"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onsolas"/>
              </a:rPr>
              <a:t>TENURE_YRS</a:t>
            </a:r>
          </a:p>
        </p:txBody>
      </p:sp>
      <p:sp>
        <p:nvSpPr>
          <p:cNvPr id="20" name="TextBox 19"/>
          <p:cNvSpPr txBox="1"/>
          <p:nvPr/>
        </p:nvSpPr>
        <p:spPr>
          <a:xfrm>
            <a:off x="731520" y="3794759"/>
            <a:ext cx="4892040" cy="1005840"/>
          </a:xfrm>
          <a:prstGeom prst="rect">
            <a:avLst/>
          </a:prstGeom>
          <a:noFill/>
        </p:spPr>
        <p:txBody>
          <a:bodyPr wrap="square" lIns="0" tIns="0" rIns="0" bIns="0" anchor="t">
            <a:spAutoFit/>
          </a:bodyPr>
          <a:lstStyle/>
          <a:p>
            <a:pPr>
              <a:lnSpc>
                <a:spcPct val="105000"/>
              </a:lnSpc>
              <a:spcAft>
                <a:spcPts val="400"/>
              </a:spcAft>
            </a:pPr>
            <a:r>
              <a:rPr sz="1150" b="0">
                <a:solidFill>
                  <a:srgbClr val="44515F"/>
                </a:solidFill>
                <a:latin typeface="Calibri"/>
              </a:rPr>
              <a:t>—  Driven by transaction time and wall-clock time</a:t>
            </a:r>
          </a:p>
          <a:p>
            <a:pPr>
              <a:lnSpc>
                <a:spcPct val="105000"/>
              </a:lnSpc>
              <a:spcAft>
                <a:spcPts val="400"/>
              </a:spcAft>
            </a:pPr>
            <a:r>
              <a:rPr sz="1150" b="0">
                <a:solidFill>
                  <a:srgbClr val="44515F"/>
                </a:solidFill>
                <a:latin typeface="Calibri"/>
              </a:rPr>
              <a:t>—  Routed immediately (routing_type = immediate)</a:t>
            </a:r>
          </a:p>
          <a:p>
            <a:pPr>
              <a:lnSpc>
                <a:spcPct val="105000"/>
              </a:lnSpc>
              <a:spcAft>
                <a:spcPts val="400"/>
              </a:spcAft>
            </a:pPr>
            <a:r>
              <a:rPr sz="1150" b="0">
                <a:solidFill>
                  <a:srgbClr val="44515F"/>
                </a:solidFill>
                <a:latin typeface="Calibri"/>
              </a:rPr>
              <a:t>—  Recomputed daily — values drift even with no new events</a:t>
            </a:r>
          </a:p>
        </p:txBody>
      </p:sp>
      <p:sp>
        <p:nvSpPr>
          <p:cNvPr id="21" name="Rounded Rectangle 20"/>
          <p:cNvSpPr/>
          <p:nvPr/>
        </p:nvSpPr>
        <p:spPr>
          <a:xfrm>
            <a:off x="6035040" y="1417320"/>
            <a:ext cx="5669280" cy="3520440"/>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035040" y="1417320"/>
            <a:ext cx="5669280" cy="502920"/>
          </a:xfrm>
          <a:prstGeom prst="roundRect">
            <a:avLst>
              <a:gd name="adj" fmla="val 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1508760"/>
            <a:ext cx="5212080" cy="365760"/>
          </a:xfrm>
          <a:prstGeom prst="rect">
            <a:avLst/>
          </a:prstGeom>
          <a:noFill/>
        </p:spPr>
        <p:txBody>
          <a:bodyPr wrap="square" lIns="0" tIns="0" rIns="0" bIns="0" anchor="ctr">
            <a:spAutoFit/>
          </a:bodyPr>
          <a:lstStyle/>
          <a:p>
            <a:pPr algn="l">
              <a:lnSpc>
                <a:spcPct val="100000"/>
              </a:lnSpc>
            </a:pPr>
            <a:r>
              <a:rPr sz="1400" b="1" i="0">
                <a:solidFill>
                  <a:srgbClr val="FFFFFF"/>
                </a:solidFill>
                <a:latin typeface="Calibri"/>
              </a:rPr>
              <a:t>GROUP_B — Policy-State &amp; Effective-Date (24)</a:t>
            </a:r>
          </a:p>
        </p:txBody>
      </p:sp>
      <p:sp>
        <p:nvSpPr>
          <p:cNvPr id="24" name="TextBox 23"/>
          <p:cNvSpPr txBox="1"/>
          <p:nvPr/>
        </p:nvSpPr>
        <p:spPr>
          <a:xfrm>
            <a:off x="6263640" y="2039112"/>
            <a:ext cx="2011680" cy="256032"/>
          </a:xfrm>
          <a:prstGeom prst="rect">
            <a:avLst/>
          </a:prstGeom>
          <a:noFill/>
        </p:spPr>
        <p:txBody>
          <a:bodyPr wrap="square" lIns="0" tIns="0" rIns="0" bIns="0" anchor="t">
            <a:spAutoFit/>
          </a:bodyPr>
          <a:lstStyle/>
          <a:p>
            <a:pPr algn="l">
              <a:lnSpc>
                <a:spcPct val="100000"/>
              </a:lnSpc>
            </a:pPr>
            <a:r>
              <a:rPr sz="1150" b="1" i="0">
                <a:solidFill>
                  <a:srgbClr val="0A5C64"/>
                </a:solidFill>
                <a:latin typeface="Calibri"/>
              </a:rPr>
              <a:t>Vehicle (3)</a:t>
            </a:r>
          </a:p>
        </p:txBody>
      </p:sp>
      <p:sp>
        <p:nvSpPr>
          <p:cNvPr id="25" name="TextBox 24"/>
          <p:cNvSpPr txBox="1"/>
          <p:nvPr/>
        </p:nvSpPr>
        <p:spPr>
          <a:xfrm>
            <a:off x="8183879" y="2039112"/>
            <a:ext cx="3291840" cy="36576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VEH_CNT · AVG_VEH_AGE · VEH_ADDED_LATEST_TXN</a:t>
            </a:r>
          </a:p>
        </p:txBody>
      </p:sp>
      <p:sp>
        <p:nvSpPr>
          <p:cNvPr id="26" name="TextBox 25"/>
          <p:cNvSpPr txBox="1"/>
          <p:nvPr/>
        </p:nvSpPr>
        <p:spPr>
          <a:xfrm>
            <a:off x="6263640" y="2459736"/>
            <a:ext cx="2011680" cy="256032"/>
          </a:xfrm>
          <a:prstGeom prst="rect">
            <a:avLst/>
          </a:prstGeom>
          <a:noFill/>
        </p:spPr>
        <p:txBody>
          <a:bodyPr wrap="square" lIns="0" tIns="0" rIns="0" bIns="0" anchor="t">
            <a:spAutoFit/>
          </a:bodyPr>
          <a:lstStyle/>
          <a:p>
            <a:pPr algn="l">
              <a:lnSpc>
                <a:spcPct val="100000"/>
              </a:lnSpc>
            </a:pPr>
            <a:r>
              <a:rPr sz="1150" b="1" i="0">
                <a:solidFill>
                  <a:srgbClr val="0A5C64"/>
                </a:solidFill>
                <a:latin typeface="Calibri"/>
              </a:rPr>
              <a:t>Driver (5)</a:t>
            </a:r>
          </a:p>
        </p:txBody>
      </p:sp>
      <p:sp>
        <p:nvSpPr>
          <p:cNvPr id="27" name="TextBox 26"/>
          <p:cNvSpPr txBox="1"/>
          <p:nvPr/>
        </p:nvSpPr>
        <p:spPr>
          <a:xfrm>
            <a:off x="8183879" y="2459736"/>
            <a:ext cx="3291840" cy="36576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DRVR_CNT · MAX/MIN/AVG_DRVR_AGE · DRVRS_ADDED_LATEST_TXN</a:t>
            </a:r>
          </a:p>
        </p:txBody>
      </p:sp>
      <p:sp>
        <p:nvSpPr>
          <p:cNvPr id="28" name="TextBox 27"/>
          <p:cNvSpPr txBox="1"/>
          <p:nvPr/>
        </p:nvSpPr>
        <p:spPr>
          <a:xfrm>
            <a:off x="6263640" y="2880360"/>
            <a:ext cx="2011680" cy="256032"/>
          </a:xfrm>
          <a:prstGeom prst="rect">
            <a:avLst/>
          </a:prstGeom>
          <a:noFill/>
        </p:spPr>
        <p:txBody>
          <a:bodyPr wrap="square" lIns="0" tIns="0" rIns="0" bIns="0" anchor="t">
            <a:spAutoFit/>
          </a:bodyPr>
          <a:lstStyle/>
          <a:p>
            <a:pPr algn="l">
              <a:lnSpc>
                <a:spcPct val="100000"/>
              </a:lnSpc>
            </a:pPr>
            <a:r>
              <a:rPr sz="1150" b="1" i="0">
                <a:solidFill>
                  <a:srgbClr val="0A5C64"/>
                </a:solidFill>
                <a:latin typeface="Calibri"/>
              </a:rPr>
              <a:t>Premium (1)</a:t>
            </a:r>
          </a:p>
        </p:txBody>
      </p:sp>
      <p:sp>
        <p:nvSpPr>
          <p:cNvPr id="29" name="TextBox 28"/>
          <p:cNvSpPr txBox="1"/>
          <p:nvPr/>
        </p:nvSpPr>
        <p:spPr>
          <a:xfrm>
            <a:off x="8183879" y="2880360"/>
            <a:ext cx="3291840" cy="36576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PREM_CHANGE_AMT</a:t>
            </a:r>
          </a:p>
        </p:txBody>
      </p:sp>
      <p:sp>
        <p:nvSpPr>
          <p:cNvPr id="30" name="TextBox 29"/>
          <p:cNvSpPr txBox="1"/>
          <p:nvPr/>
        </p:nvSpPr>
        <p:spPr>
          <a:xfrm>
            <a:off x="6263640" y="3300984"/>
            <a:ext cx="2011680" cy="256032"/>
          </a:xfrm>
          <a:prstGeom prst="rect">
            <a:avLst/>
          </a:prstGeom>
          <a:noFill/>
        </p:spPr>
        <p:txBody>
          <a:bodyPr wrap="square" lIns="0" tIns="0" rIns="0" bIns="0" anchor="t">
            <a:spAutoFit/>
          </a:bodyPr>
          <a:lstStyle/>
          <a:p>
            <a:pPr algn="l">
              <a:lnSpc>
                <a:spcPct val="100000"/>
              </a:lnSpc>
            </a:pPr>
            <a:r>
              <a:rPr sz="1150" b="1" i="0">
                <a:solidFill>
                  <a:srgbClr val="0A5C64"/>
                </a:solidFill>
                <a:latin typeface="Calibri"/>
              </a:rPr>
              <a:t>Coverage (13)</a:t>
            </a:r>
          </a:p>
        </p:txBody>
      </p:sp>
      <p:sp>
        <p:nvSpPr>
          <p:cNvPr id="31" name="TextBox 30"/>
          <p:cNvSpPr txBox="1"/>
          <p:nvPr/>
        </p:nvSpPr>
        <p:spPr>
          <a:xfrm>
            <a:off x="8183879" y="3300984"/>
            <a:ext cx="3291840" cy="36576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BI/PD/MD/COLL/COMP/PIP ADDED &amp; REMOVED · COMP_DED_CHANGE_IND</a:t>
            </a:r>
          </a:p>
        </p:txBody>
      </p:sp>
      <p:sp>
        <p:nvSpPr>
          <p:cNvPr id="32" name="TextBox 31"/>
          <p:cNvSpPr txBox="1"/>
          <p:nvPr/>
        </p:nvSpPr>
        <p:spPr>
          <a:xfrm>
            <a:off x="6263640" y="3721608"/>
            <a:ext cx="2011680" cy="256032"/>
          </a:xfrm>
          <a:prstGeom prst="rect">
            <a:avLst/>
          </a:prstGeom>
          <a:noFill/>
        </p:spPr>
        <p:txBody>
          <a:bodyPr wrap="square" lIns="0" tIns="0" rIns="0" bIns="0" anchor="t">
            <a:spAutoFit/>
          </a:bodyPr>
          <a:lstStyle/>
          <a:p>
            <a:pPr algn="l">
              <a:lnSpc>
                <a:spcPct val="100000"/>
              </a:lnSpc>
            </a:pPr>
            <a:r>
              <a:rPr sz="1150" b="1" i="0">
                <a:solidFill>
                  <a:srgbClr val="0A5C64"/>
                </a:solidFill>
                <a:latin typeface="Calibri"/>
              </a:rPr>
              <a:t>Demographic change (2)</a:t>
            </a:r>
          </a:p>
        </p:txBody>
      </p:sp>
      <p:sp>
        <p:nvSpPr>
          <p:cNvPr id="33" name="TextBox 32"/>
          <p:cNvSpPr txBox="1"/>
          <p:nvPr/>
        </p:nvSpPr>
        <p:spPr>
          <a:xfrm>
            <a:off x="8183879" y="3721608"/>
            <a:ext cx="3291840" cy="36576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GNDR_CHANGE_IND · MRTL_CHANGE_IND</a:t>
            </a:r>
          </a:p>
        </p:txBody>
      </p:sp>
      <p:sp>
        <p:nvSpPr>
          <p:cNvPr id="34" name="TextBox 33"/>
          <p:cNvSpPr txBox="1"/>
          <p:nvPr/>
        </p:nvSpPr>
        <p:spPr>
          <a:xfrm>
            <a:off x="6263640" y="4197096"/>
            <a:ext cx="5212080" cy="685800"/>
          </a:xfrm>
          <a:prstGeom prst="rect">
            <a:avLst/>
          </a:prstGeom>
          <a:noFill/>
        </p:spPr>
        <p:txBody>
          <a:bodyPr wrap="square" lIns="0" tIns="0" rIns="0" bIns="0" anchor="t">
            <a:spAutoFit/>
          </a:bodyPr>
          <a:lstStyle/>
          <a:p>
            <a:pPr>
              <a:lnSpc>
                <a:spcPct val="105000"/>
              </a:lnSpc>
              <a:spcAft>
                <a:spcPts val="400"/>
              </a:spcAft>
            </a:pPr>
            <a:r>
              <a:rPr sz="1150" b="0">
                <a:solidFill>
                  <a:srgbClr val="44515F"/>
                </a:solidFill>
                <a:latin typeface="Calibri"/>
              </a:rPr>
              <a:t>—  Derived from transaction snapshots vs. the previous transaction</a:t>
            </a:r>
          </a:p>
          <a:p>
            <a:pPr>
              <a:lnSpc>
                <a:spcPct val="105000"/>
              </a:lnSpc>
              <a:spcAft>
                <a:spcPts val="400"/>
              </a:spcAft>
            </a:pPr>
            <a:r>
              <a:rPr sz="1150" b="0">
                <a:solidFill>
                  <a:srgbClr val="44515F"/>
                </a:solidFill>
                <a:latin typeface="Calibri"/>
              </a:rPr>
              <a:t>—  Future-effective values remain pending until EFF_DT arrives</a:t>
            </a:r>
          </a:p>
        </p:txBody>
      </p:sp>
      <p:sp>
        <p:nvSpPr>
          <p:cNvPr id="35" name="Rounded Rectangle 34"/>
          <p:cNvSpPr/>
          <p:nvPr/>
        </p:nvSpPr>
        <p:spPr>
          <a:xfrm>
            <a:off x="502920" y="5138928"/>
            <a:ext cx="11201400" cy="621792"/>
          </a:xfrm>
          <a:prstGeom prst="roundRect">
            <a:avLst>
              <a:gd name="adj" fmla="val 12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5138928"/>
            <a:ext cx="2112264" cy="621792"/>
          </a:xfrm>
          <a:prstGeom prst="rect">
            <a:avLst/>
          </a:prstGeom>
          <a:noFill/>
        </p:spPr>
        <p:txBody>
          <a:bodyPr wrap="square" lIns="0" tIns="0" rIns="0" bIns="0" anchor="ctr">
            <a:spAutoFit/>
          </a:bodyPr>
          <a:lstStyle/>
          <a:p>
            <a:pPr algn="ctr">
              <a:lnSpc>
                <a:spcPct val="100000"/>
              </a:lnSpc>
            </a:pPr>
            <a:r>
              <a:rPr sz="1300" b="1" i="0">
                <a:solidFill>
                  <a:srgbClr val="FFFFFF"/>
                </a:solidFill>
                <a:latin typeface="Calibri"/>
              </a:rPr>
              <a:t>Explode</a:t>
            </a:r>
          </a:p>
        </p:txBody>
      </p:sp>
      <p:sp>
        <p:nvSpPr>
          <p:cNvPr id="37" name="TextBox 36"/>
          <p:cNvSpPr txBox="1"/>
          <p:nvPr/>
        </p:nvSpPr>
        <p:spPr>
          <a:xfrm>
            <a:off x="2889504" y="5138928"/>
            <a:ext cx="2112264" cy="621792"/>
          </a:xfrm>
          <a:prstGeom prst="rect">
            <a:avLst/>
          </a:prstGeom>
          <a:noFill/>
        </p:spPr>
        <p:txBody>
          <a:bodyPr wrap="square" lIns="0" tIns="0" rIns="0" bIns="0" anchor="ctr">
            <a:spAutoFit/>
          </a:bodyPr>
          <a:lstStyle/>
          <a:p>
            <a:pPr algn="ctr">
              <a:lnSpc>
                <a:spcPct val="100000"/>
              </a:lnSpc>
            </a:pPr>
            <a:r>
              <a:rPr sz="1300" b="1" i="0">
                <a:solidFill>
                  <a:srgbClr val="FFFFFF"/>
                </a:solidFill>
                <a:latin typeface="Calibri"/>
              </a:rPr>
              <a:t>Aggregate</a:t>
            </a:r>
          </a:p>
        </p:txBody>
      </p:sp>
      <p:sp>
        <p:nvSpPr>
          <p:cNvPr id="38" name="TextBox 37"/>
          <p:cNvSpPr txBox="1"/>
          <p:nvPr/>
        </p:nvSpPr>
        <p:spPr>
          <a:xfrm>
            <a:off x="5001768" y="5138928"/>
            <a:ext cx="2112264" cy="621792"/>
          </a:xfrm>
          <a:prstGeom prst="rect">
            <a:avLst/>
          </a:prstGeom>
          <a:noFill/>
        </p:spPr>
        <p:txBody>
          <a:bodyPr wrap="square" lIns="0" tIns="0" rIns="0" bIns="0" anchor="ctr">
            <a:spAutoFit/>
          </a:bodyPr>
          <a:lstStyle/>
          <a:p>
            <a:pPr algn="ctr">
              <a:lnSpc>
                <a:spcPct val="100000"/>
              </a:lnSpc>
            </a:pPr>
            <a:r>
              <a:rPr sz="1300" b="1" i="0">
                <a:solidFill>
                  <a:srgbClr val="FFFFFF"/>
                </a:solidFill>
                <a:latin typeface="Calibri"/>
              </a:rPr>
              <a:t>Window Lag</a:t>
            </a:r>
          </a:p>
        </p:txBody>
      </p:sp>
      <p:sp>
        <p:nvSpPr>
          <p:cNvPr id="39" name="TextBox 38"/>
          <p:cNvSpPr txBox="1"/>
          <p:nvPr/>
        </p:nvSpPr>
        <p:spPr>
          <a:xfrm>
            <a:off x="7114032" y="5138928"/>
            <a:ext cx="2112264" cy="621792"/>
          </a:xfrm>
          <a:prstGeom prst="rect">
            <a:avLst/>
          </a:prstGeom>
          <a:noFill/>
        </p:spPr>
        <p:txBody>
          <a:bodyPr wrap="square" lIns="0" tIns="0" rIns="0" bIns="0" anchor="ctr">
            <a:spAutoFit/>
          </a:bodyPr>
          <a:lstStyle/>
          <a:p>
            <a:pPr algn="ctr">
              <a:lnSpc>
                <a:spcPct val="100000"/>
              </a:lnSpc>
            </a:pPr>
            <a:r>
              <a:rPr sz="1300" b="1" i="0">
                <a:solidFill>
                  <a:srgbClr val="FFFFFF"/>
                </a:solidFill>
                <a:latin typeface="Calibri"/>
              </a:rPr>
              <a:t>Set Comparison</a:t>
            </a:r>
          </a:p>
        </p:txBody>
      </p:sp>
      <p:sp>
        <p:nvSpPr>
          <p:cNvPr id="40" name="TextBox 39"/>
          <p:cNvSpPr txBox="1"/>
          <p:nvPr/>
        </p:nvSpPr>
        <p:spPr>
          <a:xfrm>
            <a:off x="9226296" y="5138928"/>
            <a:ext cx="2112264" cy="621792"/>
          </a:xfrm>
          <a:prstGeom prst="rect">
            <a:avLst/>
          </a:prstGeom>
          <a:noFill/>
        </p:spPr>
        <p:txBody>
          <a:bodyPr wrap="square" lIns="0" tIns="0" rIns="0" bIns="0" anchor="ctr">
            <a:spAutoFit/>
          </a:bodyPr>
          <a:lstStyle/>
          <a:p>
            <a:pPr algn="ctr">
              <a:lnSpc>
                <a:spcPct val="100000"/>
              </a:lnSpc>
            </a:pPr>
            <a:r>
              <a:rPr sz="1300" b="1" i="0">
                <a:solidFill>
                  <a:srgbClr val="FFFFFF"/>
                </a:solidFill>
                <a:latin typeface="Calibri"/>
              </a:rPr>
              <a:t>Map Comparison</a:t>
            </a:r>
          </a:p>
        </p:txBody>
      </p:sp>
      <p:sp>
        <p:nvSpPr>
          <p:cNvPr id="41" name="TextBox 40"/>
          <p:cNvSpPr txBox="1"/>
          <p:nvPr/>
        </p:nvSpPr>
        <p:spPr>
          <a:xfrm>
            <a:off x="502920" y="5989320"/>
            <a:ext cx="11201400" cy="457200"/>
          </a:xfrm>
          <a:prstGeom prst="rect">
            <a:avLst/>
          </a:prstGeom>
          <a:noFill/>
        </p:spPr>
        <p:txBody>
          <a:bodyPr wrap="square" lIns="0" tIns="0" rIns="0" bIns="0" anchor="t">
            <a:spAutoFit/>
          </a:bodyPr>
          <a:lstStyle/>
          <a:p>
            <a:pPr algn="ctr">
              <a:lnSpc>
                <a:spcPct val="100000"/>
              </a:lnSpc>
            </a:pPr>
            <a:r>
              <a:rPr sz="1200" b="0" i="1">
                <a:solidFill>
                  <a:srgbClr val="7C8A99"/>
                </a:solidFill>
                <a:latin typeface="Calibri"/>
              </a:rPr>
              <a:t>29 features computed once from PySpark DataFrame operations — no per-model recalculation.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TIME-AWARE DESIGN</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Correct Feature State Across Past, Present, and Future</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6</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sp>
        <p:nvSpPr>
          <p:cNvPr id="7" name="Rounded Rectangle 6"/>
          <p:cNvSpPr/>
          <p:nvPr/>
        </p:nvSpPr>
        <p:spPr>
          <a:xfrm>
            <a:off x="502920" y="1417320"/>
            <a:ext cx="3611880" cy="2880360"/>
          </a:xfrm>
          <a:prstGeom prst="roundRect">
            <a:avLst>
              <a:gd name="adj" fmla="val 6000"/>
            </a:avLst>
          </a:prstGeom>
          <a:solidFill>
            <a:srgbClr val="EEF1F4"/>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417320"/>
            <a:ext cx="3611880" cy="502920"/>
          </a:xfrm>
          <a:prstGeom prst="roundRect">
            <a:avLst>
              <a:gd name="adj" fmla="val 0"/>
            </a:avLst>
          </a:prstGeom>
          <a:solidFill>
            <a:srgbClr val="7C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08760"/>
            <a:ext cx="3246120" cy="365760"/>
          </a:xfrm>
          <a:prstGeom prst="rect">
            <a:avLst/>
          </a:prstGeom>
          <a:noFill/>
        </p:spPr>
        <p:txBody>
          <a:bodyPr wrap="square" lIns="0" tIns="0" rIns="0" bIns="0" anchor="ctr">
            <a:spAutoFit/>
          </a:bodyPr>
          <a:lstStyle/>
          <a:p>
            <a:pPr algn="l">
              <a:lnSpc>
                <a:spcPct val="100000"/>
              </a:lnSpc>
            </a:pPr>
            <a:r>
              <a:rPr sz="1450" b="1" i="0">
                <a:solidFill>
                  <a:srgbClr val="FFFFFF"/>
                </a:solidFill>
                <a:latin typeface="Calibri"/>
              </a:rPr>
              <a:t>PAST — HISTORY</a:t>
            </a:r>
          </a:p>
        </p:txBody>
      </p:sp>
      <p:sp>
        <p:nvSpPr>
          <p:cNvPr id="10" name="TextBox 9"/>
          <p:cNvSpPr txBox="1"/>
          <p:nvPr/>
        </p:nvSpPr>
        <p:spPr>
          <a:xfrm>
            <a:off x="758952" y="2130552"/>
            <a:ext cx="3108960" cy="1965960"/>
          </a:xfrm>
          <a:prstGeom prst="rect">
            <a:avLst/>
          </a:prstGeom>
          <a:noFill/>
        </p:spPr>
        <p:txBody>
          <a:bodyPr wrap="square" lIns="0" tIns="0" rIns="0" bIns="0" anchor="t">
            <a:spAutoFit/>
          </a:bodyPr>
          <a:lstStyle/>
          <a:p>
            <a:pPr>
              <a:lnSpc>
                <a:spcPct val="105000"/>
              </a:lnSpc>
              <a:spcAft>
                <a:spcPts val="1000"/>
              </a:spcAft>
            </a:pPr>
            <a:r>
              <a:rPr sz="1200" b="0">
                <a:solidFill>
                  <a:srgbClr val="0B2545"/>
                </a:solidFill>
                <a:latin typeface="Calibri"/>
              </a:rPr>
              <a:t>•  SCD Type 2 snapshots</a:t>
            </a:r>
          </a:p>
          <a:p>
            <a:pPr>
              <a:lnSpc>
                <a:spcPct val="105000"/>
              </a:lnSpc>
              <a:spcAft>
                <a:spcPts val="1000"/>
              </a:spcAft>
            </a:pPr>
            <a:r>
              <a:rPr sz="1200" b="0">
                <a:solidFill>
                  <a:srgbClr val="0B2545"/>
                </a:solidFill>
                <a:latin typeface="Calibri"/>
              </a:rPr>
              <a:t>•  VALID_TRANSACTION_FROM / TO timestamps</a:t>
            </a:r>
          </a:p>
          <a:p>
            <a:pPr>
              <a:lnSpc>
                <a:spcPct val="105000"/>
              </a:lnSpc>
              <a:spcAft>
                <a:spcPts val="1000"/>
              </a:spcAft>
            </a:pPr>
            <a:r>
              <a:rPr sz="1200" b="0">
                <a:solidFill>
                  <a:srgbClr val="0B2545"/>
                </a:solidFill>
                <a:latin typeface="Calibri"/>
              </a:rPr>
              <a:t>•  Previous feature values preserved</a:t>
            </a:r>
          </a:p>
          <a:p>
            <a:pPr>
              <a:lnSpc>
                <a:spcPct val="105000"/>
              </a:lnSpc>
              <a:spcAft>
                <a:spcPts val="1000"/>
              </a:spcAft>
            </a:pPr>
            <a:r>
              <a:rPr sz="1200" b="0">
                <a:solidFill>
                  <a:srgbClr val="0B2545"/>
                </a:solidFill>
                <a:latin typeface="Calibri"/>
              </a:rPr>
              <a:t>•  Supports point-in-time investigation &amp; audit</a:t>
            </a:r>
          </a:p>
        </p:txBody>
      </p:sp>
      <p:sp>
        <p:nvSpPr>
          <p:cNvPr id="11" name="Rounded Rectangle 10"/>
          <p:cNvSpPr/>
          <p:nvPr/>
        </p:nvSpPr>
        <p:spPr>
          <a:xfrm>
            <a:off x="4297680" y="1417320"/>
            <a:ext cx="3611880" cy="2880360"/>
          </a:xfrm>
          <a:prstGeom prst="roundRect">
            <a:avLst>
              <a:gd name="adj" fmla="val 6000"/>
            </a:avLst>
          </a:prstGeom>
          <a:solidFill>
            <a:srgbClr val="E1F1F2"/>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97680" y="1417320"/>
            <a:ext cx="3611880" cy="502920"/>
          </a:xfrm>
          <a:prstGeom prst="roundRect">
            <a:avLst>
              <a:gd name="adj" fmla="val 0"/>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508760"/>
            <a:ext cx="3246120" cy="365760"/>
          </a:xfrm>
          <a:prstGeom prst="rect">
            <a:avLst/>
          </a:prstGeom>
          <a:noFill/>
        </p:spPr>
        <p:txBody>
          <a:bodyPr wrap="square" lIns="0" tIns="0" rIns="0" bIns="0" anchor="ctr">
            <a:spAutoFit/>
          </a:bodyPr>
          <a:lstStyle/>
          <a:p>
            <a:pPr algn="l">
              <a:lnSpc>
                <a:spcPct val="100000"/>
              </a:lnSpc>
            </a:pPr>
            <a:r>
              <a:rPr sz="1450" b="1" i="0">
                <a:solidFill>
                  <a:srgbClr val="FFFFFF"/>
                </a:solidFill>
                <a:latin typeface="Calibri"/>
              </a:rPr>
              <a:t>PRESENT — ACTIVE</a:t>
            </a:r>
          </a:p>
        </p:txBody>
      </p:sp>
      <p:sp>
        <p:nvSpPr>
          <p:cNvPr id="14" name="TextBox 13"/>
          <p:cNvSpPr txBox="1"/>
          <p:nvPr/>
        </p:nvSpPr>
        <p:spPr>
          <a:xfrm>
            <a:off x="4553712" y="2130552"/>
            <a:ext cx="3108960" cy="1965960"/>
          </a:xfrm>
          <a:prstGeom prst="rect">
            <a:avLst/>
          </a:prstGeom>
          <a:noFill/>
        </p:spPr>
        <p:txBody>
          <a:bodyPr wrap="square" lIns="0" tIns="0" rIns="0" bIns="0" anchor="t">
            <a:spAutoFit/>
          </a:bodyPr>
          <a:lstStyle/>
          <a:p>
            <a:pPr>
              <a:lnSpc>
                <a:spcPct val="105000"/>
              </a:lnSpc>
              <a:spcAft>
                <a:spcPts val="1000"/>
              </a:spcAft>
            </a:pPr>
            <a:r>
              <a:rPr sz="1200" b="0">
                <a:solidFill>
                  <a:srgbClr val="0B2545"/>
                </a:solidFill>
                <a:latin typeface="Calibri"/>
              </a:rPr>
              <a:t>•  One row per policy</a:t>
            </a:r>
          </a:p>
          <a:p>
            <a:pPr>
              <a:lnSpc>
                <a:spcPct val="105000"/>
              </a:lnSpc>
              <a:spcAft>
                <a:spcPts val="1000"/>
              </a:spcAft>
            </a:pPr>
            <a:r>
              <a:rPr sz="1200" b="0">
                <a:solidFill>
                  <a:srgbClr val="0B2545"/>
                </a:solidFill>
                <a:latin typeface="Calibri"/>
              </a:rPr>
              <a:t>•  Latest currently valid values</a:t>
            </a:r>
          </a:p>
          <a:p>
            <a:pPr>
              <a:lnSpc>
                <a:spcPct val="105000"/>
              </a:lnSpc>
              <a:spcAft>
                <a:spcPts val="1000"/>
              </a:spcAft>
            </a:pPr>
            <a:r>
              <a:rPr sz="1200" b="0">
                <a:solidFill>
                  <a:srgbClr val="0B2545"/>
                </a:solidFill>
                <a:latin typeface="Calibri"/>
              </a:rPr>
              <a:t>•  Published to the online store</a:t>
            </a:r>
          </a:p>
          <a:p>
            <a:pPr>
              <a:lnSpc>
                <a:spcPct val="105000"/>
              </a:lnSpc>
              <a:spcAft>
                <a:spcPts val="1000"/>
              </a:spcAft>
            </a:pPr>
            <a:r>
              <a:rPr sz="1200" b="0">
                <a:solidFill>
                  <a:srgbClr val="0B2545"/>
                </a:solidFill>
                <a:latin typeface="Calibri"/>
              </a:rPr>
              <a:t>•  Used by models during real-time inference</a:t>
            </a:r>
          </a:p>
        </p:txBody>
      </p:sp>
      <p:sp>
        <p:nvSpPr>
          <p:cNvPr id="15" name="Rounded Rectangle 14"/>
          <p:cNvSpPr/>
          <p:nvPr/>
        </p:nvSpPr>
        <p:spPr>
          <a:xfrm>
            <a:off x="8092440" y="1417320"/>
            <a:ext cx="3611880" cy="2880360"/>
          </a:xfrm>
          <a:prstGeom prst="roundRect">
            <a:avLst>
              <a:gd name="adj" fmla="val 6000"/>
            </a:avLst>
          </a:prstGeom>
          <a:solidFill>
            <a:srgbClr val="FBEEDA"/>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92440" y="1417320"/>
            <a:ext cx="3611880" cy="502920"/>
          </a:xfrm>
          <a:prstGeom prst="roundRect">
            <a:avLst>
              <a:gd name="adj" fmla="val 0"/>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1508760"/>
            <a:ext cx="3246120" cy="365760"/>
          </a:xfrm>
          <a:prstGeom prst="rect">
            <a:avLst/>
          </a:prstGeom>
          <a:noFill/>
        </p:spPr>
        <p:txBody>
          <a:bodyPr wrap="square" lIns="0" tIns="0" rIns="0" bIns="0" anchor="ctr">
            <a:spAutoFit/>
          </a:bodyPr>
          <a:lstStyle/>
          <a:p>
            <a:pPr algn="l">
              <a:lnSpc>
                <a:spcPct val="100000"/>
              </a:lnSpc>
            </a:pPr>
            <a:r>
              <a:rPr sz="1450" b="1" i="0">
                <a:solidFill>
                  <a:srgbClr val="FFFFFF"/>
                </a:solidFill>
                <a:latin typeface="Calibri"/>
              </a:rPr>
              <a:t>FUTURE — PENDING</a:t>
            </a:r>
          </a:p>
        </p:txBody>
      </p:sp>
      <p:sp>
        <p:nvSpPr>
          <p:cNvPr id="18" name="TextBox 17"/>
          <p:cNvSpPr txBox="1"/>
          <p:nvPr/>
        </p:nvSpPr>
        <p:spPr>
          <a:xfrm>
            <a:off x="8348472" y="2130552"/>
            <a:ext cx="3108960" cy="1965960"/>
          </a:xfrm>
          <a:prstGeom prst="rect">
            <a:avLst/>
          </a:prstGeom>
          <a:noFill/>
        </p:spPr>
        <p:txBody>
          <a:bodyPr wrap="square" lIns="0" tIns="0" rIns="0" bIns="0" anchor="t">
            <a:spAutoFit/>
          </a:bodyPr>
          <a:lstStyle/>
          <a:p>
            <a:pPr>
              <a:lnSpc>
                <a:spcPct val="105000"/>
              </a:lnSpc>
              <a:spcAft>
                <a:spcPts val="1000"/>
              </a:spcAft>
            </a:pPr>
            <a:r>
              <a:rPr sz="1200" b="0">
                <a:solidFill>
                  <a:srgbClr val="0B2545"/>
                </a:solidFill>
                <a:latin typeface="Calibri"/>
              </a:rPr>
              <a:t>•  Future-effective GROUP_B changes</a:t>
            </a:r>
          </a:p>
          <a:p>
            <a:pPr>
              <a:lnSpc>
                <a:spcPct val="105000"/>
              </a:lnSpc>
              <a:spcAft>
                <a:spcPts val="1000"/>
              </a:spcAft>
            </a:pPr>
            <a:r>
              <a:rPr sz="1200" b="0">
                <a:solidFill>
                  <a:srgbClr val="0B2545"/>
                </a:solidFill>
                <a:latin typeface="Calibri"/>
              </a:rPr>
              <a:t>•  Stored separately from ACTIVE</a:t>
            </a:r>
          </a:p>
          <a:p>
            <a:pPr>
              <a:lnSpc>
                <a:spcPct val="105000"/>
              </a:lnSpc>
              <a:spcAft>
                <a:spcPts val="1000"/>
              </a:spcAft>
            </a:pPr>
            <a:r>
              <a:rPr sz="1200" b="0">
                <a:solidFill>
                  <a:srgbClr val="0B2545"/>
                </a:solidFill>
                <a:latin typeface="Calibri"/>
              </a:rPr>
              <a:t>•  Not exposed to models prematurely</a:t>
            </a:r>
          </a:p>
          <a:p>
            <a:pPr>
              <a:lnSpc>
                <a:spcPct val="105000"/>
              </a:lnSpc>
              <a:spcAft>
                <a:spcPts val="1000"/>
              </a:spcAft>
            </a:pPr>
            <a:r>
              <a:rPr sz="1200" b="0">
                <a:solidFill>
                  <a:srgbClr val="0B2545"/>
                </a:solidFill>
                <a:latin typeface="Calibri"/>
              </a:rPr>
              <a:t>•  Promoted automatically when EFF_DT arrives</a:t>
            </a:r>
          </a:p>
        </p:txBody>
      </p:sp>
      <p:cxnSp>
        <p:nvCxnSpPr>
          <p:cNvPr id="19" name="Connector 18"/>
          <p:cNvCxnSpPr/>
          <p:nvPr/>
        </p:nvCxnSpPr>
        <p:spPr>
          <a:xfrm>
            <a:off x="4114800" y="2857500"/>
            <a:ext cx="182880" cy="0"/>
          </a:xfrm>
          <a:prstGeom prst="line">
            <a:avLst/>
          </a:prstGeom>
          <a:ln w="2540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09560" y="2857500"/>
            <a:ext cx="182880" cy="0"/>
          </a:xfrm>
          <a:prstGeom prst="line">
            <a:avLst/>
          </a:prstGeom>
          <a:ln w="25400">
            <a:solidFill>
              <a:srgbClr val="C97A1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2920" y="4526280"/>
            <a:ext cx="5486400" cy="274320"/>
          </a:xfrm>
          <a:prstGeom prst="rect">
            <a:avLst/>
          </a:prstGeom>
          <a:noFill/>
        </p:spPr>
        <p:txBody>
          <a:bodyPr wrap="square" lIns="0" tIns="0" rIns="0" bIns="0" anchor="t">
            <a:spAutoFit/>
          </a:bodyPr>
          <a:lstStyle/>
          <a:p>
            <a:pPr algn="l">
              <a:lnSpc>
                <a:spcPct val="100000"/>
              </a:lnSpc>
            </a:pPr>
            <a:r>
              <a:rPr sz="1200" b="1" i="0">
                <a:solidFill>
                  <a:srgbClr val="0E7C86"/>
                </a:solidFill>
                <a:latin typeface="Calibri"/>
              </a:rPr>
              <a:t>EXAMPLE — POLICY-1001</a:t>
            </a:r>
          </a:p>
        </p:txBody>
      </p:sp>
      <p:sp>
        <p:nvSpPr>
          <p:cNvPr id="22" name="Rounded Rectangle 21"/>
          <p:cNvSpPr/>
          <p:nvPr/>
        </p:nvSpPr>
        <p:spPr>
          <a:xfrm>
            <a:off x="502920" y="4818888"/>
            <a:ext cx="1783080" cy="566928"/>
          </a:xfrm>
          <a:prstGeom prst="roundRect">
            <a:avLst>
              <a:gd name="adj" fmla="val 12000"/>
            </a:avLst>
          </a:prstGeom>
          <a:solidFill>
            <a:srgbClr val="0A5C64"/>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00" b="1">
                <a:solidFill>
                  <a:srgbClr val="FFFFFF"/>
                </a:solidFill>
                <a:latin typeface="Calibri"/>
              </a:rPr>
              <a:t>Transaction
received today</a:t>
            </a:r>
          </a:p>
        </p:txBody>
      </p:sp>
      <p:sp>
        <p:nvSpPr>
          <p:cNvPr id="23" name="Rounded Rectangle 22"/>
          <p:cNvSpPr/>
          <p:nvPr/>
        </p:nvSpPr>
        <p:spPr>
          <a:xfrm>
            <a:off x="2414015" y="4818888"/>
            <a:ext cx="1783080" cy="566928"/>
          </a:xfrm>
          <a:prstGeom prst="roundRect">
            <a:avLst>
              <a:gd name="adj" fmla="val 12000"/>
            </a:avLst>
          </a:prstGeom>
          <a:solidFill>
            <a:srgbClr val="0A5C64"/>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00" b="1">
                <a:solidFill>
                  <a:srgbClr val="FFFFFF"/>
                </a:solidFill>
                <a:latin typeface="Calibri"/>
              </a:rPr>
              <a:t>GROUP_A active
immediately</a:t>
            </a:r>
          </a:p>
        </p:txBody>
      </p:sp>
      <p:sp>
        <p:nvSpPr>
          <p:cNvPr id="24" name="Rounded Rectangle 23"/>
          <p:cNvSpPr/>
          <p:nvPr/>
        </p:nvSpPr>
        <p:spPr>
          <a:xfrm>
            <a:off x="4325112" y="4818888"/>
            <a:ext cx="1783080" cy="566928"/>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00" b="1">
                <a:solidFill>
                  <a:srgbClr val="FFFFFF"/>
                </a:solidFill>
                <a:latin typeface="Calibri"/>
              </a:rPr>
              <a:t>GROUP_B has a
future EFF_DT</a:t>
            </a:r>
          </a:p>
        </p:txBody>
      </p:sp>
      <p:sp>
        <p:nvSpPr>
          <p:cNvPr id="25" name="Rounded Rectangle 24"/>
          <p:cNvSpPr/>
          <p:nvPr/>
        </p:nvSpPr>
        <p:spPr>
          <a:xfrm>
            <a:off x="6236207" y="4818888"/>
            <a:ext cx="1783080" cy="566928"/>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00" b="1">
                <a:solidFill>
                  <a:srgbClr val="FFFFFF"/>
                </a:solidFill>
                <a:latin typeface="Calibri"/>
              </a:rPr>
              <a:t>GROUP_B waits
in PENDING</a:t>
            </a:r>
          </a:p>
        </p:txBody>
      </p:sp>
      <p:sp>
        <p:nvSpPr>
          <p:cNvPr id="26" name="Rounded Rectangle 25"/>
          <p:cNvSpPr/>
          <p:nvPr/>
        </p:nvSpPr>
        <p:spPr>
          <a:xfrm>
            <a:off x="8147304" y="4818888"/>
            <a:ext cx="1783080" cy="566928"/>
          </a:xfrm>
          <a:prstGeom prst="roundRect">
            <a:avLst>
              <a:gd name="adj" fmla="val 12000"/>
            </a:avLst>
          </a:prstGeom>
          <a:solidFill>
            <a:srgbClr val="C97A1E"/>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00" b="1">
                <a:solidFill>
                  <a:srgbClr val="FFFFFF"/>
                </a:solidFill>
                <a:latin typeface="Calibri"/>
              </a:rPr>
              <a:t>Hourly job
promotes when due</a:t>
            </a:r>
          </a:p>
        </p:txBody>
      </p:sp>
      <p:sp>
        <p:nvSpPr>
          <p:cNvPr id="27" name="Rounded Rectangle 26"/>
          <p:cNvSpPr/>
          <p:nvPr/>
        </p:nvSpPr>
        <p:spPr>
          <a:xfrm>
            <a:off x="10058400" y="4818888"/>
            <a:ext cx="1783080" cy="566928"/>
          </a:xfrm>
          <a:prstGeom prst="roundRect">
            <a:avLst>
              <a:gd name="adj" fmla="val 12000"/>
            </a:avLst>
          </a:prstGeom>
          <a:solidFill>
            <a:srgbClr val="7C8A99"/>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900" b="1">
                <a:solidFill>
                  <a:srgbClr val="FFFFFF"/>
                </a:solidFill>
                <a:latin typeface="Calibri"/>
              </a:rPr>
              <a:t>Previous ACTIVE
closed in HISTORY</a:t>
            </a:r>
          </a:p>
        </p:txBody>
      </p:sp>
      <p:cxnSp>
        <p:nvCxnSpPr>
          <p:cNvPr id="28" name="Connector 27"/>
          <p:cNvCxnSpPr/>
          <p:nvPr/>
        </p:nvCxnSpPr>
        <p:spPr>
          <a:xfrm>
            <a:off x="2286000" y="5102352"/>
            <a:ext cx="128015" cy="0"/>
          </a:xfrm>
          <a:prstGeom prst="line">
            <a:avLst/>
          </a:prstGeom>
          <a:ln w="1905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197096" y="5102352"/>
            <a:ext cx="128016" cy="0"/>
          </a:xfrm>
          <a:prstGeom prst="line">
            <a:avLst/>
          </a:prstGeom>
          <a:ln w="1905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08192" y="5102352"/>
            <a:ext cx="128015" cy="0"/>
          </a:xfrm>
          <a:prstGeom prst="line">
            <a:avLst/>
          </a:prstGeom>
          <a:ln w="1905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019288" y="5102352"/>
            <a:ext cx="128016" cy="0"/>
          </a:xfrm>
          <a:prstGeom prst="line">
            <a:avLst/>
          </a:prstGeom>
          <a:ln w="1905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930384" y="5102352"/>
            <a:ext cx="128016" cy="0"/>
          </a:xfrm>
          <a:prstGeom prst="line">
            <a:avLst/>
          </a:prstGeom>
          <a:ln w="19050">
            <a:solidFill>
              <a:srgbClr val="7C8A99"/>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REGISTRY &amp; LIFECYCLE</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Metadata-Driven Routing Instead of Hardcoded Pipelines</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7</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graphicFrame>
        <p:nvGraphicFramePr>
          <p:cNvPr id="7" name="Table 6"/>
          <p:cNvGraphicFramePr>
            <a:graphicFrameLocks noGrp="1"/>
          </p:cNvGraphicFramePr>
          <p:nvPr/>
        </p:nvGraphicFramePr>
        <p:xfrm>
          <a:off x="502920" y="1463040"/>
          <a:ext cx="6675120" cy="16916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63880">
                <a:tc>
                  <a:txBody>
                    <a:bodyPr/>
                    <a:lstStyle/>
                    <a:p>
                      <a:pPr algn="l"/>
                      <a:r>
                        <a:rPr sz="1200" b="1">
                          <a:solidFill>
                            <a:srgbClr val="FFFFFF"/>
                          </a:solidFill>
                          <a:latin typeface="Calibri"/>
                        </a:rPr>
                        <a:t>Feature Group</a:t>
                      </a:r>
                    </a:p>
                  </a:txBody>
                  <a:tcPr anchor="ctr">
                    <a:solidFill>
                      <a:srgbClr val="0B2545"/>
                    </a:solidFill>
                  </a:tcPr>
                </a:tc>
                <a:tc>
                  <a:txBody>
                    <a:bodyPr/>
                    <a:lstStyle/>
                    <a:p>
                      <a:pPr algn="l"/>
                      <a:r>
                        <a:rPr sz="1200" b="1">
                          <a:solidFill>
                            <a:srgbClr val="FFFFFF"/>
                          </a:solidFill>
                          <a:latin typeface="Calibri"/>
                        </a:rPr>
                        <a:t>Owned Columns</a:t>
                      </a:r>
                    </a:p>
                  </a:txBody>
                  <a:tcPr anchor="ctr">
                    <a:solidFill>
                      <a:srgbClr val="0B2545"/>
                    </a:solidFill>
                  </a:tcPr>
                </a:tc>
                <a:tc>
                  <a:txBody>
                    <a:bodyPr/>
                    <a:lstStyle/>
                    <a:p>
                      <a:pPr algn="l"/>
                      <a:r>
                        <a:rPr sz="1200" b="1">
                          <a:solidFill>
                            <a:srgbClr val="FFFFFF"/>
                          </a:solidFill>
                          <a:latin typeface="Calibri"/>
                        </a:rPr>
                        <a:t>Routing Type</a:t>
                      </a:r>
                    </a:p>
                  </a:txBody>
                  <a:tcPr anchor="ctr">
                    <a:solidFill>
                      <a:srgbClr val="0B2545"/>
                    </a:solidFill>
                  </a:tcPr>
                </a:tc>
                <a:tc>
                  <a:txBody>
                    <a:bodyPr/>
                    <a:lstStyle/>
                    <a:p>
                      <a:pPr algn="l"/>
                      <a:r>
                        <a:rPr sz="1200" b="1">
                          <a:solidFill>
                            <a:srgbClr val="FFFFFF"/>
                          </a:solidFill>
                          <a:latin typeface="Calibri"/>
                        </a:rPr>
                        <a:t>Effective-Time Source</a:t>
                      </a:r>
                    </a:p>
                  </a:txBody>
                  <a:tcPr anchor="ctr">
                    <a:solidFill>
                      <a:srgbClr val="0B2545"/>
                    </a:solidFill>
                  </a:tcPr>
                </a:tc>
                <a:extLst>
                  <a:ext uri="{0D108BD9-81ED-4DB2-BD59-A6C34878D82A}">
                    <a16:rowId xmlns:a16="http://schemas.microsoft.com/office/drawing/2014/main" val="10000"/>
                  </a:ext>
                </a:extLst>
              </a:tr>
              <a:tr h="563880">
                <a:tc>
                  <a:txBody>
                    <a:bodyPr/>
                    <a:lstStyle/>
                    <a:p>
                      <a:pPr algn="l"/>
                      <a:r>
                        <a:rPr sz="1200" b="0">
                          <a:solidFill>
                            <a:srgbClr val="0B2545"/>
                          </a:solidFill>
                          <a:latin typeface="Calibri"/>
                        </a:rPr>
                        <a:t>GROUP_A</a:t>
                      </a:r>
                    </a:p>
                  </a:txBody>
                  <a:tcPr anchor="ctr">
                    <a:solidFill>
                      <a:srgbClr val="E1F1F2"/>
                    </a:solidFill>
                  </a:tcPr>
                </a:tc>
                <a:tc>
                  <a:txBody>
                    <a:bodyPr/>
                    <a:lstStyle/>
                    <a:p>
                      <a:pPr algn="l"/>
                      <a:r>
                        <a:rPr sz="1200" b="0">
                          <a:solidFill>
                            <a:srgbClr val="0B2545"/>
                          </a:solidFill>
                          <a:latin typeface="Calibri"/>
                        </a:rPr>
                        <a:t>5 columns</a:t>
                      </a:r>
                    </a:p>
                  </a:txBody>
                  <a:tcPr anchor="ctr">
                    <a:solidFill>
                      <a:srgbClr val="E1F1F2"/>
                    </a:solidFill>
                  </a:tcPr>
                </a:tc>
                <a:tc>
                  <a:txBody>
                    <a:bodyPr/>
                    <a:lstStyle/>
                    <a:p>
                      <a:pPr algn="l"/>
                      <a:r>
                        <a:rPr sz="1200" b="0">
                          <a:solidFill>
                            <a:srgbClr val="0B2545"/>
                          </a:solidFill>
                          <a:latin typeface="Calibri"/>
                        </a:rPr>
                        <a:t>Immediate</a:t>
                      </a:r>
                    </a:p>
                  </a:txBody>
                  <a:tcPr anchor="ctr">
                    <a:solidFill>
                      <a:srgbClr val="E1F1F2"/>
                    </a:solidFill>
                  </a:tcPr>
                </a:tc>
                <a:tc>
                  <a:txBody>
                    <a:bodyPr/>
                    <a:lstStyle/>
                    <a:p>
                      <a:pPr algn="l"/>
                      <a:r>
                        <a:rPr sz="1200" b="0">
                          <a:solidFill>
                            <a:srgbClr val="0B2545"/>
                          </a:solidFill>
                          <a:latin typeface="Calibri"/>
                        </a:rPr>
                        <a:t>SRC_TRANS_TMSP</a:t>
                      </a:r>
                    </a:p>
                  </a:txBody>
                  <a:tcPr anchor="ctr">
                    <a:solidFill>
                      <a:srgbClr val="E1F1F2"/>
                    </a:solidFill>
                  </a:tcPr>
                </a:tc>
                <a:extLst>
                  <a:ext uri="{0D108BD9-81ED-4DB2-BD59-A6C34878D82A}">
                    <a16:rowId xmlns:a16="http://schemas.microsoft.com/office/drawing/2014/main" val="10001"/>
                  </a:ext>
                </a:extLst>
              </a:tr>
              <a:tr h="563880">
                <a:tc>
                  <a:txBody>
                    <a:bodyPr/>
                    <a:lstStyle/>
                    <a:p>
                      <a:pPr algn="l"/>
                      <a:r>
                        <a:rPr sz="1200" b="0">
                          <a:solidFill>
                            <a:srgbClr val="0B2545"/>
                          </a:solidFill>
                          <a:latin typeface="Calibri"/>
                        </a:rPr>
                        <a:t>GROUP_B</a:t>
                      </a:r>
                    </a:p>
                  </a:txBody>
                  <a:tcPr anchor="ctr">
                    <a:solidFill>
                      <a:srgbClr val="FFFFFF"/>
                    </a:solidFill>
                  </a:tcPr>
                </a:tc>
                <a:tc>
                  <a:txBody>
                    <a:bodyPr/>
                    <a:lstStyle/>
                    <a:p>
                      <a:pPr algn="l"/>
                      <a:r>
                        <a:rPr sz="1200" b="0">
                          <a:solidFill>
                            <a:srgbClr val="0B2545"/>
                          </a:solidFill>
                          <a:latin typeface="Calibri"/>
                        </a:rPr>
                        <a:t>24 columns</a:t>
                      </a:r>
                    </a:p>
                  </a:txBody>
                  <a:tcPr anchor="ctr">
                    <a:solidFill>
                      <a:srgbClr val="FFFFFF"/>
                    </a:solidFill>
                  </a:tcPr>
                </a:tc>
                <a:tc>
                  <a:txBody>
                    <a:bodyPr/>
                    <a:lstStyle/>
                    <a:p>
                      <a:pPr algn="l"/>
                      <a:r>
                        <a:rPr sz="1200" b="0">
                          <a:solidFill>
                            <a:srgbClr val="0B2545"/>
                          </a:solidFill>
                          <a:latin typeface="Calibri"/>
                        </a:rPr>
                        <a:t>Effective date</a:t>
                      </a:r>
                    </a:p>
                  </a:txBody>
                  <a:tcPr anchor="ctr">
                    <a:solidFill>
                      <a:srgbClr val="FFFFFF"/>
                    </a:solidFill>
                  </a:tcPr>
                </a:tc>
                <a:tc>
                  <a:txBody>
                    <a:bodyPr/>
                    <a:lstStyle/>
                    <a:p>
                      <a:pPr algn="l"/>
                      <a:r>
                        <a:rPr sz="1200" b="0">
                          <a:solidFill>
                            <a:srgbClr val="0B2545"/>
                          </a:solidFill>
                          <a:latin typeface="Calibri"/>
                        </a:rPr>
                        <a:t>EFF_DT</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502920" y="3429000"/>
            <a:ext cx="6400800" cy="274320"/>
          </a:xfrm>
          <a:prstGeom prst="rect">
            <a:avLst/>
          </a:prstGeom>
          <a:noFill/>
        </p:spPr>
        <p:txBody>
          <a:bodyPr wrap="square" lIns="0" tIns="0" rIns="0" bIns="0" anchor="t">
            <a:spAutoFit/>
          </a:bodyPr>
          <a:lstStyle/>
          <a:p>
            <a:pPr algn="l">
              <a:lnSpc>
                <a:spcPct val="100000"/>
              </a:lnSpc>
            </a:pPr>
            <a:r>
              <a:rPr sz="1200" b="1" i="0">
                <a:solidFill>
                  <a:srgbClr val="0E7C86"/>
                </a:solidFill>
                <a:latin typeface="Calibri"/>
              </a:rPr>
              <a:t>ROUTING DECISION</a:t>
            </a:r>
          </a:p>
        </p:txBody>
      </p:sp>
      <p:sp>
        <p:nvSpPr>
          <p:cNvPr id="9" name="Rounded Rectangle 8"/>
          <p:cNvSpPr/>
          <p:nvPr/>
        </p:nvSpPr>
        <p:spPr>
          <a:xfrm>
            <a:off x="502920" y="3749039"/>
            <a:ext cx="2103120" cy="777240"/>
          </a:xfrm>
          <a:prstGeom prst="roundRect">
            <a:avLst>
              <a:gd name="adj" fmla="val 10000"/>
            </a:avLst>
          </a:prstGeom>
          <a:solidFill>
            <a:srgbClr val="FFFFFF"/>
          </a:solidFill>
          <a:ln w="12700">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000" b="1">
                <a:solidFill>
                  <a:srgbClr val="0B2545"/>
                </a:solidFill>
                <a:latin typeface="Calibri"/>
              </a:rPr>
              <a:t>Immediate group</a:t>
            </a:r>
          </a:p>
        </p:txBody>
      </p:sp>
      <p:sp>
        <p:nvSpPr>
          <p:cNvPr id="10" name="TextBox 9"/>
          <p:cNvSpPr txBox="1"/>
          <p:nvPr/>
        </p:nvSpPr>
        <p:spPr>
          <a:xfrm>
            <a:off x="502920" y="4599432"/>
            <a:ext cx="2103120" cy="274320"/>
          </a:xfrm>
          <a:prstGeom prst="rect">
            <a:avLst/>
          </a:prstGeom>
          <a:noFill/>
        </p:spPr>
        <p:txBody>
          <a:bodyPr wrap="square" lIns="0" tIns="0" rIns="0" bIns="0" anchor="t">
            <a:spAutoFit/>
          </a:bodyPr>
          <a:lstStyle/>
          <a:p>
            <a:pPr algn="ctr">
              <a:lnSpc>
                <a:spcPct val="100000"/>
              </a:lnSpc>
            </a:pPr>
            <a:r>
              <a:rPr sz="1200" b="1" i="0">
                <a:solidFill>
                  <a:srgbClr val="0A5C64"/>
                </a:solidFill>
                <a:latin typeface="Calibri"/>
              </a:rPr>
              <a:t>→ ACTIVE</a:t>
            </a:r>
          </a:p>
        </p:txBody>
      </p:sp>
      <p:sp>
        <p:nvSpPr>
          <p:cNvPr id="11" name="Rounded Rectangle 10"/>
          <p:cNvSpPr/>
          <p:nvPr/>
        </p:nvSpPr>
        <p:spPr>
          <a:xfrm>
            <a:off x="2770632" y="3749039"/>
            <a:ext cx="2103120" cy="777240"/>
          </a:xfrm>
          <a:prstGeom prst="roundRect">
            <a:avLst>
              <a:gd name="adj" fmla="val 10000"/>
            </a:avLst>
          </a:prstGeom>
          <a:solidFill>
            <a:srgbClr val="FFFFFF"/>
          </a:solidFill>
          <a:ln w="12700">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000" b="1">
                <a:solidFill>
                  <a:srgbClr val="0B2545"/>
                </a:solidFill>
                <a:latin typeface="Calibri"/>
              </a:rPr>
              <a:t>Due effective-date
(EFF_DT ≤ now)</a:t>
            </a:r>
          </a:p>
        </p:txBody>
      </p:sp>
      <p:sp>
        <p:nvSpPr>
          <p:cNvPr id="12" name="TextBox 11"/>
          <p:cNvSpPr txBox="1"/>
          <p:nvPr/>
        </p:nvSpPr>
        <p:spPr>
          <a:xfrm>
            <a:off x="2770632" y="4599432"/>
            <a:ext cx="2103120" cy="274320"/>
          </a:xfrm>
          <a:prstGeom prst="rect">
            <a:avLst/>
          </a:prstGeom>
          <a:noFill/>
        </p:spPr>
        <p:txBody>
          <a:bodyPr wrap="square" lIns="0" tIns="0" rIns="0" bIns="0" anchor="t">
            <a:spAutoFit/>
          </a:bodyPr>
          <a:lstStyle/>
          <a:p>
            <a:pPr algn="ctr">
              <a:lnSpc>
                <a:spcPct val="100000"/>
              </a:lnSpc>
            </a:pPr>
            <a:r>
              <a:rPr sz="1200" b="1" i="0">
                <a:solidFill>
                  <a:srgbClr val="0A5C64"/>
                </a:solidFill>
                <a:latin typeface="Calibri"/>
              </a:rPr>
              <a:t>→ ACTIVE</a:t>
            </a:r>
          </a:p>
        </p:txBody>
      </p:sp>
      <p:sp>
        <p:nvSpPr>
          <p:cNvPr id="13" name="Rounded Rectangle 12"/>
          <p:cNvSpPr/>
          <p:nvPr/>
        </p:nvSpPr>
        <p:spPr>
          <a:xfrm>
            <a:off x="5038344" y="3749039"/>
            <a:ext cx="2103120" cy="777240"/>
          </a:xfrm>
          <a:prstGeom prst="roundRect">
            <a:avLst>
              <a:gd name="adj" fmla="val 10000"/>
            </a:avLst>
          </a:prstGeom>
          <a:solidFill>
            <a:srgbClr val="FFFFFF"/>
          </a:solidFill>
          <a:ln w="12700">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95000"/>
              </a:lnSpc>
            </a:pPr>
            <a:r>
              <a:rPr sz="1000" b="1">
                <a:solidFill>
                  <a:srgbClr val="0B2545"/>
                </a:solidFill>
                <a:latin typeface="Calibri"/>
              </a:rPr>
              <a:t>Future effective-date
(EFF_DT &gt; now)</a:t>
            </a:r>
          </a:p>
        </p:txBody>
      </p:sp>
      <p:sp>
        <p:nvSpPr>
          <p:cNvPr id="14" name="TextBox 13"/>
          <p:cNvSpPr txBox="1"/>
          <p:nvPr/>
        </p:nvSpPr>
        <p:spPr>
          <a:xfrm>
            <a:off x="5038344" y="4599432"/>
            <a:ext cx="2103120" cy="274320"/>
          </a:xfrm>
          <a:prstGeom prst="rect">
            <a:avLst/>
          </a:prstGeom>
          <a:noFill/>
        </p:spPr>
        <p:txBody>
          <a:bodyPr wrap="square" lIns="0" tIns="0" rIns="0" bIns="0" anchor="t">
            <a:spAutoFit/>
          </a:bodyPr>
          <a:lstStyle/>
          <a:p>
            <a:pPr algn="ctr">
              <a:lnSpc>
                <a:spcPct val="100000"/>
              </a:lnSpc>
            </a:pPr>
            <a:r>
              <a:rPr sz="1200" b="1" i="0">
                <a:solidFill>
                  <a:srgbClr val="C97A1E"/>
                </a:solidFill>
                <a:latin typeface="Calibri"/>
              </a:rPr>
              <a:t>→ PENDING</a:t>
            </a:r>
          </a:p>
        </p:txBody>
      </p:sp>
      <p:sp>
        <p:nvSpPr>
          <p:cNvPr id="15" name="Rounded Rectangle 14"/>
          <p:cNvSpPr/>
          <p:nvPr/>
        </p:nvSpPr>
        <p:spPr>
          <a:xfrm>
            <a:off x="7452360" y="1463040"/>
            <a:ext cx="4251960" cy="3657600"/>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60" y="1645920"/>
            <a:ext cx="3794760" cy="320040"/>
          </a:xfrm>
          <a:prstGeom prst="rect">
            <a:avLst/>
          </a:prstGeom>
          <a:noFill/>
        </p:spPr>
        <p:txBody>
          <a:bodyPr wrap="square" lIns="0" tIns="0" rIns="0" bIns="0" anchor="t">
            <a:spAutoFit/>
          </a:bodyPr>
          <a:lstStyle/>
          <a:p>
            <a:pPr algn="l">
              <a:lnSpc>
                <a:spcPct val="100000"/>
              </a:lnSpc>
            </a:pPr>
            <a:r>
              <a:rPr sz="1300" b="1" i="0">
                <a:solidFill>
                  <a:srgbClr val="0E7C86"/>
                </a:solidFill>
                <a:latin typeface="Calibri"/>
              </a:rPr>
              <a:t>VALUE</a:t>
            </a:r>
          </a:p>
        </p:txBody>
      </p:sp>
      <p:sp>
        <p:nvSpPr>
          <p:cNvPr id="17" name="TextBox 16"/>
          <p:cNvSpPr txBox="1"/>
          <p:nvPr/>
        </p:nvSpPr>
        <p:spPr>
          <a:xfrm>
            <a:off x="7680960" y="2103120"/>
            <a:ext cx="3794760" cy="2834640"/>
          </a:xfrm>
          <a:prstGeom prst="rect">
            <a:avLst/>
          </a:prstGeom>
          <a:noFill/>
        </p:spPr>
        <p:txBody>
          <a:bodyPr wrap="square" lIns="0" tIns="0" rIns="0" bIns="0" anchor="t">
            <a:spAutoFit/>
          </a:bodyPr>
          <a:lstStyle/>
          <a:p>
            <a:pPr>
              <a:lnSpc>
                <a:spcPct val="105000"/>
              </a:lnSpc>
              <a:spcAft>
                <a:spcPts val="1400"/>
              </a:spcAft>
            </a:pPr>
            <a:r>
              <a:rPr sz="1300" b="0">
                <a:solidFill>
                  <a:srgbClr val="44515F"/>
                </a:solidFill>
                <a:latin typeface="Calibri"/>
              </a:rPr>
              <a:t>—  Feature ownership defined once in the registry</a:t>
            </a:r>
          </a:p>
          <a:p>
            <a:pPr>
              <a:lnSpc>
                <a:spcPct val="105000"/>
              </a:lnSpc>
              <a:spcAft>
                <a:spcPts val="1400"/>
              </a:spcAft>
            </a:pPr>
            <a:r>
              <a:rPr sz="1300" b="0">
                <a:solidFill>
                  <a:srgbClr val="44515F"/>
                </a:solidFill>
                <a:latin typeface="Calibri"/>
              </a:rPr>
              <a:t>—  Routing behavior controlled through metadata, not code</a:t>
            </a:r>
          </a:p>
          <a:p>
            <a:pPr>
              <a:lnSpc>
                <a:spcPct val="105000"/>
              </a:lnSpc>
              <a:spcAft>
                <a:spcPts val="1400"/>
              </a:spcAft>
            </a:pPr>
            <a:r>
              <a:rPr sz="1300" b="0">
                <a:solidFill>
                  <a:srgbClr val="44515F"/>
                </a:solidFill>
                <a:latin typeface="Calibri"/>
              </a:rPr>
              <a:t>—  New feature groups can be added with fewer pipeline changes</a:t>
            </a:r>
          </a:p>
          <a:p>
            <a:pPr>
              <a:lnSpc>
                <a:spcPct val="105000"/>
              </a:lnSpc>
              <a:spcAft>
                <a:spcPts val="1400"/>
              </a:spcAft>
            </a:pPr>
            <a:r>
              <a:rPr sz="1300" b="0">
                <a:solidFill>
                  <a:srgbClr val="44515F"/>
                </a:solidFill>
                <a:latin typeface="Calibri"/>
              </a:rPr>
              <a:t>—  Prevents schema drift and repeated hardcoded column lists</a:t>
            </a:r>
          </a:p>
        </p:txBody>
      </p:sp>
      <p:sp>
        <p:nvSpPr>
          <p:cNvPr id="18" name="TextBox 17"/>
          <p:cNvSpPr txBox="1"/>
          <p:nvPr/>
        </p:nvSpPr>
        <p:spPr>
          <a:xfrm>
            <a:off x="502920" y="5989320"/>
            <a:ext cx="11201400" cy="457200"/>
          </a:xfrm>
          <a:prstGeom prst="rect">
            <a:avLst/>
          </a:prstGeom>
          <a:noFill/>
        </p:spPr>
        <p:txBody>
          <a:bodyPr wrap="square" lIns="0" tIns="0" rIns="0" bIns="0" anchor="t">
            <a:spAutoFit/>
          </a:bodyPr>
          <a:lstStyle/>
          <a:p>
            <a:pPr algn="l">
              <a:lnSpc>
                <a:spcPct val="100000"/>
              </a:lnSpc>
            </a:pPr>
            <a:r>
              <a:rPr sz="1150" b="0" i="1">
                <a:solidFill>
                  <a:srgbClr val="7C8A99"/>
                </a:solidFill>
                <a:latin typeface="Calibri"/>
              </a:rPr>
              <a:t>History is closed exactly once per event, before the updated active state is snapshotted — preventing overlapping or negative validity windows.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OUTCOMES</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Project Results and Benefits</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8</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sp>
        <p:nvSpPr>
          <p:cNvPr id="7" name="Rounded Rectangle 6"/>
          <p:cNvSpPr/>
          <p:nvPr/>
        </p:nvSpPr>
        <p:spPr>
          <a:xfrm>
            <a:off x="502920" y="1463040"/>
            <a:ext cx="2670048" cy="1417320"/>
          </a:xfrm>
          <a:prstGeom prst="roundRect">
            <a:avLst>
              <a:gd name="adj" fmla="val 6000"/>
            </a:avLst>
          </a:prstGeom>
          <a:solidFill>
            <a:srgbClr val="0B2545"/>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627632"/>
            <a:ext cx="2670048" cy="640080"/>
          </a:xfrm>
          <a:prstGeom prst="rect">
            <a:avLst/>
          </a:prstGeom>
          <a:noFill/>
        </p:spPr>
        <p:txBody>
          <a:bodyPr wrap="square" lIns="0" tIns="0" rIns="0" bIns="0" anchor="t">
            <a:spAutoFit/>
          </a:bodyPr>
          <a:lstStyle/>
          <a:p>
            <a:pPr algn="ctr">
              <a:lnSpc>
                <a:spcPct val="100000"/>
              </a:lnSpc>
            </a:pPr>
            <a:r>
              <a:rPr sz="3000" b="1" i="0">
                <a:solidFill>
                  <a:srgbClr val="FFFFFF"/>
                </a:solidFill>
                <a:latin typeface="Calibri"/>
              </a:rPr>
              <a:t>29</a:t>
            </a:r>
          </a:p>
        </p:txBody>
      </p:sp>
      <p:sp>
        <p:nvSpPr>
          <p:cNvPr id="9" name="TextBox 8"/>
          <p:cNvSpPr txBox="1"/>
          <p:nvPr/>
        </p:nvSpPr>
        <p:spPr>
          <a:xfrm>
            <a:off x="685800" y="2286000"/>
            <a:ext cx="2304288" cy="548640"/>
          </a:xfrm>
          <a:prstGeom prst="rect">
            <a:avLst/>
          </a:prstGeom>
          <a:noFill/>
        </p:spPr>
        <p:txBody>
          <a:bodyPr wrap="square" lIns="0" tIns="0" rIns="0" bIns="0" anchor="t">
            <a:spAutoFit/>
          </a:bodyPr>
          <a:lstStyle/>
          <a:p>
            <a:pPr algn="ctr">
              <a:lnSpc>
                <a:spcPct val="100000"/>
              </a:lnSpc>
            </a:pPr>
            <a:r>
              <a:rPr sz="1150" b="0" i="0">
                <a:solidFill>
                  <a:srgbClr val="C9DAE2"/>
                </a:solidFill>
                <a:latin typeface="Calibri"/>
              </a:rPr>
              <a:t>features centrally</a:t>
            </a:r>
          </a:p>
          <a:p>
            <a:pPr algn="ctr">
              <a:lnSpc>
                <a:spcPct val="100000"/>
              </a:lnSpc>
            </a:pPr>
            <a:r>
              <a:rPr sz="1150" b="0" i="0">
                <a:solidFill>
                  <a:srgbClr val="C9DAE2"/>
                </a:solidFill>
                <a:latin typeface="Calibri"/>
              </a:rPr>
              <a:t>computed</a:t>
            </a:r>
          </a:p>
        </p:txBody>
      </p:sp>
      <p:sp>
        <p:nvSpPr>
          <p:cNvPr id="10" name="Rounded Rectangle 9"/>
          <p:cNvSpPr/>
          <p:nvPr/>
        </p:nvSpPr>
        <p:spPr>
          <a:xfrm>
            <a:off x="3355848" y="1463040"/>
            <a:ext cx="2670048" cy="1417320"/>
          </a:xfrm>
          <a:prstGeom prst="roundRect">
            <a:avLst>
              <a:gd name="adj" fmla="val 6000"/>
            </a:avLst>
          </a:prstGeom>
          <a:solidFill>
            <a:srgbClr val="0B2545"/>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55848" y="1627632"/>
            <a:ext cx="2670048" cy="640080"/>
          </a:xfrm>
          <a:prstGeom prst="rect">
            <a:avLst/>
          </a:prstGeom>
          <a:noFill/>
        </p:spPr>
        <p:txBody>
          <a:bodyPr wrap="square" lIns="0" tIns="0" rIns="0" bIns="0" anchor="t">
            <a:spAutoFit/>
          </a:bodyPr>
          <a:lstStyle/>
          <a:p>
            <a:pPr algn="ctr">
              <a:lnSpc>
                <a:spcPct val="100000"/>
              </a:lnSpc>
            </a:pPr>
            <a:r>
              <a:rPr sz="3000" b="1" i="0">
                <a:solidFill>
                  <a:srgbClr val="FFFFFF"/>
                </a:solidFill>
                <a:latin typeface="Calibri"/>
              </a:rPr>
              <a:t>~130.4 ms</a:t>
            </a:r>
          </a:p>
        </p:txBody>
      </p:sp>
      <p:sp>
        <p:nvSpPr>
          <p:cNvPr id="12" name="TextBox 11"/>
          <p:cNvSpPr txBox="1"/>
          <p:nvPr/>
        </p:nvSpPr>
        <p:spPr>
          <a:xfrm>
            <a:off x="3538728" y="2286000"/>
            <a:ext cx="2304288" cy="548640"/>
          </a:xfrm>
          <a:prstGeom prst="rect">
            <a:avLst/>
          </a:prstGeom>
          <a:noFill/>
        </p:spPr>
        <p:txBody>
          <a:bodyPr wrap="square" lIns="0" tIns="0" rIns="0" bIns="0" anchor="t">
            <a:spAutoFit/>
          </a:bodyPr>
          <a:lstStyle/>
          <a:p>
            <a:pPr algn="ctr">
              <a:lnSpc>
                <a:spcPct val="100000"/>
              </a:lnSpc>
            </a:pPr>
            <a:r>
              <a:rPr sz="1150" b="0" i="0">
                <a:solidFill>
                  <a:srgbClr val="C9DAE2"/>
                </a:solidFill>
                <a:latin typeface="Calibri"/>
              </a:rPr>
              <a:t>observed lookup</a:t>
            </a:r>
          </a:p>
          <a:p>
            <a:pPr algn="ctr">
              <a:lnSpc>
                <a:spcPct val="100000"/>
              </a:lnSpc>
            </a:pPr>
            <a:r>
              <a:rPr sz="1150" b="0" i="0">
                <a:solidFill>
                  <a:srgbClr val="C9DAE2"/>
                </a:solidFill>
                <a:latin typeface="Calibri"/>
              </a:rPr>
              <a:t>latency</a:t>
            </a:r>
          </a:p>
        </p:txBody>
      </p:sp>
      <p:sp>
        <p:nvSpPr>
          <p:cNvPr id="13" name="Rounded Rectangle 12"/>
          <p:cNvSpPr/>
          <p:nvPr/>
        </p:nvSpPr>
        <p:spPr>
          <a:xfrm>
            <a:off x="6208776" y="1463040"/>
            <a:ext cx="2670048" cy="1417320"/>
          </a:xfrm>
          <a:prstGeom prst="roundRect">
            <a:avLst>
              <a:gd name="adj" fmla="val 6000"/>
            </a:avLst>
          </a:prstGeom>
          <a:solidFill>
            <a:srgbClr val="0B2545"/>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08776" y="1627632"/>
            <a:ext cx="2670048" cy="640080"/>
          </a:xfrm>
          <a:prstGeom prst="rect">
            <a:avLst/>
          </a:prstGeom>
          <a:noFill/>
        </p:spPr>
        <p:txBody>
          <a:bodyPr wrap="square" lIns="0" tIns="0" rIns="0" bIns="0" anchor="t">
            <a:spAutoFit/>
          </a:bodyPr>
          <a:lstStyle/>
          <a:p>
            <a:pPr algn="ctr">
              <a:lnSpc>
                <a:spcPct val="100000"/>
              </a:lnSpc>
            </a:pPr>
            <a:r>
              <a:rPr sz="3000" b="1" i="0">
                <a:solidFill>
                  <a:srgbClr val="FFFFFF"/>
                </a:solidFill>
                <a:latin typeface="Calibri"/>
              </a:rPr>
              <a:t>1</a:t>
            </a:r>
          </a:p>
        </p:txBody>
      </p:sp>
      <p:sp>
        <p:nvSpPr>
          <p:cNvPr id="15" name="TextBox 14"/>
          <p:cNvSpPr txBox="1"/>
          <p:nvPr/>
        </p:nvSpPr>
        <p:spPr>
          <a:xfrm>
            <a:off x="6391656" y="2286000"/>
            <a:ext cx="2304288" cy="548640"/>
          </a:xfrm>
          <a:prstGeom prst="rect">
            <a:avLst/>
          </a:prstGeom>
          <a:noFill/>
        </p:spPr>
        <p:txBody>
          <a:bodyPr wrap="square" lIns="0" tIns="0" rIns="0" bIns="0" anchor="t">
            <a:spAutoFit/>
          </a:bodyPr>
          <a:lstStyle/>
          <a:p>
            <a:pPr algn="ctr">
              <a:lnSpc>
                <a:spcPct val="100000"/>
              </a:lnSpc>
            </a:pPr>
            <a:r>
              <a:rPr sz="1150" b="0" i="0">
                <a:solidFill>
                  <a:srgbClr val="C9DAE2"/>
                </a:solidFill>
                <a:latin typeface="Calibri"/>
              </a:rPr>
              <a:t>active row</a:t>
            </a:r>
          </a:p>
          <a:p>
            <a:pPr algn="ctr">
              <a:lnSpc>
                <a:spcPct val="100000"/>
              </a:lnSpc>
            </a:pPr>
            <a:r>
              <a:rPr sz="1150" b="0" i="0">
                <a:solidFill>
                  <a:srgbClr val="C9DAE2"/>
                </a:solidFill>
                <a:latin typeface="Calibri"/>
              </a:rPr>
              <a:t>per policy</a:t>
            </a:r>
          </a:p>
        </p:txBody>
      </p:sp>
      <p:sp>
        <p:nvSpPr>
          <p:cNvPr id="16" name="Rounded Rectangle 15"/>
          <p:cNvSpPr/>
          <p:nvPr/>
        </p:nvSpPr>
        <p:spPr>
          <a:xfrm>
            <a:off x="9061704" y="1463040"/>
            <a:ext cx="2670048" cy="1417320"/>
          </a:xfrm>
          <a:prstGeom prst="roundRect">
            <a:avLst>
              <a:gd name="adj" fmla="val 6000"/>
            </a:avLst>
          </a:prstGeom>
          <a:solidFill>
            <a:srgbClr val="0B2545"/>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61704" y="1627632"/>
            <a:ext cx="2670048" cy="640080"/>
          </a:xfrm>
          <a:prstGeom prst="rect">
            <a:avLst/>
          </a:prstGeom>
          <a:noFill/>
        </p:spPr>
        <p:txBody>
          <a:bodyPr wrap="square" lIns="0" tIns="0" rIns="0" bIns="0" anchor="t">
            <a:spAutoFit/>
          </a:bodyPr>
          <a:lstStyle/>
          <a:p>
            <a:pPr algn="ctr">
              <a:lnSpc>
                <a:spcPct val="100000"/>
              </a:lnSpc>
            </a:pPr>
            <a:r>
              <a:rPr sz="3000" b="1" i="0">
                <a:solidFill>
                  <a:srgbClr val="FFFFFF"/>
                </a:solidFill>
                <a:latin typeface="Calibri"/>
              </a:rPr>
              <a:t>3</a:t>
            </a:r>
          </a:p>
        </p:txBody>
      </p:sp>
      <p:sp>
        <p:nvSpPr>
          <p:cNvPr id="18" name="TextBox 17"/>
          <p:cNvSpPr txBox="1"/>
          <p:nvPr/>
        </p:nvSpPr>
        <p:spPr>
          <a:xfrm>
            <a:off x="9244584" y="2286000"/>
            <a:ext cx="2304288" cy="548640"/>
          </a:xfrm>
          <a:prstGeom prst="rect">
            <a:avLst/>
          </a:prstGeom>
          <a:noFill/>
        </p:spPr>
        <p:txBody>
          <a:bodyPr wrap="square" lIns="0" tIns="0" rIns="0" bIns="0" anchor="t">
            <a:spAutoFit/>
          </a:bodyPr>
          <a:lstStyle/>
          <a:p>
            <a:pPr algn="ctr">
              <a:lnSpc>
                <a:spcPct val="100000"/>
              </a:lnSpc>
            </a:pPr>
            <a:r>
              <a:rPr sz="1150" b="0" i="0">
                <a:solidFill>
                  <a:srgbClr val="C9DAE2"/>
                </a:solidFill>
                <a:latin typeface="Calibri"/>
              </a:rPr>
              <a:t>time states supported</a:t>
            </a:r>
          </a:p>
          <a:p>
            <a:pPr algn="ctr">
              <a:lnSpc>
                <a:spcPct val="100000"/>
              </a:lnSpc>
            </a:pPr>
            <a:r>
              <a:rPr sz="1150" b="0" i="0">
                <a:solidFill>
                  <a:srgbClr val="C9DAE2"/>
                </a:solidFill>
                <a:latin typeface="Calibri"/>
              </a:rPr>
              <a:t>(past · present · future)</a:t>
            </a:r>
          </a:p>
        </p:txBody>
      </p:sp>
      <p:sp>
        <p:nvSpPr>
          <p:cNvPr id="19" name="Rounded Rectangle 18"/>
          <p:cNvSpPr/>
          <p:nvPr/>
        </p:nvSpPr>
        <p:spPr>
          <a:xfrm>
            <a:off x="502920" y="3154680"/>
            <a:ext cx="5532120" cy="135331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02920" y="3154680"/>
            <a:ext cx="73152" cy="1353312"/>
          </a:xfrm>
          <a:prstGeom prst="roundRect">
            <a:avLst>
              <a:gd name="adj" fmla="val 0"/>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3282696"/>
            <a:ext cx="5074920" cy="320040"/>
          </a:xfrm>
          <a:prstGeom prst="rect">
            <a:avLst/>
          </a:prstGeom>
          <a:noFill/>
        </p:spPr>
        <p:txBody>
          <a:bodyPr wrap="square" lIns="0" tIns="0" rIns="0" bIns="0" anchor="t">
            <a:spAutoFit/>
          </a:bodyPr>
          <a:lstStyle/>
          <a:p>
            <a:pPr algn="l">
              <a:lnSpc>
                <a:spcPct val="100000"/>
              </a:lnSpc>
            </a:pPr>
            <a:r>
              <a:rPr sz="1400" b="1" i="0">
                <a:solidFill>
                  <a:srgbClr val="0B2545"/>
                </a:solidFill>
                <a:latin typeface="Calibri"/>
              </a:rPr>
              <a:t>No Recalculation</a:t>
            </a:r>
          </a:p>
        </p:txBody>
      </p:sp>
      <p:sp>
        <p:nvSpPr>
          <p:cNvPr id="22" name="TextBox 21"/>
          <p:cNvSpPr txBox="1"/>
          <p:nvPr/>
        </p:nvSpPr>
        <p:spPr>
          <a:xfrm>
            <a:off x="758952" y="3657600"/>
            <a:ext cx="5074920" cy="713232"/>
          </a:xfrm>
          <a:prstGeom prst="rect">
            <a:avLst/>
          </a:prstGeom>
          <a:noFill/>
        </p:spPr>
        <p:txBody>
          <a:bodyPr wrap="square" lIns="0" tIns="0" rIns="0" bIns="0" anchor="t">
            <a:spAutoFit/>
          </a:bodyPr>
          <a:lstStyle/>
          <a:p>
            <a:pPr algn="l">
              <a:lnSpc>
                <a:spcPct val="110000"/>
              </a:lnSpc>
            </a:pPr>
            <a:r>
              <a:rPr sz="1150" b="0" i="0">
                <a:solidFill>
                  <a:srgbClr val="44515F"/>
                </a:solidFill>
                <a:latin typeface="Calibri"/>
              </a:rPr>
              <a:t>Models consume precomputed features rather than rebuilding the same business logic.</a:t>
            </a:r>
          </a:p>
        </p:txBody>
      </p:sp>
      <p:sp>
        <p:nvSpPr>
          <p:cNvPr id="23" name="Rounded Rectangle 22"/>
          <p:cNvSpPr/>
          <p:nvPr/>
        </p:nvSpPr>
        <p:spPr>
          <a:xfrm>
            <a:off x="6217920" y="3154680"/>
            <a:ext cx="5532120" cy="135331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17920" y="3154680"/>
            <a:ext cx="73152" cy="1353312"/>
          </a:xfrm>
          <a:prstGeom prst="roundRect">
            <a:avLst>
              <a:gd name="adj" fmla="val 0"/>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73952" y="3282696"/>
            <a:ext cx="5074920" cy="320040"/>
          </a:xfrm>
          <a:prstGeom prst="rect">
            <a:avLst/>
          </a:prstGeom>
          <a:noFill/>
        </p:spPr>
        <p:txBody>
          <a:bodyPr wrap="square" lIns="0" tIns="0" rIns="0" bIns="0" anchor="t">
            <a:spAutoFit/>
          </a:bodyPr>
          <a:lstStyle/>
          <a:p>
            <a:pPr algn="l">
              <a:lnSpc>
                <a:spcPct val="100000"/>
              </a:lnSpc>
            </a:pPr>
            <a:r>
              <a:rPr sz="1400" b="1" i="0">
                <a:solidFill>
                  <a:srgbClr val="0B2545"/>
                </a:solidFill>
                <a:latin typeface="Calibri"/>
              </a:rPr>
              <a:t>Consistency</a:t>
            </a:r>
          </a:p>
        </p:txBody>
      </p:sp>
      <p:sp>
        <p:nvSpPr>
          <p:cNvPr id="26" name="TextBox 25"/>
          <p:cNvSpPr txBox="1"/>
          <p:nvPr/>
        </p:nvSpPr>
        <p:spPr>
          <a:xfrm>
            <a:off x="6473952" y="3657600"/>
            <a:ext cx="5074920" cy="713232"/>
          </a:xfrm>
          <a:prstGeom prst="rect">
            <a:avLst/>
          </a:prstGeom>
          <a:noFill/>
        </p:spPr>
        <p:txBody>
          <a:bodyPr wrap="square" lIns="0" tIns="0" rIns="0" bIns="0" anchor="t">
            <a:spAutoFit/>
          </a:bodyPr>
          <a:lstStyle/>
          <a:p>
            <a:pPr algn="l">
              <a:lnSpc>
                <a:spcPct val="110000"/>
              </a:lnSpc>
            </a:pPr>
            <a:r>
              <a:rPr sz="1150" b="0" i="0">
                <a:solidFill>
                  <a:srgbClr val="44515F"/>
                </a:solidFill>
                <a:latin typeface="Calibri"/>
              </a:rPr>
              <a:t>Every model receives features from the same governed definitions and active table.</a:t>
            </a:r>
          </a:p>
        </p:txBody>
      </p:sp>
      <p:sp>
        <p:nvSpPr>
          <p:cNvPr id="27" name="Rounded Rectangle 26"/>
          <p:cNvSpPr/>
          <p:nvPr/>
        </p:nvSpPr>
        <p:spPr>
          <a:xfrm>
            <a:off x="502920" y="4672584"/>
            <a:ext cx="5532120" cy="135331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2920" y="4672584"/>
            <a:ext cx="73152" cy="1353312"/>
          </a:xfrm>
          <a:prstGeom prst="roundRect">
            <a:avLst>
              <a:gd name="adj" fmla="val 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8952" y="4800600"/>
            <a:ext cx="5074920" cy="320040"/>
          </a:xfrm>
          <a:prstGeom prst="rect">
            <a:avLst/>
          </a:prstGeom>
          <a:noFill/>
        </p:spPr>
        <p:txBody>
          <a:bodyPr wrap="square" lIns="0" tIns="0" rIns="0" bIns="0" anchor="t">
            <a:spAutoFit/>
          </a:bodyPr>
          <a:lstStyle/>
          <a:p>
            <a:pPr algn="l">
              <a:lnSpc>
                <a:spcPct val="100000"/>
              </a:lnSpc>
            </a:pPr>
            <a:r>
              <a:rPr sz="1400" b="1" i="0">
                <a:solidFill>
                  <a:srgbClr val="0B2545"/>
                </a:solidFill>
                <a:latin typeface="Calibri"/>
              </a:rPr>
              <a:t>Traceability &amp; Auditability</a:t>
            </a:r>
          </a:p>
        </p:txBody>
      </p:sp>
      <p:sp>
        <p:nvSpPr>
          <p:cNvPr id="30" name="TextBox 29"/>
          <p:cNvSpPr txBox="1"/>
          <p:nvPr/>
        </p:nvSpPr>
        <p:spPr>
          <a:xfrm>
            <a:off x="758952" y="5175504"/>
            <a:ext cx="5074920" cy="713232"/>
          </a:xfrm>
          <a:prstGeom prst="rect">
            <a:avLst/>
          </a:prstGeom>
          <a:noFill/>
        </p:spPr>
        <p:txBody>
          <a:bodyPr wrap="square" lIns="0" tIns="0" rIns="0" bIns="0" anchor="t">
            <a:spAutoFit/>
          </a:bodyPr>
          <a:lstStyle/>
          <a:p>
            <a:pPr algn="l">
              <a:lnSpc>
                <a:spcPct val="110000"/>
              </a:lnSpc>
            </a:pPr>
            <a:r>
              <a:rPr sz="1150" b="0" i="0">
                <a:solidFill>
                  <a:srgbClr val="44515F"/>
                </a:solidFill>
                <a:latin typeface="Calibri"/>
              </a:rPr>
              <a:t>Source transaction IDs, validity windows, change reasons, and historical snapshots allow feature-state reconstruction.</a:t>
            </a:r>
          </a:p>
        </p:txBody>
      </p:sp>
      <p:sp>
        <p:nvSpPr>
          <p:cNvPr id="31" name="Rounded Rectangle 30"/>
          <p:cNvSpPr/>
          <p:nvPr/>
        </p:nvSpPr>
        <p:spPr>
          <a:xfrm>
            <a:off x="6217920" y="4672584"/>
            <a:ext cx="5532120" cy="135331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217920" y="4672584"/>
            <a:ext cx="73152" cy="1353312"/>
          </a:xfrm>
          <a:prstGeom prst="roundRect">
            <a:avLst>
              <a:gd name="adj" fmla="val 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73952" y="4800600"/>
            <a:ext cx="5074920" cy="320040"/>
          </a:xfrm>
          <a:prstGeom prst="rect">
            <a:avLst/>
          </a:prstGeom>
          <a:noFill/>
        </p:spPr>
        <p:txBody>
          <a:bodyPr wrap="square" lIns="0" tIns="0" rIns="0" bIns="0" anchor="t">
            <a:spAutoFit/>
          </a:bodyPr>
          <a:lstStyle/>
          <a:p>
            <a:pPr algn="l">
              <a:lnSpc>
                <a:spcPct val="100000"/>
              </a:lnSpc>
            </a:pPr>
            <a:r>
              <a:rPr sz="1400" b="1" i="0">
                <a:solidFill>
                  <a:srgbClr val="0B2545"/>
                </a:solidFill>
                <a:latin typeface="Calibri"/>
              </a:rPr>
              <a:t>Reusability &amp; Scale</a:t>
            </a:r>
          </a:p>
        </p:txBody>
      </p:sp>
      <p:sp>
        <p:nvSpPr>
          <p:cNvPr id="34" name="TextBox 33"/>
          <p:cNvSpPr txBox="1"/>
          <p:nvPr/>
        </p:nvSpPr>
        <p:spPr>
          <a:xfrm>
            <a:off x="6473952" y="5175504"/>
            <a:ext cx="5074920" cy="713232"/>
          </a:xfrm>
          <a:prstGeom prst="rect">
            <a:avLst/>
          </a:prstGeom>
          <a:noFill/>
        </p:spPr>
        <p:txBody>
          <a:bodyPr wrap="square" lIns="0" tIns="0" rIns="0" bIns="0" anchor="t">
            <a:spAutoFit/>
          </a:bodyPr>
          <a:lstStyle/>
          <a:p>
            <a:pPr algn="l">
              <a:lnSpc>
                <a:spcPct val="110000"/>
              </a:lnSpc>
            </a:pPr>
            <a:r>
              <a:rPr sz="1150" b="0" i="0">
                <a:solidFill>
                  <a:srgbClr val="44515F"/>
                </a:solidFill>
                <a:latin typeface="Calibri"/>
              </a:rPr>
              <a:t>The same serving layer can support multiple models and additional feature groups.</a:t>
            </a:r>
          </a:p>
        </p:txBody>
      </p:sp>
      <p:sp>
        <p:nvSpPr>
          <p:cNvPr id="35" name="TextBox 34"/>
          <p:cNvSpPr txBox="1"/>
          <p:nvPr/>
        </p:nvSpPr>
        <p:spPr>
          <a:xfrm>
            <a:off x="502920" y="6236208"/>
            <a:ext cx="11201400" cy="274320"/>
          </a:xfrm>
          <a:prstGeom prst="rect">
            <a:avLst/>
          </a:prstGeom>
          <a:noFill/>
        </p:spPr>
        <p:txBody>
          <a:bodyPr wrap="square" lIns="0" tIns="0" rIns="0" bIns="0" anchor="t">
            <a:spAutoFit/>
          </a:bodyPr>
          <a:lstStyle/>
          <a:p>
            <a:pPr algn="l">
              <a:lnSpc>
                <a:spcPct val="100000"/>
              </a:lnSpc>
            </a:pPr>
            <a:r>
              <a:rPr sz="1050" b="0" i="1">
                <a:solidFill>
                  <a:srgbClr val="7C8A99"/>
                </a:solidFill>
                <a:latin typeface="Calibri"/>
              </a:rPr>
              <a:t>Latency represents an observed project test result, not a guaranteed service-level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RISK MANAGEMENT</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Key Challenges and Risk Controls</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9</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sp>
        <p:nvSpPr>
          <p:cNvPr id="7" name="Rounded Rectangle 6"/>
          <p:cNvSpPr/>
          <p:nvPr/>
        </p:nvSpPr>
        <p:spPr>
          <a:xfrm>
            <a:off x="502920" y="1417320"/>
            <a:ext cx="5440680" cy="153619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508760"/>
            <a:ext cx="5038344"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alibri"/>
              </a:rPr>
              <a:t>Correct Temporal Routing</a:t>
            </a:r>
          </a:p>
        </p:txBody>
      </p:sp>
      <p:sp>
        <p:nvSpPr>
          <p:cNvPr id="9" name="TextBox 8"/>
          <p:cNvSpPr txBox="1"/>
          <p:nvPr/>
        </p:nvSpPr>
        <p:spPr>
          <a:xfrm>
            <a:off x="704088" y="1837944"/>
            <a:ext cx="566928" cy="219456"/>
          </a:xfrm>
          <a:prstGeom prst="rect">
            <a:avLst/>
          </a:prstGeom>
          <a:noFill/>
        </p:spPr>
        <p:txBody>
          <a:bodyPr wrap="square" lIns="0" tIns="0" rIns="0" bIns="0" anchor="t">
            <a:spAutoFit/>
          </a:bodyPr>
          <a:lstStyle/>
          <a:p>
            <a:pPr algn="l">
              <a:lnSpc>
                <a:spcPct val="100000"/>
              </a:lnSpc>
            </a:pPr>
            <a:r>
              <a:rPr sz="900" b="1" i="0">
                <a:solidFill>
                  <a:srgbClr val="A6422E"/>
                </a:solidFill>
                <a:latin typeface="Calibri"/>
              </a:rPr>
              <a:t>RISK</a:t>
            </a:r>
          </a:p>
        </p:txBody>
      </p:sp>
      <p:sp>
        <p:nvSpPr>
          <p:cNvPr id="10" name="TextBox 9"/>
          <p:cNvSpPr txBox="1"/>
          <p:nvPr/>
        </p:nvSpPr>
        <p:spPr>
          <a:xfrm>
            <a:off x="1280160" y="1819656"/>
            <a:ext cx="4480560" cy="45720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Future-effective values could be exposed too early.</a:t>
            </a:r>
          </a:p>
        </p:txBody>
      </p:sp>
      <p:sp>
        <p:nvSpPr>
          <p:cNvPr id="11" name="TextBox 10"/>
          <p:cNvSpPr txBox="1"/>
          <p:nvPr/>
        </p:nvSpPr>
        <p:spPr>
          <a:xfrm>
            <a:off x="704088" y="2350008"/>
            <a:ext cx="868680" cy="219456"/>
          </a:xfrm>
          <a:prstGeom prst="rect">
            <a:avLst/>
          </a:prstGeom>
          <a:noFill/>
        </p:spPr>
        <p:txBody>
          <a:bodyPr wrap="square" lIns="0" tIns="0" rIns="0" bIns="0" anchor="t">
            <a:spAutoFit/>
          </a:bodyPr>
          <a:lstStyle/>
          <a:p>
            <a:pPr algn="l">
              <a:lnSpc>
                <a:spcPct val="100000"/>
              </a:lnSpc>
            </a:pPr>
            <a:r>
              <a:rPr sz="900" b="1" i="0">
                <a:solidFill>
                  <a:srgbClr val="2E7D5B"/>
                </a:solidFill>
                <a:latin typeface="Calibri"/>
              </a:rPr>
              <a:t>MITIGATION</a:t>
            </a:r>
          </a:p>
        </p:txBody>
      </p:sp>
      <p:sp>
        <p:nvSpPr>
          <p:cNvPr id="12" name="TextBox 11"/>
          <p:cNvSpPr txBox="1"/>
          <p:nvPr/>
        </p:nvSpPr>
        <p:spPr>
          <a:xfrm>
            <a:off x="1554480" y="2331720"/>
            <a:ext cx="4206240" cy="54864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Separate active and pending tables with effective-date routing.</a:t>
            </a:r>
          </a:p>
        </p:txBody>
      </p:sp>
      <p:sp>
        <p:nvSpPr>
          <p:cNvPr id="13" name="Rounded Rectangle 12"/>
          <p:cNvSpPr/>
          <p:nvPr/>
        </p:nvSpPr>
        <p:spPr>
          <a:xfrm>
            <a:off x="502920" y="3081528"/>
            <a:ext cx="5440680" cy="153619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3172968"/>
            <a:ext cx="5038344"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alibri"/>
              </a:rPr>
              <a:t>History-Window Correctness</a:t>
            </a:r>
          </a:p>
        </p:txBody>
      </p:sp>
      <p:sp>
        <p:nvSpPr>
          <p:cNvPr id="15" name="TextBox 14"/>
          <p:cNvSpPr txBox="1"/>
          <p:nvPr/>
        </p:nvSpPr>
        <p:spPr>
          <a:xfrm>
            <a:off x="704088" y="3502152"/>
            <a:ext cx="566928" cy="219456"/>
          </a:xfrm>
          <a:prstGeom prst="rect">
            <a:avLst/>
          </a:prstGeom>
          <a:noFill/>
        </p:spPr>
        <p:txBody>
          <a:bodyPr wrap="square" lIns="0" tIns="0" rIns="0" bIns="0" anchor="t">
            <a:spAutoFit/>
          </a:bodyPr>
          <a:lstStyle/>
          <a:p>
            <a:pPr algn="l">
              <a:lnSpc>
                <a:spcPct val="100000"/>
              </a:lnSpc>
            </a:pPr>
            <a:r>
              <a:rPr sz="900" b="1" i="0">
                <a:solidFill>
                  <a:srgbClr val="A6422E"/>
                </a:solidFill>
                <a:latin typeface="Calibri"/>
              </a:rPr>
              <a:t>RISK</a:t>
            </a:r>
          </a:p>
        </p:txBody>
      </p:sp>
      <p:sp>
        <p:nvSpPr>
          <p:cNvPr id="16" name="TextBox 15"/>
          <p:cNvSpPr txBox="1"/>
          <p:nvPr/>
        </p:nvSpPr>
        <p:spPr>
          <a:xfrm>
            <a:off x="1280160" y="3483864"/>
            <a:ext cx="4480560" cy="45720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Multiple feature-group updates could create overlapping or negative validity windows.</a:t>
            </a:r>
          </a:p>
        </p:txBody>
      </p:sp>
      <p:sp>
        <p:nvSpPr>
          <p:cNvPr id="17" name="TextBox 16"/>
          <p:cNvSpPr txBox="1"/>
          <p:nvPr/>
        </p:nvSpPr>
        <p:spPr>
          <a:xfrm>
            <a:off x="704088" y="4014216"/>
            <a:ext cx="868680" cy="219456"/>
          </a:xfrm>
          <a:prstGeom prst="rect">
            <a:avLst/>
          </a:prstGeom>
          <a:noFill/>
        </p:spPr>
        <p:txBody>
          <a:bodyPr wrap="square" lIns="0" tIns="0" rIns="0" bIns="0" anchor="t">
            <a:spAutoFit/>
          </a:bodyPr>
          <a:lstStyle/>
          <a:p>
            <a:pPr algn="l">
              <a:lnSpc>
                <a:spcPct val="100000"/>
              </a:lnSpc>
            </a:pPr>
            <a:r>
              <a:rPr sz="900" b="1" i="0">
                <a:solidFill>
                  <a:srgbClr val="2E7D5B"/>
                </a:solidFill>
                <a:latin typeface="Calibri"/>
              </a:rPr>
              <a:t>MITIGATION</a:t>
            </a:r>
          </a:p>
        </p:txBody>
      </p:sp>
      <p:sp>
        <p:nvSpPr>
          <p:cNvPr id="18" name="TextBox 17"/>
          <p:cNvSpPr txBox="1"/>
          <p:nvPr/>
        </p:nvSpPr>
        <p:spPr>
          <a:xfrm>
            <a:off x="1554480" y="3995928"/>
            <a:ext cx="4206240" cy="54864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Close the current history row once per event using a controlled effective timestamp.</a:t>
            </a:r>
          </a:p>
        </p:txBody>
      </p:sp>
      <p:sp>
        <p:nvSpPr>
          <p:cNvPr id="19" name="Rounded Rectangle 18"/>
          <p:cNvSpPr/>
          <p:nvPr/>
        </p:nvSpPr>
        <p:spPr>
          <a:xfrm>
            <a:off x="502920" y="4745736"/>
            <a:ext cx="5440680" cy="153619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4837175"/>
            <a:ext cx="5038344"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alibri"/>
              </a:rPr>
              <a:t>Time-Dependent Feature Drift</a:t>
            </a:r>
          </a:p>
        </p:txBody>
      </p:sp>
      <p:sp>
        <p:nvSpPr>
          <p:cNvPr id="21" name="TextBox 20"/>
          <p:cNvSpPr txBox="1"/>
          <p:nvPr/>
        </p:nvSpPr>
        <p:spPr>
          <a:xfrm>
            <a:off x="704088" y="5166359"/>
            <a:ext cx="566928" cy="219456"/>
          </a:xfrm>
          <a:prstGeom prst="rect">
            <a:avLst/>
          </a:prstGeom>
          <a:noFill/>
        </p:spPr>
        <p:txBody>
          <a:bodyPr wrap="square" lIns="0" tIns="0" rIns="0" bIns="0" anchor="t">
            <a:spAutoFit/>
          </a:bodyPr>
          <a:lstStyle/>
          <a:p>
            <a:pPr algn="l">
              <a:lnSpc>
                <a:spcPct val="100000"/>
              </a:lnSpc>
            </a:pPr>
            <a:r>
              <a:rPr sz="900" b="1" i="0">
                <a:solidFill>
                  <a:srgbClr val="A6422E"/>
                </a:solidFill>
                <a:latin typeface="Calibri"/>
              </a:rPr>
              <a:t>RISK</a:t>
            </a:r>
          </a:p>
        </p:txBody>
      </p:sp>
      <p:sp>
        <p:nvSpPr>
          <p:cNvPr id="22" name="TextBox 21"/>
          <p:cNvSpPr txBox="1"/>
          <p:nvPr/>
        </p:nvSpPr>
        <p:spPr>
          <a:xfrm>
            <a:off x="1280160" y="5148072"/>
            <a:ext cx="4480560" cy="45720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Time-window and tenure features change without a new transaction.</a:t>
            </a:r>
          </a:p>
        </p:txBody>
      </p:sp>
      <p:sp>
        <p:nvSpPr>
          <p:cNvPr id="23" name="TextBox 22"/>
          <p:cNvSpPr txBox="1"/>
          <p:nvPr/>
        </p:nvSpPr>
        <p:spPr>
          <a:xfrm>
            <a:off x="704088" y="5678423"/>
            <a:ext cx="868680" cy="219456"/>
          </a:xfrm>
          <a:prstGeom prst="rect">
            <a:avLst/>
          </a:prstGeom>
          <a:noFill/>
        </p:spPr>
        <p:txBody>
          <a:bodyPr wrap="square" lIns="0" tIns="0" rIns="0" bIns="0" anchor="t">
            <a:spAutoFit/>
          </a:bodyPr>
          <a:lstStyle/>
          <a:p>
            <a:pPr algn="l">
              <a:lnSpc>
                <a:spcPct val="100000"/>
              </a:lnSpc>
            </a:pPr>
            <a:r>
              <a:rPr sz="900" b="1" i="0">
                <a:solidFill>
                  <a:srgbClr val="2E7D5B"/>
                </a:solidFill>
                <a:latin typeface="Calibri"/>
              </a:rPr>
              <a:t>MITIGATION</a:t>
            </a:r>
          </a:p>
        </p:txBody>
      </p:sp>
      <p:sp>
        <p:nvSpPr>
          <p:cNvPr id="24" name="TextBox 23"/>
          <p:cNvSpPr txBox="1"/>
          <p:nvPr/>
        </p:nvSpPr>
        <p:spPr>
          <a:xfrm>
            <a:off x="1554480" y="5660136"/>
            <a:ext cx="4206240" cy="54864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Daily GROUP_A refresh job.</a:t>
            </a:r>
          </a:p>
        </p:txBody>
      </p:sp>
      <p:sp>
        <p:nvSpPr>
          <p:cNvPr id="25" name="Rounded Rectangle 24"/>
          <p:cNvSpPr/>
          <p:nvPr/>
        </p:nvSpPr>
        <p:spPr>
          <a:xfrm>
            <a:off x="6263640" y="1417320"/>
            <a:ext cx="5440680" cy="153619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64807" y="1508760"/>
            <a:ext cx="5038344"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alibri"/>
              </a:rPr>
              <a:t>Duplicate or Malformed Events</a:t>
            </a:r>
          </a:p>
        </p:txBody>
      </p:sp>
      <p:sp>
        <p:nvSpPr>
          <p:cNvPr id="27" name="TextBox 26"/>
          <p:cNvSpPr txBox="1"/>
          <p:nvPr/>
        </p:nvSpPr>
        <p:spPr>
          <a:xfrm>
            <a:off x="6464807" y="1837944"/>
            <a:ext cx="566928" cy="219456"/>
          </a:xfrm>
          <a:prstGeom prst="rect">
            <a:avLst/>
          </a:prstGeom>
          <a:noFill/>
        </p:spPr>
        <p:txBody>
          <a:bodyPr wrap="square" lIns="0" tIns="0" rIns="0" bIns="0" anchor="t">
            <a:spAutoFit/>
          </a:bodyPr>
          <a:lstStyle/>
          <a:p>
            <a:pPr algn="l">
              <a:lnSpc>
                <a:spcPct val="100000"/>
              </a:lnSpc>
            </a:pPr>
            <a:r>
              <a:rPr sz="900" b="1" i="0">
                <a:solidFill>
                  <a:srgbClr val="A6422E"/>
                </a:solidFill>
                <a:latin typeface="Calibri"/>
              </a:rPr>
              <a:t>RISK</a:t>
            </a:r>
          </a:p>
        </p:txBody>
      </p:sp>
      <p:sp>
        <p:nvSpPr>
          <p:cNvPr id="28" name="TextBox 27"/>
          <p:cNvSpPr txBox="1"/>
          <p:nvPr/>
        </p:nvSpPr>
        <p:spPr>
          <a:xfrm>
            <a:off x="7040879" y="1819656"/>
            <a:ext cx="4480560" cy="45720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Reprocessing can create duplicate state; invalid JSON can stop processing.</a:t>
            </a:r>
          </a:p>
        </p:txBody>
      </p:sp>
      <p:sp>
        <p:nvSpPr>
          <p:cNvPr id="29" name="TextBox 28"/>
          <p:cNvSpPr txBox="1"/>
          <p:nvPr/>
        </p:nvSpPr>
        <p:spPr>
          <a:xfrm>
            <a:off x="6464807" y="2350008"/>
            <a:ext cx="868680" cy="219456"/>
          </a:xfrm>
          <a:prstGeom prst="rect">
            <a:avLst/>
          </a:prstGeom>
          <a:noFill/>
        </p:spPr>
        <p:txBody>
          <a:bodyPr wrap="square" lIns="0" tIns="0" rIns="0" bIns="0" anchor="t">
            <a:spAutoFit/>
          </a:bodyPr>
          <a:lstStyle/>
          <a:p>
            <a:pPr algn="l">
              <a:lnSpc>
                <a:spcPct val="100000"/>
              </a:lnSpc>
            </a:pPr>
            <a:r>
              <a:rPr sz="900" b="1" i="0">
                <a:solidFill>
                  <a:srgbClr val="2E7D5B"/>
                </a:solidFill>
                <a:latin typeface="Calibri"/>
              </a:rPr>
              <a:t>MITIGATION</a:t>
            </a:r>
          </a:p>
        </p:txBody>
      </p:sp>
      <p:sp>
        <p:nvSpPr>
          <p:cNvPr id="30" name="TextBox 29"/>
          <p:cNvSpPr txBox="1"/>
          <p:nvPr/>
        </p:nvSpPr>
        <p:spPr>
          <a:xfrm>
            <a:off x="7315200" y="2331720"/>
            <a:ext cx="4206240" cy="54864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Transaction-level idempotency check and a dead-letter queue.</a:t>
            </a:r>
          </a:p>
        </p:txBody>
      </p:sp>
      <p:sp>
        <p:nvSpPr>
          <p:cNvPr id="31" name="Rounded Rectangle 30"/>
          <p:cNvSpPr/>
          <p:nvPr/>
        </p:nvSpPr>
        <p:spPr>
          <a:xfrm>
            <a:off x="6263640" y="3081528"/>
            <a:ext cx="5440680" cy="153619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64807" y="3172968"/>
            <a:ext cx="5038344"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alibri"/>
              </a:rPr>
              <a:t>Online Serving Availability</a:t>
            </a:r>
          </a:p>
        </p:txBody>
      </p:sp>
      <p:sp>
        <p:nvSpPr>
          <p:cNvPr id="33" name="TextBox 32"/>
          <p:cNvSpPr txBox="1"/>
          <p:nvPr/>
        </p:nvSpPr>
        <p:spPr>
          <a:xfrm>
            <a:off x="6464807" y="3502152"/>
            <a:ext cx="566928" cy="219456"/>
          </a:xfrm>
          <a:prstGeom prst="rect">
            <a:avLst/>
          </a:prstGeom>
          <a:noFill/>
        </p:spPr>
        <p:txBody>
          <a:bodyPr wrap="square" lIns="0" tIns="0" rIns="0" bIns="0" anchor="t">
            <a:spAutoFit/>
          </a:bodyPr>
          <a:lstStyle/>
          <a:p>
            <a:pPr algn="l">
              <a:lnSpc>
                <a:spcPct val="100000"/>
              </a:lnSpc>
            </a:pPr>
            <a:r>
              <a:rPr sz="900" b="1" i="0">
                <a:solidFill>
                  <a:srgbClr val="A6422E"/>
                </a:solidFill>
                <a:latin typeface="Calibri"/>
              </a:rPr>
              <a:t>RISK</a:t>
            </a:r>
          </a:p>
        </p:txBody>
      </p:sp>
      <p:sp>
        <p:nvSpPr>
          <p:cNvPr id="34" name="TextBox 33"/>
          <p:cNvSpPr txBox="1"/>
          <p:nvPr/>
        </p:nvSpPr>
        <p:spPr>
          <a:xfrm>
            <a:off x="7040879" y="3483864"/>
            <a:ext cx="4480560" cy="45720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Endpoint startup, scale-to-zero, sync delay, or availability may affect latency.</a:t>
            </a:r>
          </a:p>
        </p:txBody>
      </p:sp>
      <p:sp>
        <p:nvSpPr>
          <p:cNvPr id="35" name="TextBox 34"/>
          <p:cNvSpPr txBox="1"/>
          <p:nvPr/>
        </p:nvSpPr>
        <p:spPr>
          <a:xfrm>
            <a:off x="6464807" y="4014216"/>
            <a:ext cx="868680" cy="219456"/>
          </a:xfrm>
          <a:prstGeom prst="rect">
            <a:avLst/>
          </a:prstGeom>
          <a:noFill/>
        </p:spPr>
        <p:txBody>
          <a:bodyPr wrap="square" lIns="0" tIns="0" rIns="0" bIns="0" anchor="t">
            <a:spAutoFit/>
          </a:bodyPr>
          <a:lstStyle/>
          <a:p>
            <a:pPr algn="l">
              <a:lnSpc>
                <a:spcPct val="100000"/>
              </a:lnSpc>
            </a:pPr>
            <a:r>
              <a:rPr sz="900" b="1" i="0">
                <a:solidFill>
                  <a:srgbClr val="2E7D5B"/>
                </a:solidFill>
                <a:latin typeface="Calibri"/>
              </a:rPr>
              <a:t>MITIGATION</a:t>
            </a:r>
          </a:p>
        </p:txBody>
      </p:sp>
      <p:sp>
        <p:nvSpPr>
          <p:cNvPr id="36" name="TextBox 35"/>
          <p:cNvSpPr txBox="1"/>
          <p:nvPr/>
        </p:nvSpPr>
        <p:spPr>
          <a:xfrm>
            <a:off x="7315200" y="3995928"/>
            <a:ext cx="4206240" cy="54864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Monitoring, warm-capacity toggle, retries, alerting, service-level testing.</a:t>
            </a:r>
          </a:p>
        </p:txBody>
      </p:sp>
      <p:sp>
        <p:nvSpPr>
          <p:cNvPr id="37" name="Rounded Rectangle 36"/>
          <p:cNvSpPr/>
          <p:nvPr/>
        </p:nvSpPr>
        <p:spPr>
          <a:xfrm>
            <a:off x="6263640" y="4745736"/>
            <a:ext cx="5440680" cy="1536192"/>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64807" y="4837175"/>
            <a:ext cx="5038344" cy="274320"/>
          </a:xfrm>
          <a:prstGeom prst="rect">
            <a:avLst/>
          </a:prstGeom>
          <a:noFill/>
        </p:spPr>
        <p:txBody>
          <a:bodyPr wrap="square" lIns="0" tIns="0" rIns="0" bIns="0" anchor="t">
            <a:spAutoFit/>
          </a:bodyPr>
          <a:lstStyle/>
          <a:p>
            <a:pPr algn="l">
              <a:lnSpc>
                <a:spcPct val="100000"/>
              </a:lnSpc>
            </a:pPr>
            <a:r>
              <a:rPr sz="1250" b="1" i="0">
                <a:solidFill>
                  <a:srgbClr val="0B2545"/>
                </a:solidFill>
                <a:latin typeface="Calibri"/>
              </a:rPr>
              <a:t>Large-Policy History Recomputation</a:t>
            </a:r>
          </a:p>
        </p:txBody>
      </p:sp>
      <p:sp>
        <p:nvSpPr>
          <p:cNvPr id="39" name="TextBox 38"/>
          <p:cNvSpPr txBox="1"/>
          <p:nvPr/>
        </p:nvSpPr>
        <p:spPr>
          <a:xfrm>
            <a:off x="6464807" y="5166359"/>
            <a:ext cx="566928" cy="219456"/>
          </a:xfrm>
          <a:prstGeom prst="rect">
            <a:avLst/>
          </a:prstGeom>
          <a:noFill/>
        </p:spPr>
        <p:txBody>
          <a:bodyPr wrap="square" lIns="0" tIns="0" rIns="0" bIns="0" anchor="t">
            <a:spAutoFit/>
          </a:bodyPr>
          <a:lstStyle/>
          <a:p>
            <a:pPr algn="l">
              <a:lnSpc>
                <a:spcPct val="100000"/>
              </a:lnSpc>
            </a:pPr>
            <a:r>
              <a:rPr sz="900" b="1" i="0">
                <a:solidFill>
                  <a:srgbClr val="A6422E"/>
                </a:solidFill>
                <a:latin typeface="Calibri"/>
              </a:rPr>
              <a:t>RISK</a:t>
            </a:r>
          </a:p>
        </p:txBody>
      </p:sp>
      <p:sp>
        <p:nvSpPr>
          <p:cNvPr id="40" name="TextBox 39"/>
          <p:cNvSpPr txBox="1"/>
          <p:nvPr/>
        </p:nvSpPr>
        <p:spPr>
          <a:xfrm>
            <a:off x="7040879" y="5148072"/>
            <a:ext cx="4480560" cy="45720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Re-reading complete transaction history for touched policies may become expensive at scale.</a:t>
            </a:r>
          </a:p>
        </p:txBody>
      </p:sp>
      <p:sp>
        <p:nvSpPr>
          <p:cNvPr id="41" name="TextBox 40"/>
          <p:cNvSpPr txBox="1"/>
          <p:nvPr/>
        </p:nvSpPr>
        <p:spPr>
          <a:xfrm>
            <a:off x="6464807" y="5678423"/>
            <a:ext cx="868680" cy="219456"/>
          </a:xfrm>
          <a:prstGeom prst="rect">
            <a:avLst/>
          </a:prstGeom>
          <a:noFill/>
        </p:spPr>
        <p:txBody>
          <a:bodyPr wrap="square" lIns="0" tIns="0" rIns="0" bIns="0" anchor="t">
            <a:spAutoFit/>
          </a:bodyPr>
          <a:lstStyle/>
          <a:p>
            <a:pPr algn="l">
              <a:lnSpc>
                <a:spcPct val="100000"/>
              </a:lnSpc>
            </a:pPr>
            <a:r>
              <a:rPr sz="900" b="1" i="0">
                <a:solidFill>
                  <a:srgbClr val="2E7D5B"/>
                </a:solidFill>
                <a:latin typeface="Calibri"/>
              </a:rPr>
              <a:t>MITIGATION</a:t>
            </a:r>
          </a:p>
        </p:txBody>
      </p:sp>
      <p:sp>
        <p:nvSpPr>
          <p:cNvPr id="42" name="TextBox 41"/>
          <p:cNvSpPr txBox="1"/>
          <p:nvPr/>
        </p:nvSpPr>
        <p:spPr>
          <a:xfrm>
            <a:off x="7315200" y="5660136"/>
            <a:ext cx="4206240" cy="548640"/>
          </a:xfrm>
          <a:prstGeom prst="rect">
            <a:avLst/>
          </a:prstGeom>
          <a:noFill/>
        </p:spPr>
        <p:txBody>
          <a:bodyPr wrap="square" lIns="0" tIns="0" rIns="0" bIns="0" anchor="t">
            <a:spAutoFit/>
          </a:bodyPr>
          <a:lstStyle/>
          <a:p>
            <a:pPr algn="l">
              <a:lnSpc>
                <a:spcPct val="100000"/>
              </a:lnSpc>
            </a:pPr>
            <a:r>
              <a:rPr sz="1000" b="0" i="0">
                <a:solidFill>
                  <a:srgbClr val="44515F"/>
                </a:solidFill>
                <a:latin typeface="Calibri"/>
              </a:rPr>
              <a:t>Future optimization: incremental state, compaction, partitioning, optimized joins.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7315200" cy="274320"/>
          </a:xfrm>
          <a:prstGeom prst="rect">
            <a:avLst/>
          </a:prstGeom>
          <a:noFill/>
        </p:spPr>
        <p:txBody>
          <a:bodyPr wrap="square" lIns="0" tIns="0" rIns="0" bIns="0" anchor="t">
            <a:spAutoFit/>
          </a:bodyPr>
          <a:lstStyle/>
          <a:p>
            <a:pPr algn="l">
              <a:lnSpc>
                <a:spcPct val="100000"/>
              </a:lnSpc>
            </a:pPr>
            <a:r>
              <a:rPr sz="1150" b="1" i="0">
                <a:solidFill>
                  <a:srgbClr val="0E7C86"/>
                </a:solidFill>
                <a:latin typeface="Calibri"/>
              </a:rPr>
              <a:t>ROADMAP</a:t>
            </a:r>
          </a:p>
        </p:txBody>
      </p:sp>
      <p:sp>
        <p:nvSpPr>
          <p:cNvPr id="3" name="TextBox 2"/>
          <p:cNvSpPr txBox="1"/>
          <p:nvPr/>
        </p:nvSpPr>
        <p:spPr>
          <a:xfrm>
            <a:off x="502920" y="502920"/>
            <a:ext cx="11155680" cy="685800"/>
          </a:xfrm>
          <a:prstGeom prst="rect">
            <a:avLst/>
          </a:prstGeom>
          <a:noFill/>
        </p:spPr>
        <p:txBody>
          <a:bodyPr wrap="square" lIns="0" tIns="0" rIns="0" bIns="0" anchor="t">
            <a:spAutoFit/>
          </a:bodyPr>
          <a:lstStyle/>
          <a:p>
            <a:pPr algn="l">
              <a:lnSpc>
                <a:spcPct val="100000"/>
              </a:lnSpc>
            </a:pPr>
            <a:r>
              <a:rPr sz="2800" b="1" i="0">
                <a:solidFill>
                  <a:srgbClr val="0B2545"/>
                </a:solidFill>
                <a:latin typeface="Calibri"/>
              </a:rPr>
              <a:t>Recommendations and Future Opportunities</a:t>
            </a:r>
          </a:p>
        </p:txBody>
      </p:sp>
      <p:cxnSp>
        <p:nvCxnSpPr>
          <p:cNvPr id="4" name="Connector 3"/>
          <p:cNvCxnSpPr/>
          <p:nvPr/>
        </p:nvCxnSpPr>
        <p:spPr>
          <a:xfrm>
            <a:off x="521207" y="1170432"/>
            <a:ext cx="1627633" cy="0"/>
          </a:xfrm>
          <a:prstGeom prst="line">
            <a:avLst/>
          </a:prstGeom>
          <a:ln w="38100">
            <a:solidFill>
              <a:srgbClr val="0E7C8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100" b="0" i="0">
                <a:solidFill>
                  <a:srgbClr val="7C8A99"/>
                </a:solidFill>
                <a:latin typeface="Calibri"/>
              </a:rPr>
              <a:t>10</a:t>
            </a:r>
          </a:p>
        </p:txBody>
      </p:sp>
      <p:sp>
        <p:nvSpPr>
          <p:cNvPr id="6" name="TextBox 5"/>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pPr>
            <a:r>
              <a:rPr sz="950" b="0" i="0">
                <a:solidFill>
                  <a:srgbClr val="7C8A99"/>
                </a:solidFill>
                <a:latin typeface="Calibri"/>
              </a:rPr>
              <a:t>Time-Aware Online Feature Store</a:t>
            </a:r>
          </a:p>
        </p:txBody>
      </p:sp>
      <p:sp>
        <p:nvSpPr>
          <p:cNvPr id="7" name="Rounded Rectangle 6"/>
          <p:cNvSpPr/>
          <p:nvPr/>
        </p:nvSpPr>
        <p:spPr>
          <a:xfrm>
            <a:off x="502920" y="1417320"/>
            <a:ext cx="3639312" cy="3977639"/>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417320"/>
            <a:ext cx="3639312" cy="457200"/>
          </a:xfrm>
          <a:prstGeom prst="roundRect">
            <a:avLst>
              <a:gd name="adj" fmla="val 0"/>
            </a:avLst>
          </a:prstGeom>
          <a:solidFill>
            <a:srgbClr val="0A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490472"/>
            <a:ext cx="3273552" cy="320040"/>
          </a:xfrm>
          <a:prstGeom prst="rect">
            <a:avLst/>
          </a:prstGeom>
          <a:noFill/>
        </p:spPr>
        <p:txBody>
          <a:bodyPr wrap="square" lIns="0" tIns="0" rIns="0" bIns="0" anchor="ctr">
            <a:spAutoFit/>
          </a:bodyPr>
          <a:lstStyle/>
          <a:p>
            <a:pPr algn="l">
              <a:lnSpc>
                <a:spcPct val="100000"/>
              </a:lnSpc>
            </a:pPr>
            <a:r>
              <a:rPr sz="1350" b="1" i="0">
                <a:solidFill>
                  <a:srgbClr val="FFFFFF"/>
                </a:solidFill>
                <a:latin typeface="Calibri"/>
              </a:rPr>
              <a:t>NEAR TERM</a:t>
            </a:r>
          </a:p>
        </p:txBody>
      </p:sp>
      <p:sp>
        <p:nvSpPr>
          <p:cNvPr id="10" name="TextBox 9"/>
          <p:cNvSpPr txBox="1"/>
          <p:nvPr/>
        </p:nvSpPr>
        <p:spPr>
          <a:xfrm>
            <a:off x="731520" y="2039112"/>
            <a:ext cx="3182112" cy="3154679"/>
          </a:xfrm>
          <a:prstGeom prst="rect">
            <a:avLst/>
          </a:prstGeom>
          <a:noFill/>
        </p:spPr>
        <p:txBody>
          <a:bodyPr wrap="square" lIns="0" tIns="0" rIns="0" bIns="0" anchor="t">
            <a:spAutoFit/>
          </a:bodyPr>
          <a:lstStyle/>
          <a:p>
            <a:pPr>
              <a:lnSpc>
                <a:spcPct val="105000"/>
              </a:lnSpc>
              <a:spcAft>
                <a:spcPts val="1100"/>
              </a:spcAft>
            </a:pPr>
            <a:r>
              <a:rPr sz="1100" b="0">
                <a:solidFill>
                  <a:srgbClr val="44515F"/>
                </a:solidFill>
                <a:latin typeface="Calibri"/>
              </a:rPr>
              <a:t>•  Add automated data-quality and feature-validation checks</a:t>
            </a:r>
          </a:p>
          <a:p>
            <a:pPr>
              <a:lnSpc>
                <a:spcPct val="105000"/>
              </a:lnSpc>
              <a:spcAft>
                <a:spcPts val="1100"/>
              </a:spcAft>
            </a:pPr>
            <a:r>
              <a:rPr sz="1100" b="0">
                <a:solidFill>
                  <a:srgbClr val="44515F"/>
                </a:solidFill>
                <a:latin typeface="Calibri"/>
              </a:rPr>
              <a:t>•  Add pipeline monitoring and failure alerts</a:t>
            </a:r>
          </a:p>
          <a:p>
            <a:pPr>
              <a:lnSpc>
                <a:spcPct val="105000"/>
              </a:lnSpc>
              <a:spcAft>
                <a:spcPts val="1100"/>
              </a:spcAft>
            </a:pPr>
            <a:r>
              <a:rPr sz="1100" b="0">
                <a:solidFill>
                  <a:srgbClr val="44515F"/>
                </a:solidFill>
                <a:latin typeface="Calibri"/>
              </a:rPr>
              <a:t>•  Capture p50, p95, and p99 serving latency</a:t>
            </a:r>
          </a:p>
          <a:p>
            <a:pPr>
              <a:lnSpc>
                <a:spcPct val="105000"/>
              </a:lnSpc>
              <a:spcAft>
                <a:spcPts val="1100"/>
              </a:spcAft>
            </a:pPr>
            <a:r>
              <a:rPr sz="1100" b="0">
                <a:solidFill>
                  <a:srgbClr val="44515F"/>
                </a:solidFill>
                <a:latin typeface="Calibri"/>
              </a:rPr>
              <a:t>•  Add end-to-end integration and temporal-routing tests</a:t>
            </a:r>
          </a:p>
          <a:p>
            <a:pPr>
              <a:lnSpc>
                <a:spcPct val="105000"/>
              </a:lnSpc>
              <a:spcAft>
                <a:spcPts val="1100"/>
              </a:spcAft>
            </a:pPr>
            <a:r>
              <a:rPr sz="1100" b="0">
                <a:solidFill>
                  <a:srgbClr val="44515F"/>
                </a:solidFill>
                <a:latin typeface="Calibri"/>
              </a:rPr>
              <a:t>•  Formalize Workflow schedules and retry policies</a:t>
            </a:r>
          </a:p>
        </p:txBody>
      </p:sp>
      <p:sp>
        <p:nvSpPr>
          <p:cNvPr id="11" name="Rounded Rectangle 10"/>
          <p:cNvSpPr/>
          <p:nvPr/>
        </p:nvSpPr>
        <p:spPr>
          <a:xfrm>
            <a:off x="4288536" y="1417320"/>
            <a:ext cx="3639312" cy="3977639"/>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88536" y="1417320"/>
            <a:ext cx="3639312" cy="457200"/>
          </a:xfrm>
          <a:prstGeom prst="roundRect">
            <a:avLst>
              <a:gd name="adj" fmla="val 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71416" y="1490472"/>
            <a:ext cx="3273552" cy="320040"/>
          </a:xfrm>
          <a:prstGeom prst="rect">
            <a:avLst/>
          </a:prstGeom>
          <a:noFill/>
        </p:spPr>
        <p:txBody>
          <a:bodyPr wrap="square" lIns="0" tIns="0" rIns="0" bIns="0" anchor="ctr">
            <a:spAutoFit/>
          </a:bodyPr>
          <a:lstStyle/>
          <a:p>
            <a:pPr algn="l">
              <a:lnSpc>
                <a:spcPct val="100000"/>
              </a:lnSpc>
            </a:pPr>
            <a:r>
              <a:rPr sz="1350" b="1" i="0">
                <a:solidFill>
                  <a:srgbClr val="FFFFFF"/>
                </a:solidFill>
                <a:latin typeface="Calibri"/>
              </a:rPr>
              <a:t>MEDIUM TERM</a:t>
            </a:r>
          </a:p>
        </p:txBody>
      </p:sp>
      <p:sp>
        <p:nvSpPr>
          <p:cNvPr id="14" name="TextBox 13"/>
          <p:cNvSpPr txBox="1"/>
          <p:nvPr/>
        </p:nvSpPr>
        <p:spPr>
          <a:xfrm>
            <a:off x="4517136" y="2039112"/>
            <a:ext cx="3182112" cy="3154679"/>
          </a:xfrm>
          <a:prstGeom prst="rect">
            <a:avLst/>
          </a:prstGeom>
          <a:noFill/>
        </p:spPr>
        <p:txBody>
          <a:bodyPr wrap="square" lIns="0" tIns="0" rIns="0" bIns="0" anchor="t">
            <a:spAutoFit/>
          </a:bodyPr>
          <a:lstStyle/>
          <a:p>
            <a:pPr>
              <a:lnSpc>
                <a:spcPct val="105000"/>
              </a:lnSpc>
              <a:spcAft>
                <a:spcPts val="1100"/>
              </a:spcAft>
            </a:pPr>
            <a:r>
              <a:rPr sz="1100" b="0">
                <a:solidFill>
                  <a:srgbClr val="44515F"/>
                </a:solidFill>
                <a:latin typeface="Calibri"/>
              </a:rPr>
              <a:t>•  Add more feature groups through the registry</a:t>
            </a:r>
          </a:p>
          <a:p>
            <a:pPr>
              <a:lnSpc>
                <a:spcPct val="105000"/>
              </a:lnSpc>
              <a:spcAft>
                <a:spcPts val="1100"/>
              </a:spcAft>
            </a:pPr>
            <a:r>
              <a:rPr sz="1100" b="0">
                <a:solidFill>
                  <a:srgbClr val="44515F"/>
                </a:solidFill>
                <a:latin typeface="Calibri"/>
              </a:rPr>
              <a:t>•  Add model-specific feature specifications</a:t>
            </a:r>
          </a:p>
          <a:p>
            <a:pPr>
              <a:lnSpc>
                <a:spcPct val="105000"/>
              </a:lnSpc>
              <a:spcAft>
                <a:spcPts val="1100"/>
              </a:spcAft>
            </a:pPr>
            <a:r>
              <a:rPr sz="1100" b="0">
                <a:solidFill>
                  <a:srgbClr val="44515F"/>
                </a:solidFill>
                <a:latin typeface="Calibri"/>
              </a:rPr>
              <a:t>•  Introduce freshness and drift monitoring</a:t>
            </a:r>
          </a:p>
          <a:p>
            <a:pPr>
              <a:lnSpc>
                <a:spcPct val="105000"/>
              </a:lnSpc>
              <a:spcAft>
                <a:spcPts val="1100"/>
              </a:spcAft>
            </a:pPr>
            <a:r>
              <a:rPr sz="1100" b="0">
                <a:solidFill>
                  <a:srgbClr val="44515F"/>
                </a:solidFill>
                <a:latin typeface="Calibri"/>
              </a:rPr>
              <a:t>•  Add data lineage and feature documentation</a:t>
            </a:r>
          </a:p>
          <a:p>
            <a:pPr>
              <a:lnSpc>
                <a:spcPct val="105000"/>
              </a:lnSpc>
              <a:spcAft>
                <a:spcPts val="1100"/>
              </a:spcAft>
            </a:pPr>
            <a:r>
              <a:rPr sz="1100" b="0">
                <a:solidFill>
                  <a:srgbClr val="44515F"/>
                </a:solidFill>
                <a:latin typeface="Calibri"/>
              </a:rPr>
              <a:t>•  Optimize processing for larger policy histories</a:t>
            </a:r>
          </a:p>
        </p:txBody>
      </p:sp>
      <p:sp>
        <p:nvSpPr>
          <p:cNvPr id="15" name="Rounded Rectangle 14"/>
          <p:cNvSpPr/>
          <p:nvPr/>
        </p:nvSpPr>
        <p:spPr>
          <a:xfrm>
            <a:off x="8074151" y="1417320"/>
            <a:ext cx="3639312" cy="3977639"/>
          </a:xfrm>
          <a:prstGeom prst="roundRect">
            <a:avLst>
              <a:gd name="adj" fmla="val 6000"/>
            </a:avLst>
          </a:prstGeom>
          <a:solidFill>
            <a:srgbClr val="FFFFFF"/>
          </a:solidFill>
          <a:ln w="9525">
            <a:solidFill>
              <a:srgbClr val="DCE3EA"/>
            </a:solid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74151" y="1417320"/>
            <a:ext cx="3639312" cy="457200"/>
          </a:xfrm>
          <a:prstGeom prst="roundRect">
            <a:avLst>
              <a:gd name="adj" fmla="val 0"/>
            </a:avLst>
          </a:prstGeom>
          <a:solidFill>
            <a:srgbClr val="C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1490472"/>
            <a:ext cx="3273552" cy="320040"/>
          </a:xfrm>
          <a:prstGeom prst="rect">
            <a:avLst/>
          </a:prstGeom>
          <a:noFill/>
        </p:spPr>
        <p:txBody>
          <a:bodyPr wrap="square" lIns="0" tIns="0" rIns="0" bIns="0" anchor="ctr">
            <a:spAutoFit/>
          </a:bodyPr>
          <a:lstStyle/>
          <a:p>
            <a:pPr algn="l">
              <a:lnSpc>
                <a:spcPct val="100000"/>
              </a:lnSpc>
            </a:pPr>
            <a:r>
              <a:rPr sz="1350" b="1" i="0">
                <a:solidFill>
                  <a:srgbClr val="FFFFFF"/>
                </a:solidFill>
                <a:latin typeface="Calibri"/>
              </a:rPr>
              <a:t>LONG TERM</a:t>
            </a:r>
          </a:p>
        </p:txBody>
      </p:sp>
      <p:sp>
        <p:nvSpPr>
          <p:cNvPr id="18" name="TextBox 17"/>
          <p:cNvSpPr txBox="1"/>
          <p:nvPr/>
        </p:nvSpPr>
        <p:spPr>
          <a:xfrm>
            <a:off x="8302751" y="2039112"/>
            <a:ext cx="3182112" cy="3154679"/>
          </a:xfrm>
          <a:prstGeom prst="rect">
            <a:avLst/>
          </a:prstGeom>
          <a:noFill/>
        </p:spPr>
        <p:txBody>
          <a:bodyPr wrap="square" lIns="0" tIns="0" rIns="0" bIns="0" anchor="t">
            <a:spAutoFit/>
          </a:bodyPr>
          <a:lstStyle/>
          <a:p>
            <a:pPr>
              <a:lnSpc>
                <a:spcPct val="105000"/>
              </a:lnSpc>
              <a:spcAft>
                <a:spcPts val="1100"/>
              </a:spcAft>
            </a:pPr>
            <a:r>
              <a:rPr sz="1100" b="0">
                <a:solidFill>
                  <a:srgbClr val="44515F"/>
                </a:solidFill>
                <a:latin typeface="Calibri"/>
              </a:rPr>
              <a:t>•  Support additional insurance product lines</a:t>
            </a:r>
          </a:p>
          <a:p>
            <a:pPr>
              <a:lnSpc>
                <a:spcPct val="105000"/>
              </a:lnSpc>
              <a:spcAft>
                <a:spcPts val="1100"/>
              </a:spcAft>
            </a:pPr>
            <a:r>
              <a:rPr sz="1100" b="0">
                <a:solidFill>
                  <a:srgbClr val="44515F"/>
                </a:solidFill>
                <a:latin typeface="Calibri"/>
              </a:rPr>
              <a:t>•  Implement point-in-time training dataset generation</a:t>
            </a:r>
          </a:p>
          <a:p>
            <a:pPr>
              <a:lnSpc>
                <a:spcPct val="105000"/>
              </a:lnSpc>
              <a:spcAft>
                <a:spcPts val="1100"/>
              </a:spcAft>
            </a:pPr>
            <a:r>
              <a:rPr sz="1100" b="0">
                <a:solidFill>
                  <a:srgbClr val="44515F"/>
                </a:solidFill>
                <a:latin typeface="Calibri"/>
              </a:rPr>
              <a:t>•  Add online/offline feature-consistency validation</a:t>
            </a:r>
          </a:p>
          <a:p>
            <a:pPr>
              <a:lnSpc>
                <a:spcPct val="105000"/>
              </a:lnSpc>
              <a:spcAft>
                <a:spcPts val="1100"/>
              </a:spcAft>
            </a:pPr>
            <a:r>
              <a:rPr sz="1100" b="0">
                <a:solidFill>
                  <a:srgbClr val="44515F"/>
                </a:solidFill>
                <a:latin typeface="Calibri"/>
              </a:rPr>
              <a:t>•  Create feature discovery and governance workflows</a:t>
            </a:r>
          </a:p>
          <a:p>
            <a:pPr>
              <a:lnSpc>
                <a:spcPct val="105000"/>
              </a:lnSpc>
              <a:spcAft>
                <a:spcPts val="1100"/>
              </a:spcAft>
            </a:pPr>
            <a:r>
              <a:rPr sz="1100" b="0">
                <a:solidFill>
                  <a:srgbClr val="44515F"/>
                </a:solidFill>
                <a:latin typeface="Calibri"/>
              </a:rPr>
              <a:t>•  Establish SLOs for freshness and availability</a:t>
            </a:r>
          </a:p>
        </p:txBody>
      </p:sp>
      <p:sp>
        <p:nvSpPr>
          <p:cNvPr id="19" name="Rounded Rectangle 18"/>
          <p:cNvSpPr/>
          <p:nvPr/>
        </p:nvSpPr>
        <p:spPr>
          <a:xfrm>
            <a:off x="502920" y="5577840"/>
            <a:ext cx="11201400" cy="868680"/>
          </a:xfrm>
          <a:prstGeom prst="roundRect">
            <a:avLst>
              <a:gd name="adj" fmla="val 10000"/>
            </a:avLst>
          </a:prstGeom>
          <a:solidFill>
            <a:srgbClr val="0B2545"/>
          </a:solidFill>
          <a:ln>
            <a:noFill/>
          </a:ln>
          <a:effectLst>
            <a:outerShdw blurRad="90000" dist="28000" dir="5400000" rotWithShape="0">
              <a:srgbClr val="9AA7B4">
                <a:alpha val="7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5577840"/>
            <a:ext cx="10561320" cy="868680"/>
          </a:xfrm>
          <a:prstGeom prst="rect">
            <a:avLst/>
          </a:prstGeom>
          <a:noFill/>
        </p:spPr>
        <p:txBody>
          <a:bodyPr wrap="square" lIns="0" tIns="0" rIns="0" bIns="0" anchor="ctr">
            <a:spAutoFit/>
          </a:bodyPr>
          <a:lstStyle/>
          <a:p>
            <a:pPr algn="ctr">
              <a:lnSpc>
                <a:spcPct val="110000"/>
              </a:lnSpc>
            </a:pPr>
            <a:r>
              <a:rPr sz="1450" b="1" i="1">
                <a:solidFill>
                  <a:srgbClr val="FFFFFF"/>
                </a:solidFill>
                <a:latin typeface="Calibri"/>
              </a:rPr>
              <a:t>The project establishes a reusable feature platform that delivers the right feature values</a:t>
            </a:r>
          </a:p>
          <a:p>
            <a:pPr algn="ctr">
              <a:lnSpc>
                <a:spcPct val="110000"/>
              </a:lnSpc>
            </a:pPr>
            <a:r>
              <a:rPr sz="1450" b="1" i="1">
                <a:solidFill>
                  <a:srgbClr val="FFFFFF"/>
                </a:solidFill>
                <a:latin typeface="Calibri"/>
              </a:rPr>
              <a:t>to every model at the right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2617</Words>
  <Application>Microsoft Office PowerPoint</Application>
  <PresentationFormat>Widescreen</PresentationFormat>
  <Paragraphs>263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_Sneha _</cp:lastModifiedBy>
  <cp:revision>1</cp:revision>
  <dcterms:created xsi:type="dcterms:W3CDTF">2013-01-27T09:14:16Z</dcterms:created>
  <dcterms:modified xsi:type="dcterms:W3CDTF">2026-08-03T02:58:05Z</dcterms:modified>
  <cp:category/>
</cp:coreProperties>
</file>