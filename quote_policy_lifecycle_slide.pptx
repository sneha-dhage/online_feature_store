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152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Quote &amp; Policy Lifecycle: One Continuously Updated Feature Record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92608" y="713232"/>
            <a:ext cx="11567160" cy="0"/>
          </a:xfrm>
          <a:prstGeom prst="line">
            <a:avLst/>
          </a:prstGeom>
          <a:noFill/>
          <a:ln w="31750">
            <a:solidFill>
              <a:srgbClr val="082B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60120"/>
            <a:ext cx="3054096" cy="4663440"/>
          </a:xfrm>
          <a:prstGeom prst="roundRect">
            <a:avLst>
              <a:gd name="adj" fmla="val 3593"/>
            </a:avLst>
          </a:prstGeom>
          <a:solidFill>
            <a:srgbClr val="FFFFFF">
              <a:alpha val="0"/>
            </a:srgbClr>
          </a:solidFill>
          <a:ln w="13970">
            <a:solidFill>
              <a:srgbClr val="8AAE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1556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2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Quote / Policy Events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703320" y="960120"/>
            <a:ext cx="8092440" cy="4663440"/>
          </a:xfrm>
          <a:prstGeom prst="roundRect">
            <a:avLst>
              <a:gd name="adj" fmla="val 2353"/>
            </a:avLst>
          </a:prstGeom>
          <a:solidFill>
            <a:srgbClr val="FFFFFF">
              <a:alpha val="0"/>
            </a:srgbClr>
          </a:solidFill>
          <a:ln w="13970">
            <a:solidFill>
              <a:srgbClr val="8AAE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7912" y="1115568"/>
            <a:ext cx="7763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2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 Online Feature Store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072384" y="1792224"/>
            <a:ext cx="384048" cy="0"/>
          </a:xfrm>
          <a:prstGeom prst="line">
            <a:avLst/>
          </a:prstGeom>
          <a:noFill/>
          <a:ln w="25400">
            <a:solidFill>
              <a:srgbClr val="082B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72384" y="2542032"/>
            <a:ext cx="384048" cy="0"/>
          </a:xfrm>
          <a:prstGeom prst="line">
            <a:avLst/>
          </a:prstGeom>
          <a:noFill/>
          <a:ln w="25400">
            <a:solidFill>
              <a:srgbClr val="082B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3291840"/>
            <a:ext cx="384048" cy="0"/>
          </a:xfrm>
          <a:prstGeom prst="line">
            <a:avLst/>
          </a:prstGeom>
          <a:noFill/>
          <a:ln w="25400">
            <a:solidFill>
              <a:srgbClr val="082B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2384" y="4041648"/>
            <a:ext cx="384048" cy="0"/>
          </a:xfrm>
          <a:prstGeom prst="line">
            <a:avLst/>
          </a:prstGeom>
          <a:noFill/>
          <a:ln w="25400">
            <a:solidFill>
              <a:srgbClr val="082B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792224"/>
            <a:ext cx="0" cy="2249424"/>
          </a:xfrm>
          <a:prstGeom prst="line">
            <a:avLst/>
          </a:prstGeom>
          <a:noFill/>
          <a:ln w="25400">
            <a:solidFill>
              <a:srgbClr val="082B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2926080"/>
            <a:ext cx="978408" cy="0"/>
          </a:xfrm>
          <a:prstGeom prst="line">
            <a:avLst/>
          </a:prstGeom>
          <a:noFill/>
          <a:ln w="27940">
            <a:solidFill>
              <a:srgbClr val="082B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72384" y="4791456"/>
            <a:ext cx="1801368" cy="0"/>
          </a:xfrm>
          <a:prstGeom prst="line">
            <a:avLst/>
          </a:prstGeom>
          <a:noFill/>
          <a:ln w="27940">
            <a:solidFill>
              <a:srgbClr val="082B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50992" y="4507992"/>
            <a:ext cx="0" cy="-987552"/>
          </a:xfrm>
          <a:prstGeom prst="line">
            <a:avLst/>
          </a:prstGeom>
          <a:noFill/>
          <a:ln w="27940">
            <a:solidFill>
              <a:srgbClr val="082B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58200" y="3502152"/>
            <a:ext cx="0" cy="795528"/>
          </a:xfrm>
          <a:prstGeom prst="line">
            <a:avLst/>
          </a:prstGeom>
          <a:noFill/>
          <a:ln w="27940">
            <a:solidFill>
              <a:srgbClr val="082B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70848" y="2596896"/>
            <a:ext cx="621792" cy="0"/>
          </a:xfrm>
          <a:prstGeom prst="line">
            <a:avLst/>
          </a:prstGeom>
          <a:noFill/>
          <a:ln w="27940">
            <a:solidFill>
              <a:srgbClr val="082B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789920" y="2596896"/>
            <a:ext cx="594360" cy="0"/>
          </a:xfrm>
          <a:prstGeom prst="line">
            <a:avLst/>
          </a:prstGeom>
          <a:noFill/>
          <a:ln w="27940">
            <a:solidFill>
              <a:srgbClr val="082B6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611880" y="23225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444398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until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06440" y="384048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date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0" y="371246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active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preserved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0976" y="1499616"/>
            <a:ext cx="231343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CE3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created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66928" y="1673352"/>
            <a:ext cx="274320" cy="274320"/>
          </a:xfrm>
          <a:prstGeom prst="ellipse">
            <a:avLst/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50976" y="2249424"/>
            <a:ext cx="231343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CE3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history added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(past 3 years)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566928" y="2423160"/>
            <a:ext cx="274320" cy="274320"/>
          </a:xfrm>
          <a:prstGeom prst="ellipse">
            <a:avLst/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0976" y="2999232"/>
            <a:ext cx="231343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CE3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added / updated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66928" y="3172968"/>
            <a:ext cx="274320" cy="274320"/>
          </a:xfrm>
          <a:prstGeom prst="ellipse">
            <a:avLst/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50976" y="3749040"/>
            <a:ext cx="231343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CE3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bound / endorsement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66928" y="3922776"/>
            <a:ext cx="274320" cy="274320"/>
          </a:xfrm>
          <a:prstGeom prst="ellipse">
            <a:avLst/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50976" y="4498848"/>
            <a:ext cx="231343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CE3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Future-dated change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566928" y="4672584"/>
            <a:ext cx="274320" cy="274320"/>
          </a:xfrm>
          <a:prstGeom prst="ellipse">
            <a:avLst/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1517904"/>
            <a:ext cx="4590288" cy="411480"/>
          </a:xfrm>
          <a:prstGeom prst="roundRect">
            <a:avLst>
              <a:gd name="adj" fmla="val 26667"/>
            </a:avLst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ACTIVE QUOTE / POLICY FEATURE RECORD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80560" y="1984248"/>
            <a:ext cx="4590288" cy="1298448"/>
          </a:xfrm>
          <a:prstGeom prst="roundRect">
            <a:avLst>
              <a:gd name="adj" fmla="val 1408"/>
            </a:avLst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current values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quote / policy ID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losses_3yr, vehicle_count, driver_count, coverage flags, premium-related features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279392"/>
            <a:ext cx="2057400" cy="950976"/>
          </a:xfrm>
          <a:prstGeom prst="roundRect">
            <a:avLst>
              <a:gd name="adj" fmla="val 9615"/>
            </a:avLst>
          </a:prstGeom>
          <a:solidFill>
            <a:srgbClr val="EAF3FF"/>
          </a:solidFill>
          <a:ln w="12700">
            <a:solidFill>
              <a:srgbClr val="8AAE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Future-effective changes held until effective date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7360920" y="4279392"/>
            <a:ext cx="2240280" cy="950976"/>
          </a:xfrm>
          <a:prstGeom prst="roundRect">
            <a:avLst>
              <a:gd name="adj" fmla="val 9615"/>
            </a:avLst>
          </a:prstGeom>
          <a:solidFill>
            <a:srgbClr val="EAF3FF"/>
          </a:solidFill>
          <a:ln w="12700">
            <a:solidFill>
              <a:srgbClr val="8AAE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active version preserved for point-in-time traceability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9646920" y="1444752"/>
            <a:ext cx="1234440" cy="20116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8AAE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lookup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quote ID / policy ID</a:t>
            </a:r>
            <a:endParaRPr lang="en-US" sz="1020" dirty="0"/>
          </a:p>
          <a:p>
            <a:pPr algn="ctr" indent="0" marL="0">
              <a:buNone/>
            </a:pP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Serves latest active features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recalculation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11045952" y="2212848"/>
            <a:ext cx="548640" cy="786384"/>
          </a:xfrm>
          <a:prstGeom prst="roundRect">
            <a:avLst>
              <a:gd name="adj" fmla="val 16667"/>
            </a:avLst>
          </a:prstGeom>
          <a:solidFill>
            <a:srgbClr val="082B68"/>
          </a:solidFill>
          <a:ln w="12700">
            <a:solidFill>
              <a:srgbClr val="082B6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governed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values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serving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97280" y="5870448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One trusted feature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3584448" y="5870448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Immediate updates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needed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6071616" y="5870448"/>
            <a:ext cx="2514600" cy="658368"/>
          </a:xfrm>
          <a:prstGeom prst="roundRect">
            <a:avLst>
              <a:gd name="adj" fmla="val 13889"/>
            </a:avLst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Future changes wait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until effective date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8750808" y="5870448"/>
            <a:ext cx="2404872" cy="658368"/>
          </a:xfrm>
          <a:prstGeom prst="roundRect">
            <a:avLst>
              <a:gd name="adj" fmla="val 13889"/>
            </a:avLst>
          </a:prstGeom>
          <a:solidFill>
            <a:srgbClr val="082B68"/>
          </a:solidFill>
          <a:ln>
            <a:solidFill>
              <a:srgbClr val="082B6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History preserved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traceability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256032" y="61539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82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Quote &amp; Policy Lifecycle: One Continuously Updated Feature Record</dc:title>
  <dc:subject>Quote and Policy Lifecycle Online Feature Store</dc:subject>
  <dc:creator>OpenAI</dc:creator>
  <cp:lastModifiedBy>OpenAI</cp:lastModifiedBy>
  <cp:revision>1</cp:revision>
  <dcterms:created xsi:type="dcterms:W3CDTF">2026-08-05T16:41:21Z</dcterms:created>
  <dcterms:modified xsi:type="dcterms:W3CDTF">2026-08-05T16:41:21Z</dcterms:modified>
</cp:coreProperties>
</file>