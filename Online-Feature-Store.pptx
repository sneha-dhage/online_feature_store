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nehal.dhage@farmersinsurance.com" TargetMode="External"/><Relationship Id="rId1" Type="http://schemas.openxmlformats.org/officeDocument/2006/relationships/image" Target="../media/image-1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461120"/>
            <a:ext cx="3052837" cy="215354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503611"/>
            <a:ext cx="333992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 ENGINEERING INTERNSHIP · SUMMER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73317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Online Feature Store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388766"/>
            <a:ext cx="4722763" cy="129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Ready-to-use policy data for ML models — kept up to date, served per policy in as low as 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~15 ms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Snehal Dhage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Analytics Engineering Intern · Jef's Data Science &amp; Analytics Solutions Team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Advisor: Rajavardhan Nagolu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F5F547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snehal.dhage@farmersinsurance.com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459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Agenda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119262"/>
            <a:ext cx="4007197" cy="800919"/>
          </a:xfrm>
          <a:prstGeom prst="roundRect">
            <a:avLst>
              <a:gd name="adj" fmla="val 2614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35645" y="1258788"/>
            <a:ext cx="37281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01 · Introduction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5645" y="1559198"/>
            <a:ext cx="3728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 I am and what I built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40684" y="1119262"/>
            <a:ext cx="4007197" cy="800919"/>
          </a:xfrm>
          <a:prstGeom prst="roundRect">
            <a:avLst>
              <a:gd name="adj" fmla="val 261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80211" y="1258788"/>
            <a:ext cx="37281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02 · Background &amp; Challenge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0211" y="1559198"/>
            <a:ext cx="3728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on-demand problem we're solving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6119" y="2057549"/>
            <a:ext cx="4007197" cy="800919"/>
          </a:xfrm>
          <a:prstGeom prst="roundRect">
            <a:avLst>
              <a:gd name="adj" fmla="val 261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35645" y="2197075"/>
            <a:ext cx="37281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03 · Approach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5645" y="2497485"/>
            <a:ext cx="3728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vs. after the feature store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40684" y="2057549"/>
            <a:ext cx="4007197" cy="800919"/>
          </a:xfrm>
          <a:prstGeom prst="roundRect">
            <a:avLst>
              <a:gd name="adj" fmla="val 261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780211" y="2197075"/>
            <a:ext cx="37281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04 · Architecture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0211" y="2497485"/>
            <a:ext cx="3728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 design and routing logic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6119" y="2995836"/>
            <a:ext cx="4007197" cy="800919"/>
          </a:xfrm>
          <a:prstGeom prst="roundRect">
            <a:avLst>
              <a:gd name="adj" fmla="val 261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5645" y="3135362"/>
            <a:ext cx="37281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05 · Features &amp; Calculations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645" y="3435772"/>
            <a:ext cx="3728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features across two groups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40684" y="2995836"/>
            <a:ext cx="4007197" cy="800919"/>
          </a:xfrm>
          <a:prstGeom prst="roundRect">
            <a:avLst>
              <a:gd name="adj" fmla="val 261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780211" y="3135362"/>
            <a:ext cx="37281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06 · Demo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0211" y="3435772"/>
            <a:ext cx="3728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walkthrough of the pipeline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6119" y="3934123"/>
            <a:ext cx="4007197" cy="800919"/>
          </a:xfrm>
          <a:prstGeom prst="roundRect">
            <a:avLst>
              <a:gd name="adj" fmla="val 2614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35645" y="4073649"/>
            <a:ext cx="37281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07 · Next Steps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645" y="4374059"/>
            <a:ext cx="3728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Path to production readiness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0684" y="3934123"/>
            <a:ext cx="4007197" cy="800919"/>
          </a:xfrm>
          <a:prstGeom prst="roundRect">
            <a:avLst>
              <a:gd name="adj" fmla="val 2614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780211" y="4073649"/>
            <a:ext cx="37281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08 · What I Learned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780211" y="4374059"/>
            <a:ext cx="3728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 from the internship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22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397868"/>
            <a:ext cx="3257327" cy="3003352"/>
          </a:xfrm>
          <a:prstGeom prst="roundRect">
            <a:avLst>
              <a:gd name="adj" fmla="val 70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539627"/>
            <a:ext cx="29738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Snehal Dhage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902842"/>
            <a:ext cx="2973809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 Engineering Intern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Graduate Student, Business Analytics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University of Texas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5781" y="2905720"/>
            <a:ext cx="2973809" cy="19050"/>
          </a:xfrm>
          <a:prstGeom prst="roundRect">
            <a:avLst>
              <a:gd name="adj" fmla="val 50000"/>
            </a:avLst>
          </a:prstGeom>
          <a:solidFill>
            <a:srgbClr val="BFBF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5781" y="3119661"/>
            <a:ext cx="2973809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Advisor: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Rajavardhan Nagolu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Jef's Data Science &amp; Analytics Solutions 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99892" y="1539627"/>
            <a:ext cx="475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Who I 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99892" y="1902842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&amp; AI Engineer advancing engineering skills through hands-on data science and AI work on real-world insurance use cases.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99892" y="2498229"/>
            <a:ext cx="475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Summer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99892" y="2861444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an Online Feature Store — a system that serves pre-computed policy features to ML models in real time.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99892" y="3456831"/>
            <a:ext cx="475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99892" y="3820046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model that scores a policy needs consistent, fast, trustworthy inputs. This project is the pipeline that makes that possible.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06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Background &amp; Challenge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5800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On-Demand Problem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521223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model request hits the policy system and rebuilds data from scratch — a round trip costing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~160ms–1000ms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Slow, repetitive, with no control over when updates take effect.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15800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Same Event, Different Timing Needs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521223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Models update on different timelines — some immediately, others only when a policy change takes effect. A single transaction can carry both immediate features and future-dated ones. The store must route each piece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362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Approach: Before &amp; After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75209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 policy changes as they happen and prepare the data models need once, not on every request. Each update is applied right away or held until its effective date.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787203"/>
            <a:ext cx="643235" cy="205234"/>
          </a:xfrm>
          <a:prstGeom prst="roundRect">
            <a:avLst>
              <a:gd name="adj" fmla="val 7901"/>
            </a:avLst>
          </a:prstGeom>
          <a:solidFill>
            <a:srgbClr val="494904"/>
          </a:solidFill>
          <a:ln/>
        </p:spPr>
      </p:sp>
      <p:sp>
        <p:nvSpPr>
          <p:cNvPr id="5" name="Text 3"/>
          <p:cNvSpPr/>
          <p:nvPr/>
        </p:nvSpPr>
        <p:spPr>
          <a:xfrm>
            <a:off x="577155" y="1827684"/>
            <a:ext cx="93836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2043931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On-Demand Pattern 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9001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· 160–1000 ms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99928"/>
            <a:ext cx="5183237" cy="1876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6597" y="3818261"/>
            <a:ext cx="1298458" cy="1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Serving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76597" y="3252711"/>
            <a:ext cx="1601071" cy="162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On-Demand Recalculation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76597" y="2681389"/>
            <a:ext cx="1298458" cy="1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Policy System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6119" y="4421163"/>
            <a:ext cx="56404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Slow and repetitive — no control over when updates take effect.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13772" y="1945332"/>
            <a:ext cx="403250" cy="205234"/>
          </a:xfrm>
          <a:prstGeom prst="roundRect">
            <a:avLst>
              <a:gd name="adj" fmla="val 7901"/>
            </a:avLst>
          </a:prstGeom>
          <a:solidFill>
            <a:srgbClr val="494904"/>
          </a:solidFill>
          <a:ln/>
        </p:spPr>
      </p:sp>
      <p:sp>
        <p:nvSpPr>
          <p:cNvPr id="13" name="Text 10"/>
          <p:cNvSpPr/>
          <p:nvPr/>
        </p:nvSpPr>
        <p:spPr>
          <a:xfrm>
            <a:off x="6094809" y="1985814"/>
            <a:ext cx="698376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013772" y="2202061"/>
            <a:ext cx="26387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Online Feature Store Pipeline 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· 15–75 ms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772" y="2769171"/>
            <a:ext cx="2638797" cy="11378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91381" y="3691254"/>
            <a:ext cx="598631" cy="7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Store</a:t>
            </a:r>
            <a:endParaRPr lang="en-US" sz="450" dirty="0"/>
          </a:p>
        </p:txBody>
      </p:sp>
      <p:sp>
        <p:nvSpPr>
          <p:cNvPr id="17" name="Text 13"/>
          <p:cNvSpPr/>
          <p:nvPr/>
        </p:nvSpPr>
        <p:spPr>
          <a:xfrm>
            <a:off x="6191381" y="3427856"/>
            <a:ext cx="598631" cy="7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Timing Control</a:t>
            </a:r>
            <a:endParaRPr lang="en-US" sz="450" dirty="0"/>
          </a:p>
        </p:txBody>
      </p:sp>
      <p:sp>
        <p:nvSpPr>
          <p:cNvPr id="18" name="Text 14"/>
          <p:cNvSpPr/>
          <p:nvPr/>
        </p:nvSpPr>
        <p:spPr>
          <a:xfrm>
            <a:off x="6191381" y="3167120"/>
            <a:ext cx="598631" cy="7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Compute Once</a:t>
            </a:r>
            <a:endParaRPr lang="en-US" sz="450" dirty="0"/>
          </a:p>
        </p:txBody>
      </p:sp>
      <p:sp>
        <p:nvSpPr>
          <p:cNvPr id="19" name="Text 15"/>
          <p:cNvSpPr/>
          <p:nvPr/>
        </p:nvSpPr>
        <p:spPr>
          <a:xfrm>
            <a:off x="6191381" y="2903722"/>
            <a:ext cx="598631" cy="7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Policy Updates</a:t>
            </a:r>
            <a:endParaRPr lang="en-US" sz="450" dirty="0"/>
          </a:p>
        </p:txBody>
      </p:sp>
      <p:sp>
        <p:nvSpPr>
          <p:cNvPr id="20" name="Text 16"/>
          <p:cNvSpPr/>
          <p:nvPr/>
        </p:nvSpPr>
        <p:spPr>
          <a:xfrm>
            <a:off x="6013772" y="4051920"/>
            <a:ext cx="26387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≈10× faster — computed once, available always.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682154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50725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Routing Pipeline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70025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PySpark Compute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190140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 Loader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09439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JSON Transaction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08190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raw JSON landing through Bronze ingest, Silver compute, and registry-driven routing — each stage is decoupled and scalable.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96119" y="436847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Group A — Immediate Routing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96119" y="4514627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Always merges into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ACTIVE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right away. Old history row closed and re-snapshotted. Refreshed daily — transaction counts and tenure drift on wall-clock time even with zero new transactions.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663232" y="436847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Group B — Effective-Date Routing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663232" y="4514627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effective date ≤ now → merge to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ACTIVE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If future → insert into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PENDING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hold. Promoted hourly once the date arrives — deduplicated, merged, snapshotted to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HISTORY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then removed from PENDING.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496119" y="4756398"/>
            <a:ext cx="8151763" cy="196155"/>
          </a:xfrm>
          <a:prstGeom prst="roundRect">
            <a:avLst>
              <a:gd name="adj" fmla="val 5421"/>
            </a:avLst>
          </a:prstGeom>
          <a:solidFill>
            <a:srgbClr val="79790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1" y="4844951"/>
            <a:ext cx="88553" cy="70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356" y="4809530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publish_table() → Lakebase Online Store (Postgres) → Feature Serving Endpoint → ~15ms REST lookup by policy ID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 &amp; Calculations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045443"/>
            <a:ext cx="4107135" cy="3708499"/>
          </a:xfrm>
          <a:prstGeom prst="roundRect">
            <a:avLst>
              <a:gd name="adj" fmla="val 57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187202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Group A — Transaction Feature Store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550417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 features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driven by wall-clock time, recomputed daily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1904777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TXN_CNT_1D · TXN_CNT_1W · TXN_CNT_1M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OUTSTANDING_TXN_IND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TENURE_YRS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18720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Group B — Vehicle / Driver / Coverage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1550417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24 features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three calculation patterns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904777"/>
            <a:ext cx="3902943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Snapshot (8):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VEH_CNT, AVG_VEH_AGE, VEH_ADDED_LATEST_TXN, DRVR_CNT, MAX/MIN/AVG_DRVR_AGE, DRVRS_ADDED_LATEST_TXN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Coverage Lag (12):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PREM_CHANGE_AMT, BI/PD/MD + COLL/COMP/PIP added/removed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Change Indicators (4):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COMP_DED_CHANGE_IND, GNDR_CHANGE_IND, MRTL_CHANGE_IND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3719140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PySpark: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explode/groupBy/window lag()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no row-by-row parsing. Snapshot explodes latest arrays; lag compares latest vs. previous matched by VIN + coverage type or driver ID.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2043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963662"/>
            <a:ext cx="398711" cy="59806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20688" y="1169268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4853" y="1063303"/>
            <a:ext cx="76830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Publish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64853" y="1261021"/>
            <a:ext cx="768302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 a test transaction JSON into the landing volume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96119" y="1631752"/>
            <a:ext cx="398711" cy="59806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0688" y="1837358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4853" y="1731392"/>
            <a:ext cx="76830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4853" y="1929110"/>
            <a:ext cx="768302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 Loader ingests into RAW_POLICY_EVENTS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6119" y="2299841"/>
            <a:ext cx="398711" cy="59806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0688" y="2505447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4853" y="2399481"/>
            <a:ext cx="76830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Compute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4853" y="2597200"/>
            <a:ext cx="768302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PySpark recomputes features into COMPUTED_FEATURE_EVENTS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96119" y="2967930"/>
            <a:ext cx="398711" cy="59806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0688" y="3173537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4853" y="3067571"/>
            <a:ext cx="76830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4853" y="3265289"/>
            <a:ext cx="768302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Registry-driven routing into ACTIVE/PENDING plus a history snapshot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96119" y="3636020"/>
            <a:ext cx="398711" cy="59806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20688" y="3841626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4853" y="3735660"/>
            <a:ext cx="76830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4853" y="3933379"/>
            <a:ext cx="768302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the Feature Serving Endpoint — all 29 features back in ~15ms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6119" y="4312890"/>
            <a:ext cx="8151763" cy="318567"/>
          </a:xfrm>
          <a:prstGeom prst="roundRect">
            <a:avLst>
              <a:gd name="adj" fmla="val 4694"/>
            </a:avLst>
          </a:prstGeom>
          <a:solidFill>
            <a:srgbClr val="797907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59" y="4445422"/>
            <a:ext cx="124569" cy="996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19969" y="4407768"/>
            <a:ext cx="8185472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What we'll look at live: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notebooks running against a real policy · ACTIVE/HISTORY tables updating in real time · Feature Serving Endpoint returning refreshed values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05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Next Steps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57089"/>
            <a:ext cx="4004965" cy="1507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2263" y="14558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1943174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Harden Ingestion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schema evolution handling and richer dead-letter-queue alerting for malformed transaction JSON.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357089"/>
            <a:ext cx="4005039" cy="15070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9061" y="14558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803651" y="1943174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Expand Feature Groups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Onboard additional feature groups beyond A/B via the same registry pattern — no pipeline changes needed.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5070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92263" y="310462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56927" y="3591967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 Freshness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38984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SLA dashboards on ACTIVE/PENDING lag and daily drift to catch staleness early.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5070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9061" y="310462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4803651" y="3591967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Scale Online Serving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38984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Load-test the Feature Serving Endpoint and tune the online store for production traffic.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2151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I Learned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947291"/>
            <a:ext cx="4722763" cy="8678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6139" y="1081162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Adapting to Real-World Challenges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116139" y="1328514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Navigated ambiguity and edge cases in history-tracking logic when things didn't go as planned.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916013"/>
            <a:ext cx="4722763" cy="8678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6139" y="2049884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Learning Through Feedback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116139" y="2297237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Asking questions and seeking guidance from my advisor and team built clarity and confidence.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884736"/>
            <a:ext cx="4722763" cy="8678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16139" y="3018606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Technical Skill Development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116139" y="3265959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Hands-on experience with PySpark structured streaming, Delta Change Data Feed, SCD modeling, and Databricks Feature Engineering / Lakebase.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853458"/>
            <a:ext cx="4722763" cy="8678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16139" y="3987329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Engineering &amp; Strategic Understanding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4116139" y="4234681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pipeline design choices — event-driven routing, registry-driven ownership — to real business needs around ML serving latency.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5F54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2026-08-02T19:55:13Z</dcterms:created>
  <dcterms:modified xsi:type="dcterms:W3CDTF">2026-08-02T19:55:13Z</dcterms:modified>
</cp:coreProperties>
</file>