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7" d="100"/>
          <a:sy n="87" d="100"/>
        </p:scale>
        <p:origin x="38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_Sneha _" userId="8bed0b989fa08156" providerId="LiveId" clId="{A3C9F93C-D62B-4C99-9158-0016F787760E}"/>
    <pc:docChg chg="modSld">
      <pc:chgData name="_Sneha _" userId="8bed0b989fa08156" providerId="LiveId" clId="{A3C9F93C-D62B-4C99-9158-0016F787760E}" dt="2026-08-04T03:01:45.480" v="0" actId="1076"/>
      <pc:docMkLst>
        <pc:docMk/>
      </pc:docMkLst>
      <pc:sldChg chg="modSp mod">
        <pc:chgData name="_Sneha _" userId="8bed0b989fa08156" providerId="LiveId" clId="{A3C9F93C-D62B-4C99-9158-0016F787760E}" dt="2026-08-04T03:01:45.480" v="0" actId="1076"/>
        <pc:sldMkLst>
          <pc:docMk/>
          <pc:sldMk cId="0" sldId="259"/>
        </pc:sldMkLst>
        <pc:spChg chg="mod">
          <ac:chgData name="_Sneha _" userId="8bed0b989fa08156" providerId="LiveId" clId="{A3C9F93C-D62B-4C99-9158-0016F787760E}" dt="2026-08-04T03:01:45.480" v="0" actId="1076"/>
          <ac:spMkLst>
            <pc:docMk/>
            <pc:sldMk cId="0" sldId="259"/>
            <ac:spMk id="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0303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line this whole project is in service of: the right feature, at the right time, for every model. Introduce yourself, then move into the story — starting with the problem, not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Seven beats: the problem, today's common pattern, the fix and what makes an online feature store different from computing on demand, a concrete walkthrough of one policy's lifecycle, the business impact of that implementation, where the same pattern shows up outside insurance, and finally a live demo with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things are true before this project. Models duplicate feature logic and can drift from each other. Request-time-only computation leaves no record of what was actually seen, which hurts debugging and audit. Effective date and received date get conflated, so future-dated changes risk going live too early. And historical feature state isn't preserved at all. Land on the highlighted line before moving to what most teams do about it today.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default pattern most organizations start with, and it works fine for one model. Three models each pull the same raw transactions and each write their own feature logic — vehicle counts, driver changes, whatever they individually need. The cost compounds with every additional model: duplicated engineering, features recomputed on every single call instead of once, no guarantee the three models agree, and no shared historical record. That's the gap an online feature store is built to close.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ways to serve features. On-demand computes at request time — freshest in theory, but the caller pays the full computation cost every time, logic gets duplicated per model, and there's no history. An online feature store precomputes ahead of time and serving becomes a lookup — computed once, shared, with history preserved and future-dated changes explicitly separated from current ones. What we built sits deliberately in between the extremes: it's not a slow nightly batch, it's triggered on every new policy event via Change Data Feed, so it gets the freshness people associate with real-time without paying real-time's per-request compute cost.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 one fictional policy, POLICY-1001, through four real transaction types. New business establishes the baseline with no lag comparison available yet. Endorsement 1 adds a vehicle, picked up by the window lag() comparison against the prior transaction. Endorsement 2 adds coverage that's effective next month — it's computed immediately but held in Pending until the hourly job promotes it on the effective date, which is exactly the future-dated-change problem from earlier in the story. Renewal doesn't touch vehicles or drivers at all, but the daily wall-clock job still increments tenure. The punch line is on the right: no matter which of these four transaction types arrives, they all update the exact same single row for this policy — one record per customer, always current — while every prior state is preserved in History for audit.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29 features computed once and shared, roughly 130 milliseconds observed lookup latency, exactly one active row per policy no matter how many transactions have hit it, and three explicit time states — past, present, future. The four benefits underneath are the direct payoff of the design we just walked through: no per-model recalculation, consistent values everywhere, full traceability through history, and a serving layer that scales to more models without more pipelines. The latency number is an observed measurement from testing, not a committed SLA — worth saying explicitly.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pattern isn't insurance-specific — precompute once, serve everywhere is the same shape behind recommendation systems in e-commerce and streaming, fraud and risk scoring in payments, real-time bidding in ad-tech, and underwriting and lending, which is the closest cousin to what we built. In every case the business impact is the same family: faster decisions within a fixed latency budget, consistent signals across every consuming model, and a lot less duplicated engineering per team.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pipeline top to bottom, calling out color, not just boxes. Transaction JSON lands via Auto Loader into Bronze, with malformed rows diverted to a dead-letter queue instead of stalling anything. Change Data Feed on Bronze triggers PySpark feature computation into Silver, and Change Data Feed on Silver triggers registry-driven routing — both event-driven, both triggered micro-batches, not continuous streams. Routing fans out to Active, Pending, and History. Two more triggers keep it correct over time: an hourly job promotes due Pending rows, and a daily job refreshes GROUP_A because those features can drift from wall-clock time alone. Active publishes to Lakebase and is served through the Feature Serving Endpoint that multiple models query.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 off to the live portion: publish a test transaction, run the notebooks in order, inspect Active/Pending/History with the viewer utility, then query the Feature Serving Endpoint directly by policy ID and show the observed latency.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E59"/>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128016"/>
          </a:xfrm>
          <a:prstGeom prst="roundRect">
            <a:avLst>
              <a:gd name="adj" fmla="val 6000"/>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502920"/>
            <a:ext cx="5486400" cy="320040"/>
          </a:xfrm>
          <a:prstGeom prst="rect">
            <a:avLst/>
          </a:prstGeom>
          <a:noFill/>
        </p:spPr>
        <p:txBody>
          <a:bodyPr wrap="square" lIns="0" tIns="0" rIns="0" bIns="0" anchor="t">
            <a:spAutoFit/>
          </a:bodyPr>
          <a:lstStyle/>
          <a:p>
            <a:pPr algn="l">
              <a:lnSpc>
                <a:spcPct val="100000"/>
              </a:lnSpc>
            </a:pPr>
            <a:r>
              <a:rPr sz="1300" b="1" i="0">
                <a:solidFill>
                  <a:srgbClr val="9DC0E3"/>
                </a:solidFill>
                <a:latin typeface="Calibri"/>
              </a:rPr>
              <a:t>FARMERS INSURANCE</a:t>
            </a:r>
          </a:p>
        </p:txBody>
      </p:sp>
      <p:sp>
        <p:nvSpPr>
          <p:cNvPr id="4" name="TextBox 3"/>
          <p:cNvSpPr txBox="1"/>
          <p:nvPr/>
        </p:nvSpPr>
        <p:spPr>
          <a:xfrm>
            <a:off x="914400" y="2148840"/>
            <a:ext cx="10058400" cy="1554480"/>
          </a:xfrm>
          <a:prstGeom prst="rect">
            <a:avLst/>
          </a:prstGeom>
          <a:noFill/>
        </p:spPr>
        <p:txBody>
          <a:bodyPr wrap="square" lIns="0" tIns="0" rIns="0" bIns="0" anchor="t">
            <a:spAutoFit/>
          </a:bodyPr>
          <a:lstStyle/>
          <a:p>
            <a:pPr algn="l">
              <a:lnSpc>
                <a:spcPct val="112000"/>
              </a:lnSpc>
            </a:pPr>
            <a:r>
              <a:rPr sz="3400" b="1" i="0">
                <a:solidFill>
                  <a:srgbClr val="FFFFFF"/>
                </a:solidFill>
                <a:latin typeface="Calibri"/>
              </a:rPr>
              <a:t>The Right Feature, at the Right Time,</a:t>
            </a:r>
          </a:p>
          <a:p>
            <a:pPr algn="l">
              <a:lnSpc>
                <a:spcPct val="112000"/>
              </a:lnSpc>
            </a:pPr>
            <a:r>
              <a:rPr sz="3400" b="1" i="0">
                <a:solidFill>
                  <a:srgbClr val="FFFFFF"/>
                </a:solidFill>
                <a:latin typeface="Calibri"/>
              </a:rPr>
              <a:t>for Every Model</a:t>
            </a:r>
          </a:p>
        </p:txBody>
      </p:sp>
      <p:sp>
        <p:nvSpPr>
          <p:cNvPr id="5" name="TextBox 4"/>
          <p:cNvSpPr txBox="1"/>
          <p:nvPr/>
        </p:nvSpPr>
        <p:spPr>
          <a:xfrm>
            <a:off x="914400" y="3703320"/>
            <a:ext cx="9692640" cy="548640"/>
          </a:xfrm>
          <a:prstGeom prst="rect">
            <a:avLst/>
          </a:prstGeom>
          <a:noFill/>
        </p:spPr>
        <p:txBody>
          <a:bodyPr wrap="square" lIns="0" tIns="0" rIns="0" bIns="0" anchor="t">
            <a:spAutoFit/>
          </a:bodyPr>
          <a:lstStyle/>
          <a:p>
            <a:pPr algn="l">
              <a:lnSpc>
                <a:spcPct val="100000"/>
              </a:lnSpc>
            </a:pPr>
            <a:r>
              <a:rPr sz="1450" b="0" i="1">
                <a:solidFill>
                  <a:srgbClr val="E0A526"/>
                </a:solidFill>
                <a:latin typeface="Calibri"/>
              </a:rPr>
              <a:t>A time-aware online feature store for auto insurance policy data — computed once, served everywhere</a:t>
            </a:r>
          </a:p>
        </p:txBody>
      </p:sp>
      <p:cxnSp>
        <p:nvCxnSpPr>
          <p:cNvPr id="6" name="Connector 5"/>
          <p:cNvCxnSpPr/>
          <p:nvPr/>
        </p:nvCxnSpPr>
        <p:spPr>
          <a:xfrm>
            <a:off x="914400" y="4434840"/>
            <a:ext cx="10332720" cy="0"/>
          </a:xfrm>
          <a:prstGeom prst="line">
            <a:avLst/>
          </a:prstGeom>
          <a:ln w="19050">
            <a:solidFill>
              <a:srgbClr val="3E6FA6"/>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4617720"/>
            <a:ext cx="3657600" cy="320040"/>
          </a:xfrm>
          <a:prstGeom prst="rect">
            <a:avLst/>
          </a:prstGeom>
          <a:noFill/>
        </p:spPr>
        <p:txBody>
          <a:bodyPr wrap="square" lIns="0" tIns="0" rIns="0" bIns="0" anchor="t">
            <a:spAutoFit/>
          </a:bodyPr>
          <a:lstStyle/>
          <a:p>
            <a:pPr algn="l">
              <a:lnSpc>
                <a:spcPct val="100000"/>
              </a:lnSpc>
            </a:pPr>
            <a:r>
              <a:rPr sz="1350" b="1" i="0">
                <a:solidFill>
                  <a:srgbClr val="FFFFFF"/>
                </a:solidFill>
                <a:latin typeface="Calibri"/>
              </a:rPr>
              <a:t>Snehal Dhage</a:t>
            </a:r>
          </a:p>
        </p:txBody>
      </p:sp>
      <p:sp>
        <p:nvSpPr>
          <p:cNvPr id="8" name="TextBox 7"/>
          <p:cNvSpPr txBox="1"/>
          <p:nvPr/>
        </p:nvSpPr>
        <p:spPr>
          <a:xfrm>
            <a:off x="914400" y="4937760"/>
            <a:ext cx="3657600" cy="274320"/>
          </a:xfrm>
          <a:prstGeom prst="rect">
            <a:avLst/>
          </a:prstGeom>
          <a:noFill/>
        </p:spPr>
        <p:txBody>
          <a:bodyPr wrap="square" lIns="0" tIns="0" rIns="0" bIns="0" anchor="t">
            <a:spAutoFit/>
          </a:bodyPr>
          <a:lstStyle/>
          <a:p>
            <a:pPr algn="l">
              <a:lnSpc>
                <a:spcPct val="100000"/>
              </a:lnSpc>
            </a:pPr>
            <a:r>
              <a:rPr sz="1150" b="0" i="0">
                <a:solidFill>
                  <a:srgbClr val="9DC0E3"/>
                </a:solidFill>
                <a:latin typeface="Calibri"/>
              </a:rPr>
              <a:t>August 2026</a:t>
            </a:r>
          </a:p>
        </p:txBody>
      </p:sp>
      <p:sp>
        <p:nvSpPr>
          <p:cNvPr id="9" name="Rounded Rectangle 8"/>
          <p:cNvSpPr/>
          <p:nvPr/>
        </p:nvSpPr>
        <p:spPr>
          <a:xfrm>
            <a:off x="914400" y="5623560"/>
            <a:ext cx="1554480" cy="347472"/>
          </a:xfrm>
          <a:prstGeom prst="roundRect">
            <a:avLst>
              <a:gd name="adj" fmla="val 5000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5623560"/>
            <a:ext cx="1554480" cy="347472"/>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Databricks</a:t>
            </a:r>
          </a:p>
        </p:txBody>
      </p:sp>
      <p:sp>
        <p:nvSpPr>
          <p:cNvPr id="11" name="Rounded Rectangle 10"/>
          <p:cNvSpPr/>
          <p:nvPr/>
        </p:nvSpPr>
        <p:spPr>
          <a:xfrm>
            <a:off x="2615184" y="5623560"/>
            <a:ext cx="1197864" cy="347472"/>
          </a:xfrm>
          <a:prstGeom prst="roundRect">
            <a:avLst>
              <a:gd name="adj" fmla="val 5000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15184" y="5623560"/>
            <a:ext cx="1197864" cy="347472"/>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PySpark</a:t>
            </a:r>
          </a:p>
        </p:txBody>
      </p:sp>
      <p:sp>
        <p:nvSpPr>
          <p:cNvPr id="13" name="Rounded Rectangle 12"/>
          <p:cNvSpPr/>
          <p:nvPr/>
        </p:nvSpPr>
        <p:spPr>
          <a:xfrm>
            <a:off x="3959352" y="5623560"/>
            <a:ext cx="2029968" cy="347472"/>
          </a:xfrm>
          <a:prstGeom prst="roundRect">
            <a:avLst>
              <a:gd name="adj" fmla="val 5000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59352" y="5623560"/>
            <a:ext cx="2029968" cy="347472"/>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Delta Lake CDF</a:t>
            </a:r>
          </a:p>
        </p:txBody>
      </p:sp>
      <p:sp>
        <p:nvSpPr>
          <p:cNvPr id="15" name="Rounded Rectangle 14"/>
          <p:cNvSpPr/>
          <p:nvPr/>
        </p:nvSpPr>
        <p:spPr>
          <a:xfrm>
            <a:off x="6135624" y="5623560"/>
            <a:ext cx="1316736" cy="347472"/>
          </a:xfrm>
          <a:prstGeom prst="roundRect">
            <a:avLst>
              <a:gd name="adj" fmla="val 5000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35624" y="5623560"/>
            <a:ext cx="1316736" cy="347472"/>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Lakebase</a:t>
            </a:r>
          </a:p>
        </p:txBody>
      </p:sp>
      <p:sp>
        <p:nvSpPr>
          <p:cNvPr id="17" name="Rounded Rectangle 16"/>
          <p:cNvSpPr/>
          <p:nvPr/>
        </p:nvSpPr>
        <p:spPr>
          <a:xfrm>
            <a:off x="7598664" y="5623560"/>
            <a:ext cx="2148840" cy="347472"/>
          </a:xfrm>
          <a:prstGeom prst="roundRect">
            <a:avLst>
              <a:gd name="adj" fmla="val 5000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98664" y="5623560"/>
            <a:ext cx="2148840" cy="347472"/>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Feature Serving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gd name="adj" fmla="val 0"/>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292608"/>
            <a:ext cx="1993391" cy="310896"/>
          </a:xfrm>
          <a:prstGeom prst="roundRect">
            <a:avLst>
              <a:gd name="adj" fmla="val 50000"/>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92608"/>
            <a:ext cx="1993391" cy="310896"/>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ROADMAP</a:t>
            </a:r>
          </a:p>
        </p:txBody>
      </p:sp>
      <p:sp>
        <p:nvSpPr>
          <p:cNvPr id="5" name="TextBox 4"/>
          <p:cNvSpPr txBox="1"/>
          <p:nvPr/>
        </p:nvSpPr>
        <p:spPr>
          <a:xfrm>
            <a:off x="502920" y="713232"/>
            <a:ext cx="10789920" cy="548640"/>
          </a:xfrm>
          <a:prstGeom prst="rect">
            <a:avLst/>
          </a:prstGeom>
          <a:noFill/>
        </p:spPr>
        <p:txBody>
          <a:bodyPr wrap="square" lIns="0" tIns="0" rIns="0" bIns="0" anchor="t">
            <a:spAutoFit/>
          </a:bodyPr>
          <a:lstStyle/>
          <a:p>
            <a:pPr algn="l">
              <a:lnSpc>
                <a:spcPct val="100000"/>
              </a:lnSpc>
            </a:pPr>
            <a:r>
              <a:rPr sz="2500" b="1" i="0">
                <a:solidFill>
                  <a:srgbClr val="0B2E59"/>
                </a:solidFill>
                <a:latin typeface="Calibri"/>
              </a:rPr>
              <a:t>Tonight's Story, in Seven Beats</a:t>
            </a:r>
          </a:p>
        </p:txBody>
      </p:sp>
      <p:cxnSp>
        <p:nvCxnSpPr>
          <p:cNvPr id="6" name="Connector 5"/>
          <p:cNvCxnSpPr/>
          <p:nvPr/>
        </p:nvCxnSpPr>
        <p:spPr>
          <a:xfrm>
            <a:off x="502920" y="1261872"/>
            <a:ext cx="11183112" cy="0"/>
          </a:xfrm>
          <a:prstGeom prst="line">
            <a:avLst/>
          </a:prstGeom>
          <a:ln w="25400">
            <a:solidFill>
              <a:srgbClr val="0B2E59"/>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0120" y="1833372"/>
            <a:ext cx="0" cy="3895344"/>
          </a:xfrm>
          <a:prstGeom prst="line">
            <a:avLst/>
          </a:prstGeom>
          <a:ln w="25400">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731520" y="1604772"/>
            <a:ext cx="457200" cy="457200"/>
          </a:xfrm>
          <a:prstGeom prst="ellipse">
            <a:avLst/>
          </a:prstGeom>
          <a:solidFill>
            <a:srgbClr val="C1443A"/>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604772"/>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1</a:t>
            </a:r>
          </a:p>
        </p:txBody>
      </p:sp>
      <p:sp>
        <p:nvSpPr>
          <p:cNvPr id="10" name="TextBox 9"/>
          <p:cNvSpPr txBox="1"/>
          <p:nvPr/>
        </p:nvSpPr>
        <p:spPr>
          <a:xfrm>
            <a:off x="1417320" y="1508760"/>
            <a:ext cx="2651760" cy="649224"/>
          </a:xfrm>
          <a:prstGeom prst="rect">
            <a:avLst/>
          </a:prstGeom>
          <a:noFill/>
        </p:spPr>
        <p:txBody>
          <a:bodyPr wrap="square" lIns="0" tIns="0" rIns="0" bIns="0" anchor="ctr">
            <a:spAutoFit/>
          </a:bodyPr>
          <a:lstStyle/>
          <a:p>
            <a:pPr algn="l">
              <a:lnSpc>
                <a:spcPct val="100000"/>
              </a:lnSpc>
            </a:pPr>
            <a:r>
              <a:rPr sz="1450" b="1" i="0">
                <a:solidFill>
                  <a:srgbClr val="0B2E59"/>
                </a:solidFill>
                <a:latin typeface="Calibri"/>
              </a:rPr>
              <a:t>The Problem</a:t>
            </a:r>
          </a:p>
        </p:txBody>
      </p:sp>
      <p:sp>
        <p:nvSpPr>
          <p:cNvPr id="11" name="TextBox 10"/>
          <p:cNvSpPr txBox="1"/>
          <p:nvPr/>
        </p:nvSpPr>
        <p:spPr>
          <a:xfrm>
            <a:off x="4160520" y="1508760"/>
            <a:ext cx="7498079" cy="649224"/>
          </a:xfrm>
          <a:prstGeom prst="rect">
            <a:avLst/>
          </a:prstGeom>
          <a:noFill/>
        </p:spPr>
        <p:txBody>
          <a:bodyPr wrap="square" lIns="0" tIns="0" rIns="0" bIns="0" anchor="ctr">
            <a:spAutoFit/>
          </a:bodyPr>
          <a:lstStyle/>
          <a:p>
            <a:pPr algn="l">
              <a:lnSpc>
                <a:spcPct val="105000"/>
              </a:lnSpc>
            </a:pPr>
            <a:r>
              <a:rPr sz="1200" b="0" i="0">
                <a:solidFill>
                  <a:srgbClr val="1B222C"/>
                </a:solidFill>
                <a:latin typeface="Calibri"/>
              </a:rPr>
              <a:t>Why per-model feature computation breaks down</a:t>
            </a:r>
          </a:p>
        </p:txBody>
      </p:sp>
      <p:sp>
        <p:nvSpPr>
          <p:cNvPr id="12" name="Oval 11"/>
          <p:cNvSpPr/>
          <p:nvPr/>
        </p:nvSpPr>
        <p:spPr>
          <a:xfrm>
            <a:off x="731520" y="2253996"/>
            <a:ext cx="457200" cy="457200"/>
          </a:xfrm>
          <a:prstGeom prst="ellipse">
            <a:avLst/>
          </a:prstGeom>
          <a:solidFill>
            <a:srgbClr val="6B768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2253996"/>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2</a:t>
            </a:r>
          </a:p>
        </p:txBody>
      </p:sp>
      <p:sp>
        <p:nvSpPr>
          <p:cNvPr id="14" name="TextBox 13"/>
          <p:cNvSpPr txBox="1"/>
          <p:nvPr/>
        </p:nvSpPr>
        <p:spPr>
          <a:xfrm>
            <a:off x="1417320" y="2157984"/>
            <a:ext cx="2651760" cy="649224"/>
          </a:xfrm>
          <a:prstGeom prst="rect">
            <a:avLst/>
          </a:prstGeom>
          <a:noFill/>
        </p:spPr>
        <p:txBody>
          <a:bodyPr wrap="square" lIns="0" tIns="0" rIns="0" bIns="0" anchor="ctr">
            <a:spAutoFit/>
          </a:bodyPr>
          <a:lstStyle/>
          <a:p>
            <a:pPr algn="l">
              <a:lnSpc>
                <a:spcPct val="100000"/>
              </a:lnSpc>
            </a:pPr>
            <a:r>
              <a:rPr sz="1450" b="1" i="0">
                <a:solidFill>
                  <a:srgbClr val="0B2E59"/>
                </a:solidFill>
                <a:latin typeface="Calibri"/>
              </a:rPr>
              <a:t>Today's Pattern</a:t>
            </a:r>
          </a:p>
        </p:txBody>
      </p:sp>
      <p:sp>
        <p:nvSpPr>
          <p:cNvPr id="15" name="TextBox 14"/>
          <p:cNvSpPr txBox="1"/>
          <p:nvPr/>
        </p:nvSpPr>
        <p:spPr>
          <a:xfrm>
            <a:off x="4160520" y="2157984"/>
            <a:ext cx="7498079" cy="649224"/>
          </a:xfrm>
          <a:prstGeom prst="rect">
            <a:avLst/>
          </a:prstGeom>
          <a:noFill/>
        </p:spPr>
        <p:txBody>
          <a:bodyPr wrap="square" lIns="0" tIns="0" rIns="0" bIns="0" anchor="ctr">
            <a:spAutoFit/>
          </a:bodyPr>
          <a:lstStyle/>
          <a:p>
            <a:pPr algn="l">
              <a:lnSpc>
                <a:spcPct val="105000"/>
              </a:lnSpc>
            </a:pPr>
            <a:r>
              <a:rPr sz="1200" b="0" i="0">
                <a:solidFill>
                  <a:srgbClr val="1B222C"/>
                </a:solidFill>
                <a:latin typeface="Calibri"/>
              </a:rPr>
              <a:t>How most teams solve this right now</a:t>
            </a:r>
          </a:p>
        </p:txBody>
      </p:sp>
      <p:sp>
        <p:nvSpPr>
          <p:cNvPr id="16" name="Oval 15"/>
          <p:cNvSpPr/>
          <p:nvPr/>
        </p:nvSpPr>
        <p:spPr>
          <a:xfrm>
            <a:off x="731520" y="2903220"/>
            <a:ext cx="457200" cy="457200"/>
          </a:xfrm>
          <a:prstGeom prst="ellipse">
            <a:avLst/>
          </a:prstGeom>
          <a:solidFill>
            <a:srgbClr val="E0A52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2903220"/>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3</a:t>
            </a:r>
          </a:p>
        </p:txBody>
      </p:sp>
      <p:sp>
        <p:nvSpPr>
          <p:cNvPr id="18" name="TextBox 17"/>
          <p:cNvSpPr txBox="1"/>
          <p:nvPr/>
        </p:nvSpPr>
        <p:spPr>
          <a:xfrm>
            <a:off x="1417320" y="2807208"/>
            <a:ext cx="2651760" cy="649224"/>
          </a:xfrm>
          <a:prstGeom prst="rect">
            <a:avLst/>
          </a:prstGeom>
          <a:noFill/>
        </p:spPr>
        <p:txBody>
          <a:bodyPr wrap="square" lIns="0" tIns="0" rIns="0" bIns="0" anchor="ctr">
            <a:spAutoFit/>
          </a:bodyPr>
          <a:lstStyle/>
          <a:p>
            <a:pPr algn="l">
              <a:lnSpc>
                <a:spcPct val="100000"/>
              </a:lnSpc>
            </a:pPr>
            <a:r>
              <a:rPr sz="1450" b="1" i="0">
                <a:solidFill>
                  <a:srgbClr val="0B2E59"/>
                </a:solidFill>
                <a:latin typeface="Calibri"/>
              </a:rPr>
              <a:t>The Fix</a:t>
            </a:r>
          </a:p>
        </p:txBody>
      </p:sp>
      <p:sp>
        <p:nvSpPr>
          <p:cNvPr id="19" name="TextBox 18"/>
          <p:cNvSpPr txBox="1"/>
          <p:nvPr/>
        </p:nvSpPr>
        <p:spPr>
          <a:xfrm>
            <a:off x="4160520" y="2807208"/>
            <a:ext cx="7498079" cy="649224"/>
          </a:xfrm>
          <a:prstGeom prst="rect">
            <a:avLst/>
          </a:prstGeom>
          <a:noFill/>
        </p:spPr>
        <p:txBody>
          <a:bodyPr wrap="square" lIns="0" tIns="0" rIns="0" bIns="0" anchor="ctr">
            <a:spAutoFit/>
          </a:bodyPr>
          <a:lstStyle/>
          <a:p>
            <a:pPr algn="l">
              <a:lnSpc>
                <a:spcPct val="105000"/>
              </a:lnSpc>
            </a:pPr>
            <a:r>
              <a:rPr sz="1200" b="0" i="0">
                <a:solidFill>
                  <a:srgbClr val="1B222C"/>
                </a:solidFill>
                <a:latin typeface="Calibri"/>
              </a:rPr>
              <a:t>What an online feature store is — and how it differs from on-demand compute</a:t>
            </a:r>
          </a:p>
        </p:txBody>
      </p:sp>
      <p:sp>
        <p:nvSpPr>
          <p:cNvPr id="20" name="Oval 19"/>
          <p:cNvSpPr/>
          <p:nvPr/>
        </p:nvSpPr>
        <p:spPr>
          <a:xfrm>
            <a:off x="731520" y="3552444"/>
            <a:ext cx="457200" cy="457200"/>
          </a:xfrm>
          <a:prstGeom prst="ellipse">
            <a:avLst/>
          </a:prstGeom>
          <a:solidFill>
            <a:srgbClr val="0B2E59"/>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3552444"/>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4</a:t>
            </a:r>
          </a:p>
        </p:txBody>
      </p:sp>
      <p:sp>
        <p:nvSpPr>
          <p:cNvPr id="22" name="TextBox 21"/>
          <p:cNvSpPr txBox="1"/>
          <p:nvPr/>
        </p:nvSpPr>
        <p:spPr>
          <a:xfrm>
            <a:off x="1417320" y="3456432"/>
            <a:ext cx="2651760" cy="649224"/>
          </a:xfrm>
          <a:prstGeom prst="rect">
            <a:avLst/>
          </a:prstGeom>
          <a:noFill/>
        </p:spPr>
        <p:txBody>
          <a:bodyPr wrap="square" lIns="0" tIns="0" rIns="0" bIns="0" anchor="ctr">
            <a:spAutoFit/>
          </a:bodyPr>
          <a:lstStyle/>
          <a:p>
            <a:pPr algn="l">
              <a:lnSpc>
                <a:spcPct val="100000"/>
              </a:lnSpc>
            </a:pPr>
            <a:r>
              <a:rPr sz="1450" b="1" i="0">
                <a:solidFill>
                  <a:srgbClr val="0B2E59"/>
                </a:solidFill>
                <a:latin typeface="Calibri"/>
              </a:rPr>
              <a:t>Inside the Pipeline</a:t>
            </a:r>
          </a:p>
        </p:txBody>
      </p:sp>
      <p:sp>
        <p:nvSpPr>
          <p:cNvPr id="23" name="TextBox 22"/>
          <p:cNvSpPr txBox="1"/>
          <p:nvPr/>
        </p:nvSpPr>
        <p:spPr>
          <a:xfrm>
            <a:off x="4160520" y="3456432"/>
            <a:ext cx="7498079" cy="649224"/>
          </a:xfrm>
          <a:prstGeom prst="rect">
            <a:avLst/>
          </a:prstGeom>
          <a:noFill/>
        </p:spPr>
        <p:txBody>
          <a:bodyPr wrap="square" lIns="0" tIns="0" rIns="0" bIns="0" anchor="ctr">
            <a:spAutoFit/>
          </a:bodyPr>
          <a:lstStyle/>
          <a:p>
            <a:pPr algn="l">
              <a:lnSpc>
                <a:spcPct val="105000"/>
              </a:lnSpc>
            </a:pPr>
            <a:r>
              <a:rPr sz="1200" b="0" i="0">
                <a:solidFill>
                  <a:srgbClr val="1B222C"/>
                </a:solidFill>
                <a:latin typeface="Calibri"/>
              </a:rPr>
              <a:t>One policy's lifecycle: New Business → END1 → END2 → Renewal</a:t>
            </a:r>
          </a:p>
        </p:txBody>
      </p:sp>
      <p:sp>
        <p:nvSpPr>
          <p:cNvPr id="24" name="Oval 23"/>
          <p:cNvSpPr/>
          <p:nvPr/>
        </p:nvSpPr>
        <p:spPr>
          <a:xfrm>
            <a:off x="731520" y="4201668"/>
            <a:ext cx="457200" cy="457200"/>
          </a:xfrm>
          <a:prstGeom prst="ellipse">
            <a:avLst/>
          </a:prstGeom>
          <a:solidFill>
            <a:srgbClr val="2F8F5B"/>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201668"/>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5</a:t>
            </a:r>
          </a:p>
        </p:txBody>
      </p:sp>
      <p:sp>
        <p:nvSpPr>
          <p:cNvPr id="26" name="TextBox 25"/>
          <p:cNvSpPr txBox="1"/>
          <p:nvPr/>
        </p:nvSpPr>
        <p:spPr>
          <a:xfrm>
            <a:off x="1417320" y="4105656"/>
            <a:ext cx="2651760" cy="649224"/>
          </a:xfrm>
          <a:prstGeom prst="rect">
            <a:avLst/>
          </a:prstGeom>
          <a:noFill/>
        </p:spPr>
        <p:txBody>
          <a:bodyPr wrap="square" lIns="0" tIns="0" rIns="0" bIns="0" anchor="ctr">
            <a:spAutoFit/>
          </a:bodyPr>
          <a:lstStyle/>
          <a:p>
            <a:pPr algn="l">
              <a:lnSpc>
                <a:spcPct val="100000"/>
              </a:lnSpc>
            </a:pPr>
            <a:r>
              <a:rPr sz="1450" b="1" i="0">
                <a:solidFill>
                  <a:srgbClr val="0B2E59"/>
                </a:solidFill>
                <a:latin typeface="Calibri"/>
              </a:rPr>
              <a:t>Business Impact</a:t>
            </a:r>
          </a:p>
        </p:txBody>
      </p:sp>
      <p:sp>
        <p:nvSpPr>
          <p:cNvPr id="27" name="TextBox 26"/>
          <p:cNvSpPr txBox="1"/>
          <p:nvPr/>
        </p:nvSpPr>
        <p:spPr>
          <a:xfrm>
            <a:off x="4160520" y="4105656"/>
            <a:ext cx="7498079" cy="649224"/>
          </a:xfrm>
          <a:prstGeom prst="rect">
            <a:avLst/>
          </a:prstGeom>
          <a:noFill/>
        </p:spPr>
        <p:txBody>
          <a:bodyPr wrap="square" lIns="0" tIns="0" rIns="0" bIns="0" anchor="ctr">
            <a:spAutoFit/>
          </a:bodyPr>
          <a:lstStyle/>
          <a:p>
            <a:pPr algn="l">
              <a:lnSpc>
                <a:spcPct val="105000"/>
              </a:lnSpc>
            </a:pPr>
            <a:r>
              <a:rPr sz="1200" b="0" i="0">
                <a:solidFill>
                  <a:srgbClr val="1B222C"/>
                </a:solidFill>
                <a:latin typeface="Calibri"/>
              </a:rPr>
              <a:t>What changes for the models and the teams that own them</a:t>
            </a:r>
          </a:p>
        </p:txBody>
      </p:sp>
      <p:sp>
        <p:nvSpPr>
          <p:cNvPr id="28" name="Oval 27"/>
          <p:cNvSpPr/>
          <p:nvPr/>
        </p:nvSpPr>
        <p:spPr>
          <a:xfrm>
            <a:off x="731520" y="4850892"/>
            <a:ext cx="457200" cy="457200"/>
          </a:xfrm>
          <a:prstGeom prst="ellipse">
            <a:avLst/>
          </a:prstGeom>
          <a:solidFill>
            <a:srgbClr val="6E4A9E"/>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4850892"/>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6</a:t>
            </a:r>
          </a:p>
        </p:txBody>
      </p:sp>
      <p:sp>
        <p:nvSpPr>
          <p:cNvPr id="30" name="TextBox 29"/>
          <p:cNvSpPr txBox="1"/>
          <p:nvPr/>
        </p:nvSpPr>
        <p:spPr>
          <a:xfrm>
            <a:off x="1417320" y="4754880"/>
            <a:ext cx="2651760" cy="649224"/>
          </a:xfrm>
          <a:prstGeom prst="rect">
            <a:avLst/>
          </a:prstGeom>
          <a:noFill/>
        </p:spPr>
        <p:txBody>
          <a:bodyPr wrap="square" lIns="0" tIns="0" rIns="0" bIns="0" anchor="ctr">
            <a:spAutoFit/>
          </a:bodyPr>
          <a:lstStyle/>
          <a:p>
            <a:pPr algn="l">
              <a:lnSpc>
                <a:spcPct val="100000"/>
              </a:lnSpc>
            </a:pPr>
            <a:r>
              <a:rPr sz="1450" b="1" i="0">
                <a:solidFill>
                  <a:srgbClr val="0B2E59"/>
                </a:solidFill>
                <a:latin typeface="Calibri"/>
              </a:rPr>
              <a:t>Beyond Insurance</a:t>
            </a:r>
          </a:p>
        </p:txBody>
      </p:sp>
      <p:sp>
        <p:nvSpPr>
          <p:cNvPr id="31" name="TextBox 30"/>
          <p:cNvSpPr txBox="1"/>
          <p:nvPr/>
        </p:nvSpPr>
        <p:spPr>
          <a:xfrm>
            <a:off x="4160520" y="4754880"/>
            <a:ext cx="7498079" cy="649224"/>
          </a:xfrm>
          <a:prstGeom prst="rect">
            <a:avLst/>
          </a:prstGeom>
          <a:noFill/>
        </p:spPr>
        <p:txBody>
          <a:bodyPr wrap="square" lIns="0" tIns="0" rIns="0" bIns="0" anchor="ctr">
            <a:spAutoFit/>
          </a:bodyPr>
          <a:lstStyle/>
          <a:p>
            <a:pPr algn="l">
              <a:lnSpc>
                <a:spcPct val="105000"/>
              </a:lnSpc>
            </a:pPr>
            <a:r>
              <a:rPr sz="1200" b="0" i="0">
                <a:solidFill>
                  <a:srgbClr val="1B222C"/>
                </a:solidFill>
                <a:latin typeface="Calibri"/>
              </a:rPr>
              <a:t>Recommendation systems and other places this pattern runs</a:t>
            </a:r>
          </a:p>
        </p:txBody>
      </p:sp>
      <p:sp>
        <p:nvSpPr>
          <p:cNvPr id="32" name="Oval 31"/>
          <p:cNvSpPr/>
          <p:nvPr/>
        </p:nvSpPr>
        <p:spPr>
          <a:xfrm>
            <a:off x="731520" y="5500116"/>
            <a:ext cx="457200" cy="457200"/>
          </a:xfrm>
          <a:prstGeom prst="ellipse">
            <a:avLst/>
          </a:prstGeom>
          <a:solidFill>
            <a:srgbClr val="3E6FA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500116"/>
            <a:ext cx="457200" cy="457200"/>
          </a:xfrm>
          <a:prstGeom prst="rect">
            <a:avLst/>
          </a:prstGeom>
          <a:noFill/>
        </p:spPr>
        <p:txBody>
          <a:bodyPr wrap="square" lIns="0" tIns="0" rIns="0" bIns="0" anchor="ctr">
            <a:spAutoFit/>
          </a:bodyPr>
          <a:lstStyle/>
          <a:p>
            <a:pPr algn="ctr">
              <a:lnSpc>
                <a:spcPct val="100000"/>
              </a:lnSpc>
            </a:pPr>
            <a:r>
              <a:rPr sz="1500" b="1" i="0">
                <a:solidFill>
                  <a:srgbClr val="FFFFFF"/>
                </a:solidFill>
                <a:latin typeface="Calibri"/>
              </a:rPr>
              <a:t>7</a:t>
            </a:r>
          </a:p>
        </p:txBody>
      </p:sp>
      <p:sp>
        <p:nvSpPr>
          <p:cNvPr id="34" name="TextBox 33"/>
          <p:cNvSpPr txBox="1"/>
          <p:nvPr/>
        </p:nvSpPr>
        <p:spPr>
          <a:xfrm>
            <a:off x="1417320" y="5404104"/>
            <a:ext cx="2651760" cy="649224"/>
          </a:xfrm>
          <a:prstGeom prst="rect">
            <a:avLst/>
          </a:prstGeom>
          <a:noFill/>
        </p:spPr>
        <p:txBody>
          <a:bodyPr wrap="square" lIns="0" tIns="0" rIns="0" bIns="0" anchor="ctr">
            <a:spAutoFit/>
          </a:bodyPr>
          <a:lstStyle/>
          <a:p>
            <a:pPr algn="l">
              <a:lnSpc>
                <a:spcPct val="100000"/>
              </a:lnSpc>
            </a:pPr>
            <a:r>
              <a:rPr sz="1450" b="1" i="0">
                <a:solidFill>
                  <a:srgbClr val="0B2E59"/>
                </a:solidFill>
                <a:latin typeface="Calibri"/>
              </a:rPr>
              <a:t>Demo &amp; Architecture</a:t>
            </a:r>
          </a:p>
        </p:txBody>
      </p:sp>
      <p:sp>
        <p:nvSpPr>
          <p:cNvPr id="35" name="TextBox 34"/>
          <p:cNvSpPr txBox="1"/>
          <p:nvPr/>
        </p:nvSpPr>
        <p:spPr>
          <a:xfrm>
            <a:off x="4160520" y="5404104"/>
            <a:ext cx="7498079" cy="649224"/>
          </a:xfrm>
          <a:prstGeom prst="rect">
            <a:avLst/>
          </a:prstGeom>
          <a:noFill/>
        </p:spPr>
        <p:txBody>
          <a:bodyPr wrap="square" lIns="0" tIns="0" rIns="0" bIns="0" anchor="ctr">
            <a:spAutoFit/>
          </a:bodyPr>
          <a:lstStyle/>
          <a:p>
            <a:pPr algn="l">
              <a:lnSpc>
                <a:spcPct val="105000"/>
              </a:lnSpc>
            </a:pPr>
            <a:r>
              <a:rPr sz="1200" b="0" i="0">
                <a:solidFill>
                  <a:srgbClr val="1B222C"/>
                </a:solidFill>
                <a:latin typeface="Calibri"/>
              </a:rPr>
              <a:t>Live walkthrough of the running pipeline</a:t>
            </a:r>
          </a:p>
        </p:txBody>
      </p:sp>
      <p:cxnSp>
        <p:nvCxnSpPr>
          <p:cNvPr id="36" name="Connector 35"/>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1</a:t>
            </a:r>
          </a:p>
        </p:txBody>
      </p:sp>
      <p:sp>
        <p:nvSpPr>
          <p:cNvPr id="38" name="TextBox 37"/>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gd name="adj" fmla="val 0"/>
            </a:avLst>
          </a:prstGeom>
          <a:solidFill>
            <a:srgbClr val="C1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292608"/>
            <a:ext cx="4846320" cy="310896"/>
          </a:xfrm>
          <a:prstGeom prst="roundRect">
            <a:avLst>
              <a:gd name="adj" fmla="val 50000"/>
            </a:avLst>
          </a:prstGeom>
          <a:solidFill>
            <a:srgbClr val="C1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92608"/>
            <a:ext cx="4846320" cy="310896"/>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BACKGROUND &amp; PROBLEM</a:t>
            </a:r>
          </a:p>
        </p:txBody>
      </p:sp>
      <p:sp>
        <p:nvSpPr>
          <p:cNvPr id="5" name="TextBox 4"/>
          <p:cNvSpPr txBox="1"/>
          <p:nvPr/>
        </p:nvSpPr>
        <p:spPr>
          <a:xfrm>
            <a:off x="502920" y="713232"/>
            <a:ext cx="10789920" cy="548640"/>
          </a:xfrm>
          <a:prstGeom prst="rect">
            <a:avLst/>
          </a:prstGeom>
          <a:noFill/>
        </p:spPr>
        <p:txBody>
          <a:bodyPr wrap="square" lIns="0" tIns="0" rIns="0" bIns="0" anchor="t">
            <a:spAutoFit/>
          </a:bodyPr>
          <a:lstStyle/>
          <a:p>
            <a:pPr algn="l">
              <a:lnSpc>
                <a:spcPct val="100000"/>
              </a:lnSpc>
            </a:pPr>
            <a:r>
              <a:rPr sz="2500" b="1" i="0">
                <a:solidFill>
                  <a:srgbClr val="0B2E59"/>
                </a:solidFill>
                <a:latin typeface="Calibri"/>
              </a:rPr>
              <a:t>Why Feature Computation Breaks Down at Scale</a:t>
            </a:r>
          </a:p>
        </p:txBody>
      </p:sp>
      <p:cxnSp>
        <p:nvCxnSpPr>
          <p:cNvPr id="6" name="Connector 5"/>
          <p:cNvCxnSpPr/>
          <p:nvPr/>
        </p:nvCxnSpPr>
        <p:spPr>
          <a:xfrm>
            <a:off x="502920" y="1261872"/>
            <a:ext cx="11183112" cy="0"/>
          </a:xfrm>
          <a:prstGeom prst="line">
            <a:avLst/>
          </a:prstGeom>
          <a:ln w="25400">
            <a:solidFill>
              <a:srgbClr val="C1443A"/>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1481328"/>
            <a:ext cx="11201400" cy="932688"/>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481328"/>
            <a:ext cx="82296" cy="932688"/>
          </a:xfrm>
          <a:prstGeom prst="roundRect">
            <a:avLst>
              <a:gd name="adj" fmla="val 0"/>
            </a:avLst>
          </a:prstGeom>
          <a:solidFill>
            <a:srgbClr val="C1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591056"/>
            <a:ext cx="10698480" cy="274320"/>
          </a:xfrm>
          <a:prstGeom prst="rect">
            <a:avLst/>
          </a:prstGeom>
          <a:noFill/>
        </p:spPr>
        <p:txBody>
          <a:bodyPr wrap="square" lIns="0" tIns="0" rIns="0" bIns="0" anchor="t">
            <a:spAutoFit/>
          </a:bodyPr>
          <a:lstStyle/>
          <a:p>
            <a:pPr algn="l">
              <a:lnSpc>
                <a:spcPct val="100000"/>
              </a:lnSpc>
            </a:pPr>
            <a:r>
              <a:rPr sz="1300" b="1" i="0">
                <a:solidFill>
                  <a:srgbClr val="0B2E59"/>
                </a:solidFill>
                <a:latin typeface="Calibri"/>
              </a:rPr>
              <a:t>Duplicated logic</a:t>
            </a:r>
          </a:p>
        </p:txBody>
      </p:sp>
      <p:sp>
        <p:nvSpPr>
          <p:cNvPr id="10" name="TextBox 9"/>
          <p:cNvSpPr txBox="1"/>
          <p:nvPr/>
        </p:nvSpPr>
        <p:spPr>
          <a:xfrm>
            <a:off x="758952" y="1883664"/>
            <a:ext cx="10698480" cy="429768"/>
          </a:xfrm>
          <a:prstGeom prst="rect">
            <a:avLst/>
          </a:prstGeom>
          <a:noFill/>
        </p:spPr>
        <p:txBody>
          <a:bodyPr wrap="square" lIns="0" tIns="0" rIns="0" bIns="0" anchor="t">
            <a:spAutoFit/>
          </a:bodyPr>
          <a:lstStyle/>
          <a:p>
            <a:pPr algn="l">
              <a:lnSpc>
                <a:spcPct val="108000"/>
              </a:lnSpc>
            </a:pPr>
            <a:r>
              <a:rPr sz="1100" b="0" i="0">
                <a:solidFill>
                  <a:srgbClr val="1B222C"/>
                </a:solidFill>
                <a:latin typeface="Calibri"/>
              </a:rPr>
              <a:t>Every model that needs policy features — vehicle counts, driver changes, coverage changes — recalculates them independently. Nothing guarantees two models agree on the same value.</a:t>
            </a:r>
          </a:p>
        </p:txBody>
      </p:sp>
      <p:sp>
        <p:nvSpPr>
          <p:cNvPr id="11" name="Rounded Rectangle 10"/>
          <p:cNvSpPr/>
          <p:nvPr/>
        </p:nvSpPr>
        <p:spPr>
          <a:xfrm>
            <a:off x="502920" y="2542032"/>
            <a:ext cx="11201400" cy="932688"/>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02920" y="2542032"/>
            <a:ext cx="82296" cy="932688"/>
          </a:xfrm>
          <a:prstGeom prst="roundRect">
            <a:avLst>
              <a:gd name="adj" fmla="val 0"/>
            </a:avLst>
          </a:prstGeom>
          <a:solidFill>
            <a:srgbClr val="C1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8952" y="2651760"/>
            <a:ext cx="10698480" cy="274320"/>
          </a:xfrm>
          <a:prstGeom prst="rect">
            <a:avLst/>
          </a:prstGeom>
          <a:noFill/>
        </p:spPr>
        <p:txBody>
          <a:bodyPr wrap="square" lIns="0" tIns="0" rIns="0" bIns="0" anchor="t">
            <a:spAutoFit/>
          </a:bodyPr>
          <a:lstStyle/>
          <a:p>
            <a:pPr algn="l">
              <a:lnSpc>
                <a:spcPct val="100000"/>
              </a:lnSpc>
            </a:pPr>
            <a:r>
              <a:rPr sz="1300" b="1" i="0">
                <a:solidFill>
                  <a:srgbClr val="0B2E59"/>
                </a:solidFill>
                <a:latin typeface="Calibri"/>
              </a:rPr>
              <a:t>No point-in-time record</a:t>
            </a:r>
          </a:p>
        </p:txBody>
      </p:sp>
      <p:sp>
        <p:nvSpPr>
          <p:cNvPr id="14" name="TextBox 13"/>
          <p:cNvSpPr txBox="1"/>
          <p:nvPr/>
        </p:nvSpPr>
        <p:spPr>
          <a:xfrm>
            <a:off x="758952" y="2944368"/>
            <a:ext cx="10698480" cy="429768"/>
          </a:xfrm>
          <a:prstGeom prst="rect">
            <a:avLst/>
          </a:prstGeom>
          <a:noFill/>
        </p:spPr>
        <p:txBody>
          <a:bodyPr wrap="square" lIns="0" tIns="0" rIns="0" bIns="0" anchor="t">
            <a:spAutoFit/>
          </a:bodyPr>
          <a:lstStyle/>
          <a:p>
            <a:pPr algn="l">
              <a:lnSpc>
                <a:spcPct val="108000"/>
              </a:lnSpc>
            </a:pPr>
            <a:r>
              <a:rPr sz="1100" b="0" i="0">
                <a:solidFill>
                  <a:srgbClr val="1B222C"/>
                </a:solidFill>
                <a:latin typeface="Calibri"/>
              </a:rPr>
              <a:t>Features computed only when a request happens leave no trace of what a model actually saw at that moment — debugging and audit have nothing to check against.</a:t>
            </a:r>
          </a:p>
        </p:txBody>
      </p:sp>
      <p:sp>
        <p:nvSpPr>
          <p:cNvPr id="15" name="Rounded Rectangle 14"/>
          <p:cNvSpPr/>
          <p:nvPr/>
        </p:nvSpPr>
        <p:spPr>
          <a:xfrm>
            <a:off x="502920" y="3602736"/>
            <a:ext cx="11201400" cy="932688"/>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602736"/>
            <a:ext cx="82296" cy="932688"/>
          </a:xfrm>
          <a:prstGeom prst="roundRect">
            <a:avLst>
              <a:gd name="adj" fmla="val 0"/>
            </a:avLst>
          </a:prstGeom>
          <a:solidFill>
            <a:srgbClr val="C1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8952" y="3712464"/>
            <a:ext cx="10698480" cy="274320"/>
          </a:xfrm>
          <a:prstGeom prst="rect">
            <a:avLst/>
          </a:prstGeom>
          <a:noFill/>
        </p:spPr>
        <p:txBody>
          <a:bodyPr wrap="square" lIns="0" tIns="0" rIns="0" bIns="0" anchor="t">
            <a:spAutoFit/>
          </a:bodyPr>
          <a:lstStyle/>
          <a:p>
            <a:pPr algn="l">
              <a:lnSpc>
                <a:spcPct val="100000"/>
              </a:lnSpc>
            </a:pPr>
            <a:r>
              <a:rPr sz="1300" b="1" i="0">
                <a:solidFill>
                  <a:srgbClr val="0B2E59"/>
                </a:solidFill>
                <a:latin typeface="Calibri"/>
              </a:rPr>
              <a:t>Effective date ≠ received date</a:t>
            </a:r>
          </a:p>
        </p:txBody>
      </p:sp>
      <p:sp>
        <p:nvSpPr>
          <p:cNvPr id="18" name="TextBox 17"/>
          <p:cNvSpPr txBox="1"/>
          <p:nvPr/>
        </p:nvSpPr>
        <p:spPr>
          <a:xfrm>
            <a:off x="758952" y="4005072"/>
            <a:ext cx="10698480" cy="429768"/>
          </a:xfrm>
          <a:prstGeom prst="rect">
            <a:avLst/>
          </a:prstGeom>
          <a:noFill/>
        </p:spPr>
        <p:txBody>
          <a:bodyPr wrap="square" lIns="0" tIns="0" rIns="0" bIns="0" anchor="t">
            <a:spAutoFit/>
          </a:bodyPr>
          <a:lstStyle/>
          <a:p>
            <a:pPr algn="l">
              <a:lnSpc>
                <a:spcPct val="108000"/>
              </a:lnSpc>
            </a:pPr>
            <a:r>
              <a:rPr sz="1100" b="0" i="0">
                <a:solidFill>
                  <a:srgbClr val="1B222C"/>
                </a:solidFill>
                <a:latin typeface="Calibri"/>
              </a:rPr>
              <a:t>A policy change can be known today but not take effect until later. Most request-time approaches don't separate "we received this" from "this is now true."</a:t>
            </a:r>
          </a:p>
        </p:txBody>
      </p:sp>
      <p:sp>
        <p:nvSpPr>
          <p:cNvPr id="19" name="Rounded Rectangle 18"/>
          <p:cNvSpPr/>
          <p:nvPr/>
        </p:nvSpPr>
        <p:spPr>
          <a:xfrm>
            <a:off x="502920" y="4663440"/>
            <a:ext cx="11201400" cy="932688"/>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02920" y="4663440"/>
            <a:ext cx="82296" cy="932688"/>
          </a:xfrm>
          <a:prstGeom prst="roundRect">
            <a:avLst>
              <a:gd name="adj" fmla="val 0"/>
            </a:avLst>
          </a:prstGeom>
          <a:solidFill>
            <a:srgbClr val="C14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4773168"/>
            <a:ext cx="10698480" cy="274320"/>
          </a:xfrm>
          <a:prstGeom prst="rect">
            <a:avLst/>
          </a:prstGeom>
          <a:noFill/>
        </p:spPr>
        <p:txBody>
          <a:bodyPr wrap="square" lIns="0" tIns="0" rIns="0" bIns="0" anchor="t">
            <a:spAutoFit/>
          </a:bodyPr>
          <a:lstStyle/>
          <a:p>
            <a:pPr algn="l">
              <a:lnSpc>
                <a:spcPct val="100000"/>
              </a:lnSpc>
            </a:pPr>
            <a:r>
              <a:rPr sz="1300" b="1" i="0">
                <a:solidFill>
                  <a:srgbClr val="0B2E59"/>
                </a:solidFill>
                <a:latin typeface="Calibri"/>
              </a:rPr>
              <a:t>No historical trail</a:t>
            </a:r>
          </a:p>
        </p:txBody>
      </p:sp>
      <p:sp>
        <p:nvSpPr>
          <p:cNvPr id="22" name="TextBox 21"/>
          <p:cNvSpPr txBox="1"/>
          <p:nvPr/>
        </p:nvSpPr>
        <p:spPr>
          <a:xfrm>
            <a:off x="758952" y="5065776"/>
            <a:ext cx="10698480" cy="429768"/>
          </a:xfrm>
          <a:prstGeom prst="rect">
            <a:avLst/>
          </a:prstGeom>
          <a:noFill/>
        </p:spPr>
        <p:txBody>
          <a:bodyPr wrap="square" lIns="0" tIns="0" rIns="0" bIns="0" anchor="t">
            <a:spAutoFit/>
          </a:bodyPr>
          <a:lstStyle/>
          <a:p>
            <a:pPr algn="l">
              <a:lnSpc>
                <a:spcPct val="108000"/>
              </a:lnSpc>
            </a:pPr>
            <a:r>
              <a:rPr sz="1100" b="0" i="0">
                <a:solidFill>
                  <a:srgbClr val="1B222C"/>
                </a:solidFill>
                <a:latin typeface="Calibri"/>
              </a:rPr>
              <a:t>Point-in-time investigation, audit, and model training all need to know what a feature's value used to be — that history isn't preserved by a pure request-time approach.</a:t>
            </a:r>
          </a:p>
        </p:txBody>
      </p:sp>
      <p:sp>
        <p:nvSpPr>
          <p:cNvPr id="23" name="Rounded Rectangle 22"/>
          <p:cNvSpPr/>
          <p:nvPr/>
        </p:nvSpPr>
        <p:spPr>
          <a:xfrm>
            <a:off x="502920" y="5769864"/>
            <a:ext cx="11201400" cy="548640"/>
          </a:xfrm>
          <a:prstGeom prst="roundRect">
            <a:avLst>
              <a:gd name="adj" fmla="val 10000"/>
            </a:avLst>
          </a:prstGeom>
          <a:solidFill>
            <a:srgbClr val="0B2E59"/>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769864"/>
            <a:ext cx="10652760" cy="548640"/>
          </a:xfrm>
          <a:prstGeom prst="rect">
            <a:avLst/>
          </a:prstGeom>
          <a:noFill/>
        </p:spPr>
        <p:txBody>
          <a:bodyPr wrap="square" lIns="0" tIns="0" rIns="0" bIns="0" anchor="ctr">
            <a:spAutoFit/>
          </a:bodyPr>
          <a:lstStyle/>
          <a:p>
            <a:pPr algn="l">
              <a:lnSpc>
                <a:spcPct val="100000"/>
              </a:lnSpc>
            </a:pPr>
            <a:r>
              <a:rPr sz="1300" b="1" i="1">
                <a:solidFill>
                  <a:srgbClr val="FFFFFF"/>
                </a:solidFill>
                <a:latin typeface="Calibri"/>
              </a:rPr>
              <a:t>Every model needs one trusted source for the correct feature value, at the correct point in time.</a:t>
            </a:r>
          </a:p>
        </p:txBody>
      </p:sp>
      <p:cxnSp>
        <p:nvCxnSpPr>
          <p:cNvPr id="25" name="Connector 24"/>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2</a:t>
            </a:r>
          </a:p>
        </p:txBody>
      </p:sp>
      <p:sp>
        <p:nvSpPr>
          <p:cNvPr id="27" name="TextBox 26"/>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gd name="adj" fmla="val 0"/>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292608"/>
            <a:ext cx="3749039" cy="310896"/>
          </a:xfrm>
          <a:prstGeom prst="roundRect">
            <a:avLst>
              <a:gd name="adj" fmla="val 50000"/>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92608"/>
            <a:ext cx="3749039" cy="310896"/>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TODAY'S PATTERN</a:t>
            </a:r>
          </a:p>
        </p:txBody>
      </p:sp>
      <p:sp>
        <p:nvSpPr>
          <p:cNvPr id="5" name="TextBox 4"/>
          <p:cNvSpPr txBox="1"/>
          <p:nvPr/>
        </p:nvSpPr>
        <p:spPr>
          <a:xfrm>
            <a:off x="502920" y="713232"/>
            <a:ext cx="10789920" cy="548640"/>
          </a:xfrm>
          <a:prstGeom prst="rect">
            <a:avLst/>
          </a:prstGeom>
          <a:noFill/>
        </p:spPr>
        <p:txBody>
          <a:bodyPr wrap="square" lIns="0" tIns="0" rIns="0" bIns="0" anchor="t">
            <a:spAutoFit/>
          </a:bodyPr>
          <a:lstStyle/>
          <a:p>
            <a:pPr algn="l">
              <a:lnSpc>
                <a:spcPct val="100000"/>
              </a:lnSpc>
            </a:pPr>
            <a:r>
              <a:rPr sz="2500" b="1" i="0">
                <a:solidFill>
                  <a:srgbClr val="0B2E59"/>
                </a:solidFill>
                <a:latin typeface="Calibri"/>
              </a:rPr>
              <a:t>What Most Teams Do Today: Compute-on-Request</a:t>
            </a:r>
          </a:p>
        </p:txBody>
      </p:sp>
      <p:cxnSp>
        <p:nvCxnSpPr>
          <p:cNvPr id="6" name="Connector 5"/>
          <p:cNvCxnSpPr/>
          <p:nvPr/>
        </p:nvCxnSpPr>
        <p:spPr>
          <a:xfrm>
            <a:off x="502920" y="1261872"/>
            <a:ext cx="11183112" cy="0"/>
          </a:xfrm>
          <a:prstGeom prst="line">
            <a:avLst/>
          </a:prstGeom>
          <a:ln w="25400">
            <a:solidFill>
              <a:srgbClr val="6B7686"/>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371600"/>
            <a:ext cx="11201400" cy="502920"/>
          </a:xfrm>
          <a:prstGeom prst="rect">
            <a:avLst/>
          </a:prstGeom>
          <a:noFill/>
        </p:spPr>
        <p:txBody>
          <a:bodyPr wrap="square" lIns="0" tIns="0" rIns="0" bIns="0" anchor="t">
            <a:spAutoFit/>
          </a:bodyPr>
          <a:lstStyle/>
          <a:p>
            <a:pPr algn="l">
              <a:lnSpc>
                <a:spcPct val="115000"/>
              </a:lnSpc>
            </a:pPr>
            <a:r>
              <a:rPr sz="1250" b="0" i="0">
                <a:solidFill>
                  <a:srgbClr val="1B222C"/>
                </a:solidFill>
                <a:latin typeface="Calibri"/>
              </a:rPr>
              <a:t>Each consuming model pulls raw transactions and derives the features it needs itself — inline in the serving path, or in a separate batch job that team maintains alone.</a:t>
            </a:r>
          </a:p>
        </p:txBody>
      </p:sp>
      <p:sp>
        <p:nvSpPr>
          <p:cNvPr id="8" name="Can 7"/>
          <p:cNvSpPr/>
          <p:nvPr/>
        </p:nvSpPr>
        <p:spPr>
          <a:xfrm>
            <a:off x="1188720" y="2468879"/>
            <a:ext cx="1005840" cy="1188720"/>
          </a:xfrm>
          <a:prstGeom prst="can">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3794760"/>
            <a:ext cx="1828800" cy="548640"/>
          </a:xfrm>
          <a:prstGeom prst="rect">
            <a:avLst/>
          </a:prstGeom>
          <a:noFill/>
        </p:spPr>
        <p:txBody>
          <a:bodyPr wrap="square" lIns="0" tIns="0" rIns="0" bIns="0" anchor="t">
            <a:spAutoFit/>
          </a:bodyPr>
          <a:lstStyle/>
          <a:p>
            <a:pPr algn="ctr">
              <a:lnSpc>
                <a:spcPct val="100000"/>
              </a:lnSpc>
            </a:pPr>
            <a:r>
              <a:rPr sz="1200" b="1" i="0">
                <a:solidFill>
                  <a:srgbClr val="0B2E59"/>
                </a:solidFill>
                <a:latin typeface="Calibri"/>
              </a:rPr>
              <a:t>Raw Policy</a:t>
            </a:r>
          </a:p>
          <a:p>
            <a:pPr algn="ctr">
              <a:lnSpc>
                <a:spcPct val="100000"/>
              </a:lnSpc>
            </a:pPr>
            <a:r>
              <a:rPr sz="1200" b="1" i="0">
                <a:solidFill>
                  <a:srgbClr val="0B2E59"/>
                </a:solidFill>
                <a:latin typeface="Calibri"/>
              </a:rPr>
              <a:t>Transactions</a:t>
            </a:r>
          </a:p>
        </p:txBody>
      </p:sp>
      <p:cxnSp>
        <p:nvCxnSpPr>
          <p:cNvPr id="10" name="Connector 9"/>
          <p:cNvCxnSpPr/>
          <p:nvPr/>
        </p:nvCxnSpPr>
        <p:spPr>
          <a:xfrm flipV="1">
            <a:off x="2606040" y="2788920"/>
            <a:ext cx="1600200" cy="960119"/>
          </a:xfrm>
          <a:prstGeom prst="line">
            <a:avLst/>
          </a:prstGeom>
          <a:ln w="19050">
            <a:solidFill>
              <a:srgbClr val="6B76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06240" y="2331720"/>
            <a:ext cx="2331720" cy="914400"/>
          </a:xfrm>
          <a:prstGeom prst="roundRect">
            <a:avLst>
              <a:gd name="adj" fmla="val 10000"/>
            </a:avLst>
          </a:prstGeom>
          <a:solidFill>
            <a:srgbClr val="6B768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43400" y="2423160"/>
            <a:ext cx="2057400" cy="365760"/>
          </a:xfrm>
          <a:prstGeom prst="rect">
            <a:avLst/>
          </a:prstGeom>
          <a:noFill/>
        </p:spPr>
        <p:txBody>
          <a:bodyPr wrap="square" lIns="0" tIns="0" rIns="0" bIns="0" anchor="t">
            <a:spAutoFit/>
          </a:bodyPr>
          <a:lstStyle/>
          <a:p>
            <a:pPr algn="l">
              <a:lnSpc>
                <a:spcPct val="100000"/>
              </a:lnSpc>
            </a:pPr>
            <a:r>
              <a:rPr sz="1300" b="1" i="0">
                <a:solidFill>
                  <a:srgbClr val="FFFFFF"/>
                </a:solidFill>
                <a:latin typeface="Calibri"/>
              </a:rPr>
              <a:t>Model A</a:t>
            </a:r>
          </a:p>
        </p:txBody>
      </p:sp>
      <p:sp>
        <p:nvSpPr>
          <p:cNvPr id="13" name="TextBox 12"/>
          <p:cNvSpPr txBox="1"/>
          <p:nvPr/>
        </p:nvSpPr>
        <p:spPr>
          <a:xfrm>
            <a:off x="4343400" y="2770632"/>
            <a:ext cx="2057400" cy="411480"/>
          </a:xfrm>
          <a:prstGeom prst="rect">
            <a:avLst/>
          </a:prstGeom>
          <a:noFill/>
        </p:spPr>
        <p:txBody>
          <a:bodyPr wrap="square" lIns="0" tIns="0" rIns="0" bIns="0" anchor="t">
            <a:spAutoFit/>
          </a:bodyPr>
          <a:lstStyle/>
          <a:p>
            <a:pPr algn="l">
              <a:lnSpc>
                <a:spcPct val="95000"/>
              </a:lnSpc>
            </a:pPr>
            <a:r>
              <a:rPr sz="950" b="0" i="1">
                <a:solidFill>
                  <a:srgbClr val="E4E7EC"/>
                </a:solidFill>
                <a:latin typeface="Calibri"/>
              </a:rPr>
              <a:t>own feature</a:t>
            </a:r>
          </a:p>
          <a:p>
            <a:pPr algn="l">
              <a:lnSpc>
                <a:spcPct val="95000"/>
              </a:lnSpc>
            </a:pPr>
            <a:r>
              <a:rPr sz="950" b="0" i="1">
                <a:solidFill>
                  <a:srgbClr val="E4E7EC"/>
                </a:solidFill>
                <a:latin typeface="Calibri"/>
              </a:rPr>
              <a:t>logic</a:t>
            </a:r>
          </a:p>
        </p:txBody>
      </p:sp>
      <p:cxnSp>
        <p:nvCxnSpPr>
          <p:cNvPr id="14" name="Connector 13"/>
          <p:cNvCxnSpPr/>
          <p:nvPr/>
        </p:nvCxnSpPr>
        <p:spPr>
          <a:xfrm>
            <a:off x="6537959" y="2788920"/>
            <a:ext cx="411481" cy="0"/>
          </a:xfrm>
          <a:prstGeom prst="line">
            <a:avLst/>
          </a:prstGeom>
          <a:ln w="19050">
            <a:solidFill>
              <a:srgbClr val="6B76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949440" y="2331720"/>
            <a:ext cx="2011680" cy="914400"/>
          </a:xfrm>
          <a:prstGeom prst="rect">
            <a:avLst/>
          </a:prstGeom>
          <a:noFill/>
        </p:spPr>
        <p:txBody>
          <a:bodyPr wrap="square" lIns="0" tIns="0" rIns="0" bIns="0" anchor="ctr">
            <a:spAutoFit/>
          </a:bodyPr>
          <a:lstStyle/>
          <a:p>
            <a:pPr algn="l">
              <a:lnSpc>
                <a:spcPct val="100000"/>
              </a:lnSpc>
            </a:pPr>
            <a:r>
              <a:rPr sz="1100" b="1" i="0">
                <a:solidFill>
                  <a:srgbClr val="0B2E59"/>
                </a:solidFill>
                <a:latin typeface="Calibri"/>
              </a:rPr>
              <a:t>Score A</a:t>
            </a:r>
          </a:p>
        </p:txBody>
      </p:sp>
      <p:cxnSp>
        <p:nvCxnSpPr>
          <p:cNvPr id="16" name="Connector 15"/>
          <p:cNvCxnSpPr/>
          <p:nvPr/>
        </p:nvCxnSpPr>
        <p:spPr>
          <a:xfrm>
            <a:off x="2606040" y="3749039"/>
            <a:ext cx="1600200" cy="457201"/>
          </a:xfrm>
          <a:prstGeom prst="line">
            <a:avLst/>
          </a:prstGeom>
          <a:ln w="19050">
            <a:solidFill>
              <a:srgbClr val="6B76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206240" y="3749039"/>
            <a:ext cx="2331720" cy="914400"/>
          </a:xfrm>
          <a:prstGeom prst="roundRect">
            <a:avLst>
              <a:gd name="adj" fmla="val 10000"/>
            </a:avLst>
          </a:prstGeom>
          <a:solidFill>
            <a:srgbClr val="6B768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43400" y="3840479"/>
            <a:ext cx="2057400" cy="365760"/>
          </a:xfrm>
          <a:prstGeom prst="rect">
            <a:avLst/>
          </a:prstGeom>
          <a:noFill/>
        </p:spPr>
        <p:txBody>
          <a:bodyPr wrap="square" lIns="0" tIns="0" rIns="0" bIns="0" anchor="t">
            <a:spAutoFit/>
          </a:bodyPr>
          <a:lstStyle/>
          <a:p>
            <a:pPr algn="l">
              <a:lnSpc>
                <a:spcPct val="100000"/>
              </a:lnSpc>
            </a:pPr>
            <a:r>
              <a:rPr sz="1300" b="1" i="0">
                <a:solidFill>
                  <a:srgbClr val="FFFFFF"/>
                </a:solidFill>
                <a:latin typeface="Calibri"/>
              </a:rPr>
              <a:t>Model B</a:t>
            </a:r>
          </a:p>
        </p:txBody>
      </p:sp>
      <p:sp>
        <p:nvSpPr>
          <p:cNvPr id="19" name="TextBox 18"/>
          <p:cNvSpPr txBox="1"/>
          <p:nvPr/>
        </p:nvSpPr>
        <p:spPr>
          <a:xfrm>
            <a:off x="4343400" y="4187952"/>
            <a:ext cx="2057400" cy="411480"/>
          </a:xfrm>
          <a:prstGeom prst="rect">
            <a:avLst/>
          </a:prstGeom>
          <a:noFill/>
        </p:spPr>
        <p:txBody>
          <a:bodyPr wrap="square" lIns="0" tIns="0" rIns="0" bIns="0" anchor="t">
            <a:spAutoFit/>
          </a:bodyPr>
          <a:lstStyle/>
          <a:p>
            <a:pPr algn="l">
              <a:lnSpc>
                <a:spcPct val="95000"/>
              </a:lnSpc>
            </a:pPr>
            <a:r>
              <a:rPr sz="950" b="0" i="1">
                <a:solidFill>
                  <a:srgbClr val="E4E7EC"/>
                </a:solidFill>
                <a:latin typeface="Calibri"/>
              </a:rPr>
              <a:t>own feature</a:t>
            </a:r>
          </a:p>
          <a:p>
            <a:pPr algn="l">
              <a:lnSpc>
                <a:spcPct val="95000"/>
              </a:lnSpc>
            </a:pPr>
            <a:r>
              <a:rPr sz="950" b="0" i="1">
                <a:solidFill>
                  <a:srgbClr val="E4E7EC"/>
                </a:solidFill>
                <a:latin typeface="Calibri"/>
              </a:rPr>
              <a:t>logic</a:t>
            </a:r>
          </a:p>
        </p:txBody>
      </p:sp>
      <p:cxnSp>
        <p:nvCxnSpPr>
          <p:cNvPr id="20" name="Connector 19"/>
          <p:cNvCxnSpPr/>
          <p:nvPr/>
        </p:nvCxnSpPr>
        <p:spPr>
          <a:xfrm>
            <a:off x="6537959" y="4206240"/>
            <a:ext cx="411481" cy="0"/>
          </a:xfrm>
          <a:prstGeom prst="line">
            <a:avLst/>
          </a:prstGeom>
          <a:ln w="19050">
            <a:solidFill>
              <a:srgbClr val="6B76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949440" y="3749039"/>
            <a:ext cx="2011680" cy="914400"/>
          </a:xfrm>
          <a:prstGeom prst="rect">
            <a:avLst/>
          </a:prstGeom>
          <a:noFill/>
        </p:spPr>
        <p:txBody>
          <a:bodyPr wrap="square" lIns="0" tIns="0" rIns="0" bIns="0" anchor="ctr">
            <a:spAutoFit/>
          </a:bodyPr>
          <a:lstStyle/>
          <a:p>
            <a:pPr algn="l">
              <a:lnSpc>
                <a:spcPct val="100000"/>
              </a:lnSpc>
            </a:pPr>
            <a:r>
              <a:rPr sz="1100" b="1" i="0">
                <a:solidFill>
                  <a:srgbClr val="0B2E59"/>
                </a:solidFill>
                <a:latin typeface="Calibri"/>
              </a:rPr>
              <a:t>Score B</a:t>
            </a:r>
          </a:p>
        </p:txBody>
      </p:sp>
      <p:cxnSp>
        <p:nvCxnSpPr>
          <p:cNvPr id="22" name="Connector 21"/>
          <p:cNvCxnSpPr/>
          <p:nvPr/>
        </p:nvCxnSpPr>
        <p:spPr>
          <a:xfrm>
            <a:off x="2606040" y="3749039"/>
            <a:ext cx="1600200" cy="1874521"/>
          </a:xfrm>
          <a:prstGeom prst="line">
            <a:avLst/>
          </a:prstGeom>
          <a:ln w="19050">
            <a:solidFill>
              <a:srgbClr val="6B76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206240" y="5166360"/>
            <a:ext cx="2331720" cy="914400"/>
          </a:xfrm>
          <a:prstGeom prst="roundRect">
            <a:avLst>
              <a:gd name="adj" fmla="val 10000"/>
            </a:avLst>
          </a:prstGeom>
          <a:solidFill>
            <a:srgbClr val="6B768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43400" y="5257800"/>
            <a:ext cx="2057400" cy="365760"/>
          </a:xfrm>
          <a:prstGeom prst="rect">
            <a:avLst/>
          </a:prstGeom>
          <a:noFill/>
        </p:spPr>
        <p:txBody>
          <a:bodyPr wrap="square" lIns="0" tIns="0" rIns="0" bIns="0" anchor="t">
            <a:spAutoFit/>
          </a:bodyPr>
          <a:lstStyle/>
          <a:p>
            <a:pPr algn="l">
              <a:lnSpc>
                <a:spcPct val="100000"/>
              </a:lnSpc>
            </a:pPr>
            <a:r>
              <a:rPr sz="1300" b="1" i="0">
                <a:solidFill>
                  <a:srgbClr val="FFFFFF"/>
                </a:solidFill>
                <a:latin typeface="Calibri"/>
              </a:rPr>
              <a:t>Model C</a:t>
            </a:r>
          </a:p>
        </p:txBody>
      </p:sp>
      <p:sp>
        <p:nvSpPr>
          <p:cNvPr id="25" name="TextBox 24"/>
          <p:cNvSpPr txBox="1"/>
          <p:nvPr/>
        </p:nvSpPr>
        <p:spPr>
          <a:xfrm>
            <a:off x="4343400" y="5605272"/>
            <a:ext cx="2057400" cy="411480"/>
          </a:xfrm>
          <a:prstGeom prst="rect">
            <a:avLst/>
          </a:prstGeom>
          <a:noFill/>
        </p:spPr>
        <p:txBody>
          <a:bodyPr wrap="square" lIns="0" tIns="0" rIns="0" bIns="0" anchor="t">
            <a:spAutoFit/>
          </a:bodyPr>
          <a:lstStyle/>
          <a:p>
            <a:pPr algn="l">
              <a:lnSpc>
                <a:spcPct val="95000"/>
              </a:lnSpc>
            </a:pPr>
            <a:r>
              <a:rPr sz="950" b="0" i="1">
                <a:solidFill>
                  <a:srgbClr val="E4E7EC"/>
                </a:solidFill>
                <a:latin typeface="Calibri"/>
              </a:rPr>
              <a:t>own feature</a:t>
            </a:r>
          </a:p>
          <a:p>
            <a:pPr algn="l">
              <a:lnSpc>
                <a:spcPct val="95000"/>
              </a:lnSpc>
            </a:pPr>
            <a:r>
              <a:rPr sz="950" b="0" i="1">
                <a:solidFill>
                  <a:srgbClr val="E4E7EC"/>
                </a:solidFill>
                <a:latin typeface="Calibri"/>
              </a:rPr>
              <a:t>logic</a:t>
            </a:r>
          </a:p>
        </p:txBody>
      </p:sp>
      <p:cxnSp>
        <p:nvCxnSpPr>
          <p:cNvPr id="26" name="Connector 25"/>
          <p:cNvCxnSpPr/>
          <p:nvPr/>
        </p:nvCxnSpPr>
        <p:spPr>
          <a:xfrm>
            <a:off x="6537959" y="5623560"/>
            <a:ext cx="411481" cy="0"/>
          </a:xfrm>
          <a:prstGeom prst="line">
            <a:avLst/>
          </a:prstGeom>
          <a:ln w="19050">
            <a:solidFill>
              <a:srgbClr val="6B76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949440" y="5166360"/>
            <a:ext cx="2011680" cy="914400"/>
          </a:xfrm>
          <a:prstGeom prst="rect">
            <a:avLst/>
          </a:prstGeom>
          <a:noFill/>
        </p:spPr>
        <p:txBody>
          <a:bodyPr wrap="square" lIns="0" tIns="0" rIns="0" bIns="0" anchor="ctr">
            <a:spAutoFit/>
          </a:bodyPr>
          <a:lstStyle/>
          <a:p>
            <a:pPr algn="l">
              <a:lnSpc>
                <a:spcPct val="100000"/>
              </a:lnSpc>
            </a:pPr>
            <a:r>
              <a:rPr sz="1100" b="1" i="0">
                <a:solidFill>
                  <a:srgbClr val="0B2E59"/>
                </a:solidFill>
                <a:latin typeface="Calibri"/>
              </a:rPr>
              <a:t>Score C</a:t>
            </a:r>
          </a:p>
        </p:txBody>
      </p:sp>
      <p:sp>
        <p:nvSpPr>
          <p:cNvPr id="28" name="Rounded Rectangle 27"/>
          <p:cNvSpPr/>
          <p:nvPr/>
        </p:nvSpPr>
        <p:spPr>
          <a:xfrm>
            <a:off x="480060" y="6185916"/>
            <a:ext cx="11201400" cy="868680"/>
          </a:xfrm>
          <a:prstGeom prst="roundRect">
            <a:avLst>
              <a:gd name="adj" fmla="val 6000"/>
            </a:avLst>
          </a:prstGeom>
          <a:solidFill>
            <a:srgbClr val="FBE4E1"/>
          </a:solidFill>
          <a:ln w="12700">
            <a:solidFill>
              <a:srgbClr val="C144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5705856"/>
            <a:ext cx="2926080" cy="274320"/>
          </a:xfrm>
          <a:prstGeom prst="rect">
            <a:avLst/>
          </a:prstGeom>
          <a:noFill/>
        </p:spPr>
        <p:txBody>
          <a:bodyPr wrap="square" lIns="0" tIns="0" rIns="0" bIns="0" anchor="t">
            <a:spAutoFit/>
          </a:bodyPr>
          <a:lstStyle/>
          <a:p>
            <a:pPr algn="l">
              <a:lnSpc>
                <a:spcPct val="100000"/>
              </a:lnSpc>
            </a:pPr>
            <a:r>
              <a:rPr sz="1100" b="1" i="0">
                <a:solidFill>
                  <a:srgbClr val="C1443A"/>
                </a:solidFill>
                <a:latin typeface="Calibri"/>
              </a:rPr>
              <a:t>THE COST</a:t>
            </a:r>
          </a:p>
        </p:txBody>
      </p:sp>
      <p:sp>
        <p:nvSpPr>
          <p:cNvPr id="30" name="TextBox 29"/>
          <p:cNvSpPr txBox="1"/>
          <p:nvPr/>
        </p:nvSpPr>
        <p:spPr>
          <a:xfrm>
            <a:off x="731520" y="5989320"/>
            <a:ext cx="10698480" cy="457200"/>
          </a:xfrm>
          <a:prstGeom prst="rect">
            <a:avLst/>
          </a:prstGeom>
          <a:noFill/>
        </p:spPr>
        <p:txBody>
          <a:bodyPr wrap="square" lIns="0" tIns="0" rIns="0" bIns="0" anchor="t">
            <a:spAutoFit/>
          </a:bodyPr>
          <a:lstStyle/>
          <a:p>
            <a:pPr algn="l">
              <a:lnSpc>
                <a:spcPct val="100000"/>
              </a:lnSpc>
              <a:spcAft>
                <a:spcPts val="0"/>
              </a:spcAft>
            </a:pPr>
            <a:r>
              <a:rPr sz="1100">
                <a:solidFill>
                  <a:srgbClr val="1B222C"/>
                </a:solidFill>
                <a:latin typeface="Calibri"/>
              </a:rPr>
              <a:t>–  Logic duplicated per model, recomputed on every call, and free to drift apart — with no shared history.</a:t>
            </a:r>
          </a:p>
        </p:txBody>
      </p:sp>
      <p:cxnSp>
        <p:nvCxnSpPr>
          <p:cNvPr id="31" name="Connector 30"/>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3</a:t>
            </a:r>
          </a:p>
        </p:txBody>
      </p:sp>
      <p:sp>
        <p:nvSpPr>
          <p:cNvPr id="33" name="TextBox 32"/>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gd name="adj" fmla="val 0"/>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292608"/>
            <a:ext cx="1993391" cy="310896"/>
          </a:xfrm>
          <a:prstGeom prst="roundRect">
            <a:avLst>
              <a:gd name="adj" fmla="val 50000"/>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92608"/>
            <a:ext cx="1993391" cy="310896"/>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THE FIX</a:t>
            </a:r>
          </a:p>
        </p:txBody>
      </p:sp>
      <p:sp>
        <p:nvSpPr>
          <p:cNvPr id="5" name="TextBox 4"/>
          <p:cNvSpPr txBox="1"/>
          <p:nvPr/>
        </p:nvSpPr>
        <p:spPr>
          <a:xfrm>
            <a:off x="502920" y="713232"/>
            <a:ext cx="10789920" cy="548640"/>
          </a:xfrm>
          <a:prstGeom prst="rect">
            <a:avLst/>
          </a:prstGeom>
          <a:noFill/>
        </p:spPr>
        <p:txBody>
          <a:bodyPr wrap="square" lIns="0" tIns="0" rIns="0" bIns="0" anchor="t">
            <a:spAutoFit/>
          </a:bodyPr>
          <a:lstStyle/>
          <a:p>
            <a:pPr algn="l">
              <a:lnSpc>
                <a:spcPct val="100000"/>
              </a:lnSpc>
            </a:pPr>
            <a:r>
              <a:rPr sz="2500" b="1" i="0">
                <a:solidFill>
                  <a:srgbClr val="0B2E59"/>
                </a:solidFill>
                <a:latin typeface="Calibri"/>
              </a:rPr>
              <a:t>The Fix: An Online Feature Store</a:t>
            </a:r>
          </a:p>
        </p:txBody>
      </p:sp>
      <p:cxnSp>
        <p:nvCxnSpPr>
          <p:cNvPr id="6" name="Connector 5"/>
          <p:cNvCxnSpPr/>
          <p:nvPr/>
        </p:nvCxnSpPr>
        <p:spPr>
          <a:xfrm>
            <a:off x="502920" y="1261872"/>
            <a:ext cx="11183112" cy="0"/>
          </a:xfrm>
          <a:prstGeom prst="line">
            <a:avLst/>
          </a:prstGeom>
          <a:ln w="25400">
            <a:solidFill>
              <a:srgbClr val="E0A526"/>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371600"/>
            <a:ext cx="11201400" cy="457200"/>
          </a:xfrm>
          <a:prstGeom prst="rect">
            <a:avLst/>
          </a:prstGeom>
          <a:noFill/>
        </p:spPr>
        <p:txBody>
          <a:bodyPr wrap="square" lIns="0" tIns="0" rIns="0" bIns="0" anchor="t">
            <a:spAutoFit/>
          </a:bodyPr>
          <a:lstStyle/>
          <a:p>
            <a:pPr algn="l">
              <a:lnSpc>
                <a:spcPct val="115000"/>
              </a:lnSpc>
            </a:pPr>
            <a:r>
              <a:rPr sz="1250" b="0" i="0">
                <a:solidFill>
                  <a:srgbClr val="1B222C"/>
                </a:solidFill>
                <a:latin typeface="Calibri"/>
              </a:rPr>
              <a:t>A feature store computes features once and makes them available to every consumer, instead of each model recomputing its own. There are two ways to serve them:</a:t>
            </a:r>
          </a:p>
        </p:txBody>
      </p:sp>
      <p:graphicFrame>
        <p:nvGraphicFramePr>
          <p:cNvPr id="8" name="Table 7"/>
          <p:cNvGraphicFramePr>
            <a:graphicFrameLocks noGrp="1"/>
          </p:cNvGraphicFramePr>
          <p:nvPr/>
        </p:nvGraphicFramePr>
        <p:xfrm>
          <a:off x="502920" y="1965960"/>
          <a:ext cx="11201399" cy="3401568"/>
        </p:xfrm>
        <a:graphic>
          <a:graphicData uri="http://schemas.openxmlformats.org/drawingml/2006/table">
            <a:tbl>
              <a:tblPr firstRow="1" bandRow="1">
                <a:tableStyleId>{5C22544A-7EE6-4342-B048-85BDC9FD1C3A}</a:tableStyleId>
              </a:tblPr>
              <a:tblGrid>
                <a:gridCol w="278892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566928">
                <a:tc>
                  <a:txBody>
                    <a:bodyPr/>
                    <a:lstStyle/>
                    <a:p>
                      <a:pPr algn="l"/>
                      <a:r>
                        <a:rPr sz="1150" b="1">
                          <a:solidFill>
                            <a:srgbClr val="FFFFFF"/>
                          </a:solidFill>
                          <a:latin typeface="Calibri"/>
                        </a:rPr>
                        <a:t>Dimension</a:t>
                      </a:r>
                    </a:p>
                  </a:txBody>
                  <a:tcPr anchor="ctr">
                    <a:solidFill>
                      <a:srgbClr val="0B2E59"/>
                    </a:solidFill>
                  </a:tcPr>
                </a:tc>
                <a:tc>
                  <a:txBody>
                    <a:bodyPr/>
                    <a:lstStyle/>
                    <a:p>
                      <a:pPr algn="ctr"/>
                      <a:r>
                        <a:rPr sz="1150" b="1">
                          <a:solidFill>
                            <a:srgbClr val="FFFFFF"/>
                          </a:solidFill>
                          <a:latin typeface="Calibri"/>
                        </a:rPr>
                        <a:t>On-Demand / Real-Time</a:t>
                      </a:r>
                    </a:p>
                  </a:txBody>
                  <a:tcPr anchor="ctr">
                    <a:solidFill>
                      <a:srgbClr val="0B2E59"/>
                    </a:solidFill>
                  </a:tcPr>
                </a:tc>
                <a:tc>
                  <a:txBody>
                    <a:bodyPr/>
                    <a:lstStyle/>
                    <a:p>
                      <a:pPr algn="ctr"/>
                      <a:r>
                        <a:rPr sz="1150" b="1">
                          <a:solidFill>
                            <a:srgbClr val="FFFFFF"/>
                          </a:solidFill>
                          <a:latin typeface="Calibri"/>
                        </a:rPr>
                        <a:t>Online Feature Store (what we built)</a:t>
                      </a:r>
                    </a:p>
                  </a:txBody>
                  <a:tcPr anchor="ctr">
                    <a:solidFill>
                      <a:srgbClr val="0B2E59"/>
                    </a:solidFill>
                  </a:tcPr>
                </a:tc>
                <a:extLst>
                  <a:ext uri="{0D108BD9-81ED-4DB2-BD59-A6C34878D82A}">
                    <a16:rowId xmlns:a16="http://schemas.microsoft.com/office/drawing/2014/main" val="10000"/>
                  </a:ext>
                </a:extLst>
              </a:tr>
              <a:tr h="566928">
                <a:tc>
                  <a:txBody>
                    <a:bodyPr/>
                    <a:lstStyle/>
                    <a:p>
                      <a:pPr algn="l"/>
                      <a:r>
                        <a:rPr sz="1050" b="1">
                          <a:solidFill>
                            <a:srgbClr val="0B2E59"/>
                          </a:solidFill>
                          <a:latin typeface="Calibri"/>
                        </a:rPr>
                        <a:t>When features compute</a:t>
                      </a:r>
                    </a:p>
                  </a:txBody>
                  <a:tcPr anchor="ctr">
                    <a:solidFill>
                      <a:srgbClr val="FFFFFF"/>
                    </a:solidFill>
                  </a:tcPr>
                </a:tc>
                <a:tc>
                  <a:txBody>
                    <a:bodyPr/>
                    <a:lstStyle/>
                    <a:p>
                      <a:pPr algn="l"/>
                      <a:r>
                        <a:rPr sz="1050" b="0">
                          <a:solidFill>
                            <a:srgbClr val="0B2E59"/>
                          </a:solidFill>
                          <a:latin typeface="Calibri"/>
                        </a:rPr>
                        <a:t>At the moment of the request</a:t>
                      </a:r>
                    </a:p>
                  </a:txBody>
                  <a:tcPr anchor="ctr">
                    <a:solidFill>
                      <a:srgbClr val="FFFFFF"/>
                    </a:solidFill>
                  </a:tcPr>
                </a:tc>
                <a:tc>
                  <a:txBody>
                    <a:bodyPr/>
                    <a:lstStyle/>
                    <a:p>
                      <a:pPr algn="l"/>
                      <a:r>
                        <a:rPr sz="1050" b="0">
                          <a:solidFill>
                            <a:srgbClr val="0B2E59"/>
                          </a:solidFill>
                          <a:latin typeface="Calibri"/>
                        </a:rPr>
                        <a:t>Ahead of time — triggered by each new event</a:t>
                      </a:r>
                    </a:p>
                  </a:txBody>
                  <a:tcPr anchor="ctr">
                    <a:solidFill>
                      <a:srgbClr val="FBEFD2"/>
                    </a:solidFill>
                  </a:tcPr>
                </a:tc>
                <a:extLst>
                  <a:ext uri="{0D108BD9-81ED-4DB2-BD59-A6C34878D82A}">
                    <a16:rowId xmlns:a16="http://schemas.microsoft.com/office/drawing/2014/main" val="10001"/>
                  </a:ext>
                </a:extLst>
              </a:tr>
              <a:tr h="566928">
                <a:tc>
                  <a:txBody>
                    <a:bodyPr/>
                    <a:lstStyle/>
                    <a:p>
                      <a:pPr algn="l"/>
                      <a:r>
                        <a:rPr sz="1050" b="1">
                          <a:solidFill>
                            <a:srgbClr val="0B2E59"/>
                          </a:solidFill>
                          <a:latin typeface="Calibri"/>
                        </a:rPr>
                        <a:t>What the caller pays for</a:t>
                      </a:r>
                    </a:p>
                  </a:txBody>
                  <a:tcPr anchor="ctr">
                    <a:solidFill>
                      <a:srgbClr val="ECEEF2"/>
                    </a:solidFill>
                  </a:tcPr>
                </a:tc>
                <a:tc>
                  <a:txBody>
                    <a:bodyPr/>
                    <a:lstStyle/>
                    <a:p>
                      <a:pPr algn="l"/>
                      <a:r>
                        <a:rPr sz="1050" b="0">
                          <a:solidFill>
                            <a:srgbClr val="0B2E59"/>
                          </a:solidFill>
                          <a:latin typeface="Calibri"/>
                        </a:rPr>
                        <a:t>Full computation, every call</a:t>
                      </a:r>
                    </a:p>
                  </a:txBody>
                  <a:tcPr anchor="ctr">
                    <a:solidFill>
                      <a:srgbClr val="ECEEF2"/>
                    </a:solidFill>
                  </a:tcPr>
                </a:tc>
                <a:tc>
                  <a:txBody>
                    <a:bodyPr/>
                    <a:lstStyle/>
                    <a:p>
                      <a:pPr algn="l"/>
                      <a:r>
                        <a:rPr sz="1050" b="0">
                          <a:solidFill>
                            <a:srgbClr val="0B2E59"/>
                          </a:solidFill>
                          <a:latin typeface="Calibri"/>
                        </a:rPr>
                        <a:t>A single low-latency lookup by policy ID</a:t>
                      </a:r>
                    </a:p>
                  </a:txBody>
                  <a:tcPr anchor="ctr">
                    <a:solidFill>
                      <a:srgbClr val="FBEFD2"/>
                    </a:solidFill>
                  </a:tcPr>
                </a:tc>
                <a:extLst>
                  <a:ext uri="{0D108BD9-81ED-4DB2-BD59-A6C34878D82A}">
                    <a16:rowId xmlns:a16="http://schemas.microsoft.com/office/drawing/2014/main" val="10002"/>
                  </a:ext>
                </a:extLst>
              </a:tr>
              <a:tr h="566928">
                <a:tc>
                  <a:txBody>
                    <a:bodyPr/>
                    <a:lstStyle/>
                    <a:p>
                      <a:pPr algn="l"/>
                      <a:r>
                        <a:rPr sz="1050" b="1">
                          <a:solidFill>
                            <a:srgbClr val="0B2E59"/>
                          </a:solidFill>
                          <a:latin typeface="Calibri"/>
                        </a:rPr>
                        <a:t>Reuse across models</a:t>
                      </a:r>
                    </a:p>
                  </a:txBody>
                  <a:tcPr anchor="ctr">
                    <a:solidFill>
                      <a:srgbClr val="FFFFFF"/>
                    </a:solidFill>
                  </a:tcPr>
                </a:tc>
                <a:tc>
                  <a:txBody>
                    <a:bodyPr/>
                    <a:lstStyle/>
                    <a:p>
                      <a:pPr algn="l"/>
                      <a:r>
                        <a:rPr sz="1050" b="0">
                          <a:solidFill>
                            <a:srgbClr val="0B2E59"/>
                          </a:solidFill>
                          <a:latin typeface="Calibri"/>
                        </a:rPr>
                        <a:t>Logic duplicated per model</a:t>
                      </a:r>
                    </a:p>
                  </a:txBody>
                  <a:tcPr anchor="ctr">
                    <a:solidFill>
                      <a:srgbClr val="FFFFFF"/>
                    </a:solidFill>
                  </a:tcPr>
                </a:tc>
                <a:tc>
                  <a:txBody>
                    <a:bodyPr/>
                    <a:lstStyle/>
                    <a:p>
                      <a:pPr algn="l"/>
                      <a:r>
                        <a:rPr sz="1050" b="0">
                          <a:solidFill>
                            <a:srgbClr val="0B2E59"/>
                          </a:solidFill>
                          <a:latin typeface="Calibri"/>
                        </a:rPr>
                        <a:t>Computed once, shared by every model</a:t>
                      </a:r>
                    </a:p>
                  </a:txBody>
                  <a:tcPr anchor="ctr">
                    <a:solidFill>
                      <a:srgbClr val="FBEFD2"/>
                    </a:solidFill>
                  </a:tcPr>
                </a:tc>
                <a:extLst>
                  <a:ext uri="{0D108BD9-81ED-4DB2-BD59-A6C34878D82A}">
                    <a16:rowId xmlns:a16="http://schemas.microsoft.com/office/drawing/2014/main" val="10003"/>
                  </a:ext>
                </a:extLst>
              </a:tr>
              <a:tr h="566928">
                <a:tc>
                  <a:txBody>
                    <a:bodyPr/>
                    <a:lstStyle/>
                    <a:p>
                      <a:pPr algn="l"/>
                      <a:r>
                        <a:rPr sz="1050" b="1">
                          <a:solidFill>
                            <a:srgbClr val="0B2E59"/>
                          </a:solidFill>
                          <a:latin typeface="Calibri"/>
                        </a:rPr>
                        <a:t>Historical trace</a:t>
                      </a:r>
                    </a:p>
                  </a:txBody>
                  <a:tcPr anchor="ctr">
                    <a:solidFill>
                      <a:srgbClr val="ECEEF2"/>
                    </a:solidFill>
                  </a:tcPr>
                </a:tc>
                <a:tc>
                  <a:txBody>
                    <a:bodyPr/>
                    <a:lstStyle/>
                    <a:p>
                      <a:pPr algn="l"/>
                      <a:r>
                        <a:rPr sz="1050" b="0">
                          <a:solidFill>
                            <a:srgbClr val="0B2E59"/>
                          </a:solidFill>
                          <a:latin typeface="Calibri"/>
                        </a:rPr>
                        <a:t>None, by default</a:t>
                      </a:r>
                    </a:p>
                  </a:txBody>
                  <a:tcPr anchor="ctr">
                    <a:solidFill>
                      <a:srgbClr val="ECEEF2"/>
                    </a:solidFill>
                  </a:tcPr>
                </a:tc>
                <a:tc>
                  <a:txBody>
                    <a:bodyPr/>
                    <a:lstStyle/>
                    <a:p>
                      <a:pPr algn="l"/>
                      <a:r>
                        <a:rPr sz="1050" b="0">
                          <a:solidFill>
                            <a:srgbClr val="0B2E59"/>
                          </a:solidFill>
                          <a:latin typeface="Calibri"/>
                        </a:rPr>
                        <a:t>SCD Type 2 history — every past state preserved</a:t>
                      </a:r>
                    </a:p>
                  </a:txBody>
                  <a:tcPr anchor="ctr">
                    <a:solidFill>
                      <a:srgbClr val="FBEFD2"/>
                    </a:solidFill>
                  </a:tcPr>
                </a:tc>
                <a:extLst>
                  <a:ext uri="{0D108BD9-81ED-4DB2-BD59-A6C34878D82A}">
                    <a16:rowId xmlns:a16="http://schemas.microsoft.com/office/drawing/2014/main" val="10004"/>
                  </a:ext>
                </a:extLst>
              </a:tr>
              <a:tr h="566928">
                <a:tc>
                  <a:txBody>
                    <a:bodyPr/>
                    <a:lstStyle/>
                    <a:p>
                      <a:pPr algn="l"/>
                      <a:r>
                        <a:rPr sz="1050" b="1">
                          <a:solidFill>
                            <a:srgbClr val="0B2E59"/>
                          </a:solidFill>
                          <a:latin typeface="Calibri"/>
                        </a:rPr>
                        <a:t>Future-dated changes</a:t>
                      </a:r>
                    </a:p>
                  </a:txBody>
                  <a:tcPr anchor="ctr">
                    <a:solidFill>
                      <a:srgbClr val="FFFFFF"/>
                    </a:solidFill>
                  </a:tcPr>
                </a:tc>
                <a:tc>
                  <a:txBody>
                    <a:bodyPr/>
                    <a:lstStyle/>
                    <a:p>
                      <a:pPr algn="l"/>
                      <a:r>
                        <a:rPr sz="1050" b="0">
                          <a:solidFill>
                            <a:srgbClr val="0B2E59"/>
                          </a:solidFill>
                          <a:latin typeface="Calibri"/>
                        </a:rPr>
                        <a:t>Not usually distinguished</a:t>
                      </a:r>
                    </a:p>
                  </a:txBody>
                  <a:tcPr anchor="ctr">
                    <a:solidFill>
                      <a:srgbClr val="FFFFFF"/>
                    </a:solidFill>
                  </a:tcPr>
                </a:tc>
                <a:tc>
                  <a:txBody>
                    <a:bodyPr/>
                    <a:lstStyle/>
                    <a:p>
                      <a:pPr algn="l"/>
                      <a:r>
                        <a:rPr sz="1050" b="0">
                          <a:solidFill>
                            <a:srgbClr val="0B2E59"/>
                          </a:solidFill>
                          <a:latin typeface="Calibri"/>
                        </a:rPr>
                        <a:t>Explicit Active / Pending split by effective date</a:t>
                      </a:r>
                    </a:p>
                  </a:txBody>
                  <a:tcPr anchor="ctr">
                    <a:solidFill>
                      <a:srgbClr val="FBEFD2"/>
                    </a:solidFill>
                  </a:tcPr>
                </a:tc>
                <a:extLst>
                  <a:ext uri="{0D108BD9-81ED-4DB2-BD59-A6C34878D82A}">
                    <a16:rowId xmlns:a16="http://schemas.microsoft.com/office/drawing/2014/main" val="10005"/>
                  </a:ext>
                </a:extLst>
              </a:tr>
            </a:tbl>
          </a:graphicData>
        </a:graphic>
      </p:graphicFrame>
      <p:sp>
        <p:nvSpPr>
          <p:cNvPr id="9" name="Rounded Rectangle 8"/>
          <p:cNvSpPr/>
          <p:nvPr/>
        </p:nvSpPr>
        <p:spPr>
          <a:xfrm>
            <a:off x="502920" y="5596127"/>
            <a:ext cx="11201400" cy="640080"/>
          </a:xfrm>
          <a:prstGeom prst="roundRect">
            <a:avLst>
              <a:gd name="adj" fmla="val 10000"/>
            </a:avLst>
          </a:prstGeom>
          <a:solidFill>
            <a:srgbClr val="0B2E59"/>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5596127"/>
            <a:ext cx="10652760" cy="640080"/>
          </a:xfrm>
          <a:prstGeom prst="rect">
            <a:avLst/>
          </a:prstGeom>
          <a:noFill/>
        </p:spPr>
        <p:txBody>
          <a:bodyPr wrap="square" lIns="0" tIns="0" rIns="0" bIns="0" anchor="ctr">
            <a:spAutoFit/>
          </a:bodyPr>
          <a:lstStyle/>
          <a:p>
            <a:pPr algn="l">
              <a:lnSpc>
                <a:spcPct val="100000"/>
              </a:lnSpc>
            </a:pPr>
            <a:r>
              <a:rPr sz="1200" b="1" i="1">
                <a:solidFill>
                  <a:srgbClr val="FFFFFF"/>
                </a:solidFill>
                <a:latin typeface="Calibri"/>
              </a:rPr>
              <a:t>Our approach: event-driven precomputation (not a fixed batch window) + an online store + a REST endpoint — freshness of streaming, latency of a lookup.</a:t>
            </a:r>
          </a:p>
        </p:txBody>
      </p:sp>
      <p:cxnSp>
        <p:nvCxnSpPr>
          <p:cNvPr id="11" name="Connector 10"/>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4</a:t>
            </a:r>
          </a:p>
        </p:txBody>
      </p:sp>
      <p:sp>
        <p:nvSpPr>
          <p:cNvPr id="13" name="TextBox 12"/>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gd name="adj" fmla="val 0"/>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292608"/>
            <a:ext cx="3529584" cy="310896"/>
          </a:xfrm>
          <a:prstGeom prst="roundRect">
            <a:avLst>
              <a:gd name="adj" fmla="val 50000"/>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92608"/>
            <a:ext cx="3529584" cy="310896"/>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IMPLEMENTATION</a:t>
            </a:r>
          </a:p>
        </p:txBody>
      </p:sp>
      <p:sp>
        <p:nvSpPr>
          <p:cNvPr id="5" name="TextBox 4"/>
          <p:cNvSpPr txBox="1"/>
          <p:nvPr/>
        </p:nvSpPr>
        <p:spPr>
          <a:xfrm>
            <a:off x="502920" y="713232"/>
            <a:ext cx="10789920" cy="548640"/>
          </a:xfrm>
          <a:prstGeom prst="rect">
            <a:avLst/>
          </a:prstGeom>
          <a:noFill/>
        </p:spPr>
        <p:txBody>
          <a:bodyPr wrap="square" lIns="0" tIns="0" rIns="0" bIns="0" anchor="t">
            <a:spAutoFit/>
          </a:bodyPr>
          <a:lstStyle/>
          <a:p>
            <a:pPr algn="l">
              <a:lnSpc>
                <a:spcPct val="100000"/>
              </a:lnSpc>
            </a:pPr>
            <a:r>
              <a:rPr sz="2500" b="1" i="0">
                <a:solidFill>
                  <a:srgbClr val="0B2E59"/>
                </a:solidFill>
                <a:latin typeface="Calibri"/>
              </a:rPr>
              <a:t>Inside the Pipeline: One Policy, Four Transactions, One Record</a:t>
            </a:r>
          </a:p>
        </p:txBody>
      </p:sp>
      <p:cxnSp>
        <p:nvCxnSpPr>
          <p:cNvPr id="6" name="Connector 5"/>
          <p:cNvCxnSpPr/>
          <p:nvPr/>
        </p:nvCxnSpPr>
        <p:spPr>
          <a:xfrm>
            <a:off x="502920" y="1261872"/>
            <a:ext cx="11183112" cy="0"/>
          </a:xfrm>
          <a:prstGeom prst="line">
            <a:avLst/>
          </a:prstGeom>
          <a:ln w="25400">
            <a:solidFill>
              <a:srgbClr val="0B2E5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1298448"/>
            <a:ext cx="11201400" cy="219456"/>
          </a:xfrm>
          <a:prstGeom prst="rect">
            <a:avLst/>
          </a:prstGeom>
          <a:noFill/>
        </p:spPr>
        <p:txBody>
          <a:bodyPr wrap="square" lIns="0" tIns="0" rIns="0" bIns="0" anchor="t">
            <a:spAutoFit/>
          </a:bodyPr>
          <a:lstStyle/>
          <a:p>
            <a:pPr algn="l">
              <a:lnSpc>
                <a:spcPct val="100000"/>
              </a:lnSpc>
            </a:pPr>
            <a:r>
              <a:rPr sz="1000" b="1" i="0">
                <a:solidFill>
                  <a:srgbClr val="6B7686"/>
                </a:solidFill>
                <a:latin typeface="Calibri"/>
              </a:rPr>
              <a:t>WORKED EXAMPLE — POLICY-1001 (illustrative)</a:t>
            </a:r>
          </a:p>
        </p:txBody>
      </p:sp>
      <p:cxnSp>
        <p:nvCxnSpPr>
          <p:cNvPr id="8" name="Connector 7"/>
          <p:cNvCxnSpPr/>
          <p:nvPr/>
        </p:nvCxnSpPr>
        <p:spPr>
          <a:xfrm>
            <a:off x="868680" y="1691640"/>
            <a:ext cx="0" cy="4480560"/>
          </a:xfrm>
          <a:prstGeom prst="line">
            <a:avLst/>
          </a:prstGeom>
          <a:ln w="31750">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713231" y="2096262"/>
            <a:ext cx="310896" cy="310896"/>
          </a:xfrm>
          <a:prstGeom prst="ellipse">
            <a:avLst/>
          </a:prstGeom>
          <a:solidFill>
            <a:srgbClr val="0B2E59"/>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234440" y="1746504"/>
            <a:ext cx="5806440" cy="992124"/>
          </a:xfrm>
          <a:prstGeom prst="roundRect">
            <a:avLst>
              <a:gd name="adj" fmla="val 5000"/>
            </a:avLst>
          </a:prstGeom>
          <a:solidFill>
            <a:srgbClr val="FFFFFF"/>
          </a:solidFill>
          <a:ln w="9525">
            <a:solidFill>
              <a:srgbClr val="E1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234440" y="1746504"/>
            <a:ext cx="64008" cy="992124"/>
          </a:xfrm>
          <a:prstGeom prst="roundRect">
            <a:avLst>
              <a:gd name="adj" fmla="val 0"/>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35608" y="1819656"/>
            <a:ext cx="3108960" cy="256032"/>
          </a:xfrm>
          <a:prstGeom prst="rect">
            <a:avLst/>
          </a:prstGeom>
          <a:noFill/>
        </p:spPr>
        <p:txBody>
          <a:bodyPr wrap="square" lIns="0" tIns="0" rIns="0" bIns="0" anchor="t">
            <a:spAutoFit/>
          </a:bodyPr>
          <a:lstStyle/>
          <a:p>
            <a:pPr algn="l">
              <a:lnSpc>
                <a:spcPct val="100000"/>
              </a:lnSpc>
            </a:pPr>
            <a:r>
              <a:rPr sz="1250" b="1" i="0">
                <a:solidFill>
                  <a:srgbClr val="0B2E59"/>
                </a:solidFill>
                <a:latin typeface="Calibri"/>
              </a:rPr>
              <a:t>New Business</a:t>
            </a:r>
          </a:p>
        </p:txBody>
      </p:sp>
      <p:sp>
        <p:nvSpPr>
          <p:cNvPr id="13" name="TextBox 12"/>
          <p:cNvSpPr txBox="1"/>
          <p:nvPr/>
        </p:nvSpPr>
        <p:spPr>
          <a:xfrm>
            <a:off x="4434840" y="1837944"/>
            <a:ext cx="2423159" cy="237744"/>
          </a:xfrm>
          <a:prstGeom prst="rect">
            <a:avLst/>
          </a:prstGeom>
          <a:noFill/>
        </p:spPr>
        <p:txBody>
          <a:bodyPr wrap="square" lIns="0" tIns="0" rIns="0" bIns="0" anchor="t">
            <a:spAutoFit/>
          </a:bodyPr>
          <a:lstStyle/>
          <a:p>
            <a:pPr algn="r">
              <a:lnSpc>
                <a:spcPct val="100000"/>
              </a:lnSpc>
            </a:pPr>
            <a:r>
              <a:rPr sz="900" b="0" i="1">
                <a:solidFill>
                  <a:srgbClr val="6B7686"/>
                </a:solidFill>
                <a:latin typeface="Calibri"/>
              </a:rPr>
              <a:t>T0 · Jan 2026</a:t>
            </a:r>
          </a:p>
        </p:txBody>
      </p:sp>
      <p:sp>
        <p:nvSpPr>
          <p:cNvPr id="14" name="TextBox 13"/>
          <p:cNvSpPr txBox="1"/>
          <p:nvPr/>
        </p:nvSpPr>
        <p:spPr>
          <a:xfrm>
            <a:off x="1435608" y="2075688"/>
            <a:ext cx="5440679" cy="425196"/>
          </a:xfrm>
          <a:prstGeom prst="rect">
            <a:avLst/>
          </a:prstGeom>
          <a:noFill/>
        </p:spPr>
        <p:txBody>
          <a:bodyPr wrap="square" lIns="0" tIns="0" rIns="0" bIns="0" anchor="t">
            <a:spAutoFit/>
          </a:bodyPr>
          <a:lstStyle/>
          <a:p>
            <a:pPr algn="l">
              <a:lnSpc>
                <a:spcPct val="102000"/>
              </a:lnSpc>
            </a:pPr>
            <a:r>
              <a:rPr sz="950" b="0" i="0">
                <a:solidFill>
                  <a:srgbClr val="1B222C"/>
                </a:solidFill>
                <a:latin typeface="Calibri"/>
              </a:rPr>
              <a:t>First transaction for this policy — no previous row to compare against, so lag() returns NULL. Snapshot aggregation only: 2 vehicles, 2 drivers, TENURE_YRS = 0.</a:t>
            </a:r>
          </a:p>
        </p:txBody>
      </p:sp>
      <p:sp>
        <p:nvSpPr>
          <p:cNvPr id="15" name="TextBox 14"/>
          <p:cNvSpPr txBox="1"/>
          <p:nvPr/>
        </p:nvSpPr>
        <p:spPr>
          <a:xfrm>
            <a:off x="1435608" y="2519172"/>
            <a:ext cx="5440679" cy="201168"/>
          </a:xfrm>
          <a:prstGeom prst="rect">
            <a:avLst/>
          </a:prstGeom>
          <a:noFill/>
        </p:spPr>
        <p:txBody>
          <a:bodyPr wrap="square" lIns="0" tIns="0" rIns="0" bIns="0" anchor="t">
            <a:spAutoFit/>
          </a:bodyPr>
          <a:lstStyle/>
          <a:p>
            <a:pPr algn="l">
              <a:lnSpc>
                <a:spcPct val="100000"/>
              </a:lnSpc>
            </a:pPr>
            <a:r>
              <a:rPr sz="780" b="1" i="0">
                <a:solidFill>
                  <a:srgbClr val="0B2E59"/>
                </a:solidFill>
                <a:latin typeface="Calibri"/>
              </a:rPr>
              <a:t>MECHANISM: explode + groupBy aggregate (first snapshot)</a:t>
            </a:r>
          </a:p>
        </p:txBody>
      </p:sp>
      <p:sp>
        <p:nvSpPr>
          <p:cNvPr id="16" name="Oval 15"/>
          <p:cNvSpPr/>
          <p:nvPr/>
        </p:nvSpPr>
        <p:spPr>
          <a:xfrm>
            <a:off x="713231" y="3216402"/>
            <a:ext cx="310896" cy="310896"/>
          </a:xfrm>
          <a:prstGeom prst="ellipse">
            <a:avLst/>
          </a:prstGeom>
          <a:solidFill>
            <a:srgbClr val="3E6FA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234440" y="2866644"/>
            <a:ext cx="5806440" cy="992124"/>
          </a:xfrm>
          <a:prstGeom prst="roundRect">
            <a:avLst>
              <a:gd name="adj" fmla="val 5000"/>
            </a:avLst>
          </a:prstGeom>
          <a:solidFill>
            <a:srgbClr val="FFFFFF"/>
          </a:solidFill>
          <a:ln w="9525">
            <a:solidFill>
              <a:srgbClr val="E1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234440" y="2866644"/>
            <a:ext cx="64008" cy="992124"/>
          </a:xfrm>
          <a:prstGeom prst="roundRect">
            <a:avLst>
              <a:gd name="adj" fmla="val 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435608" y="2939796"/>
            <a:ext cx="3108960" cy="256032"/>
          </a:xfrm>
          <a:prstGeom prst="rect">
            <a:avLst/>
          </a:prstGeom>
          <a:noFill/>
        </p:spPr>
        <p:txBody>
          <a:bodyPr wrap="square" lIns="0" tIns="0" rIns="0" bIns="0" anchor="t">
            <a:spAutoFit/>
          </a:bodyPr>
          <a:lstStyle/>
          <a:p>
            <a:pPr algn="l">
              <a:lnSpc>
                <a:spcPct val="100000"/>
              </a:lnSpc>
            </a:pPr>
            <a:r>
              <a:rPr sz="1250" b="1" i="0">
                <a:solidFill>
                  <a:srgbClr val="0B2E59"/>
                </a:solidFill>
                <a:latin typeface="Calibri"/>
              </a:rPr>
              <a:t>Endorsement 1</a:t>
            </a:r>
          </a:p>
        </p:txBody>
      </p:sp>
      <p:sp>
        <p:nvSpPr>
          <p:cNvPr id="20" name="TextBox 19"/>
          <p:cNvSpPr txBox="1"/>
          <p:nvPr/>
        </p:nvSpPr>
        <p:spPr>
          <a:xfrm>
            <a:off x="4434840" y="2958084"/>
            <a:ext cx="2423159" cy="237744"/>
          </a:xfrm>
          <a:prstGeom prst="rect">
            <a:avLst/>
          </a:prstGeom>
          <a:noFill/>
        </p:spPr>
        <p:txBody>
          <a:bodyPr wrap="square" lIns="0" tIns="0" rIns="0" bIns="0" anchor="t">
            <a:spAutoFit/>
          </a:bodyPr>
          <a:lstStyle/>
          <a:p>
            <a:pPr algn="r">
              <a:lnSpc>
                <a:spcPct val="100000"/>
              </a:lnSpc>
            </a:pPr>
            <a:r>
              <a:rPr sz="900" b="0" i="1">
                <a:solidFill>
                  <a:srgbClr val="6B7686"/>
                </a:solidFill>
                <a:latin typeface="Calibri"/>
              </a:rPr>
              <a:t>T1 · Apr 2026</a:t>
            </a:r>
          </a:p>
        </p:txBody>
      </p:sp>
      <p:sp>
        <p:nvSpPr>
          <p:cNvPr id="21" name="TextBox 20"/>
          <p:cNvSpPr txBox="1"/>
          <p:nvPr/>
        </p:nvSpPr>
        <p:spPr>
          <a:xfrm>
            <a:off x="1435608" y="3195828"/>
            <a:ext cx="5440679" cy="425196"/>
          </a:xfrm>
          <a:prstGeom prst="rect">
            <a:avLst/>
          </a:prstGeom>
          <a:noFill/>
        </p:spPr>
        <p:txBody>
          <a:bodyPr wrap="square" lIns="0" tIns="0" rIns="0" bIns="0" anchor="t">
            <a:spAutoFit/>
          </a:bodyPr>
          <a:lstStyle/>
          <a:p>
            <a:pPr algn="l">
              <a:lnSpc>
                <a:spcPct val="102000"/>
              </a:lnSpc>
            </a:pPr>
            <a:r>
              <a:rPr sz="950" b="0" i="0">
                <a:solidFill>
                  <a:srgbClr val="1B222C"/>
                </a:solidFill>
                <a:latin typeface="Calibri"/>
              </a:rPr>
              <a:t>A vehicle is added mid-term. Window lag() compares this snapshot to New Business: VEH_CNT 2→3, VEH_ADDED_LATEST_TXN = 1.</a:t>
            </a:r>
          </a:p>
        </p:txBody>
      </p:sp>
      <p:sp>
        <p:nvSpPr>
          <p:cNvPr id="22" name="TextBox 21"/>
          <p:cNvSpPr txBox="1"/>
          <p:nvPr/>
        </p:nvSpPr>
        <p:spPr>
          <a:xfrm>
            <a:off x="1435608" y="3639312"/>
            <a:ext cx="5440679" cy="201168"/>
          </a:xfrm>
          <a:prstGeom prst="rect">
            <a:avLst/>
          </a:prstGeom>
          <a:noFill/>
        </p:spPr>
        <p:txBody>
          <a:bodyPr wrap="square" lIns="0" tIns="0" rIns="0" bIns="0" anchor="t">
            <a:spAutoFit/>
          </a:bodyPr>
          <a:lstStyle/>
          <a:p>
            <a:pPr algn="l">
              <a:lnSpc>
                <a:spcPct val="100000"/>
              </a:lnSpc>
            </a:pPr>
            <a:r>
              <a:rPr sz="780" b="1" i="0">
                <a:solidFill>
                  <a:srgbClr val="3E6FA6"/>
                </a:solidFill>
                <a:latin typeface="Calibri"/>
              </a:rPr>
              <a:t>MECHANISM: lag() over SRC_TRANS_TMSP, partitioned by policy</a:t>
            </a:r>
          </a:p>
        </p:txBody>
      </p:sp>
      <p:sp>
        <p:nvSpPr>
          <p:cNvPr id="23" name="Oval 22"/>
          <p:cNvSpPr/>
          <p:nvPr/>
        </p:nvSpPr>
        <p:spPr>
          <a:xfrm>
            <a:off x="713231" y="4336542"/>
            <a:ext cx="310896" cy="310896"/>
          </a:xfrm>
          <a:prstGeom prst="ellipse">
            <a:avLst/>
          </a:prstGeom>
          <a:solidFill>
            <a:srgbClr val="E0A52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234440" y="3986784"/>
            <a:ext cx="5806440" cy="992124"/>
          </a:xfrm>
          <a:prstGeom prst="roundRect">
            <a:avLst>
              <a:gd name="adj" fmla="val 5000"/>
            </a:avLst>
          </a:prstGeom>
          <a:solidFill>
            <a:srgbClr val="FFFFFF"/>
          </a:solidFill>
          <a:ln w="9525">
            <a:solidFill>
              <a:srgbClr val="E1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234440" y="3986784"/>
            <a:ext cx="64008" cy="992124"/>
          </a:xfrm>
          <a:prstGeom prst="roundRect">
            <a:avLst>
              <a:gd name="adj" fmla="val 0"/>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435608" y="4059936"/>
            <a:ext cx="3108960" cy="256032"/>
          </a:xfrm>
          <a:prstGeom prst="rect">
            <a:avLst/>
          </a:prstGeom>
          <a:noFill/>
        </p:spPr>
        <p:txBody>
          <a:bodyPr wrap="square" lIns="0" tIns="0" rIns="0" bIns="0" anchor="t">
            <a:spAutoFit/>
          </a:bodyPr>
          <a:lstStyle/>
          <a:p>
            <a:pPr algn="l">
              <a:lnSpc>
                <a:spcPct val="100000"/>
              </a:lnSpc>
            </a:pPr>
            <a:r>
              <a:rPr sz="1250" b="1" i="0">
                <a:solidFill>
                  <a:srgbClr val="0B2E59"/>
                </a:solidFill>
                <a:latin typeface="Calibri"/>
              </a:rPr>
              <a:t>Endorsement 2</a:t>
            </a:r>
          </a:p>
        </p:txBody>
      </p:sp>
      <p:sp>
        <p:nvSpPr>
          <p:cNvPr id="27" name="TextBox 26"/>
          <p:cNvSpPr txBox="1"/>
          <p:nvPr/>
        </p:nvSpPr>
        <p:spPr>
          <a:xfrm>
            <a:off x="4434840" y="4078224"/>
            <a:ext cx="2423159" cy="237744"/>
          </a:xfrm>
          <a:prstGeom prst="rect">
            <a:avLst/>
          </a:prstGeom>
          <a:noFill/>
        </p:spPr>
        <p:txBody>
          <a:bodyPr wrap="square" lIns="0" tIns="0" rIns="0" bIns="0" anchor="t">
            <a:spAutoFit/>
          </a:bodyPr>
          <a:lstStyle/>
          <a:p>
            <a:pPr algn="r">
              <a:lnSpc>
                <a:spcPct val="100000"/>
              </a:lnSpc>
            </a:pPr>
            <a:r>
              <a:rPr sz="900" b="0" i="1">
                <a:solidFill>
                  <a:srgbClr val="6B7686"/>
                </a:solidFill>
                <a:latin typeface="Calibri"/>
              </a:rPr>
              <a:t>T2 · Aug 2026 (eff. Sep 2026)</a:t>
            </a:r>
          </a:p>
        </p:txBody>
      </p:sp>
      <p:sp>
        <p:nvSpPr>
          <p:cNvPr id="28" name="TextBox 27"/>
          <p:cNvSpPr txBox="1"/>
          <p:nvPr/>
        </p:nvSpPr>
        <p:spPr>
          <a:xfrm>
            <a:off x="1435608" y="4315968"/>
            <a:ext cx="5440679" cy="425196"/>
          </a:xfrm>
          <a:prstGeom prst="rect">
            <a:avLst/>
          </a:prstGeom>
          <a:noFill/>
        </p:spPr>
        <p:txBody>
          <a:bodyPr wrap="square" lIns="0" tIns="0" rIns="0" bIns="0" anchor="t">
            <a:spAutoFit/>
          </a:bodyPr>
          <a:lstStyle/>
          <a:p>
            <a:pPr algn="l">
              <a:lnSpc>
                <a:spcPct val="102000"/>
              </a:lnSpc>
            </a:pPr>
            <a:r>
              <a:rPr sz="950" b="0" i="0">
                <a:solidFill>
                  <a:srgbClr val="1B222C"/>
                </a:solidFill>
                <a:latin typeface="Calibri"/>
              </a:rPr>
              <a:t>Comprehensive coverage is added, effective next month. array_except() flags COMP_COVERAGE_ADDED = 1, but GROUP_B waits in PENDING until EFF_DT arrives — the hourly job then promotes it into ACTIVE.</a:t>
            </a:r>
          </a:p>
        </p:txBody>
      </p:sp>
      <p:sp>
        <p:nvSpPr>
          <p:cNvPr id="29" name="TextBox 28"/>
          <p:cNvSpPr txBox="1"/>
          <p:nvPr/>
        </p:nvSpPr>
        <p:spPr>
          <a:xfrm>
            <a:off x="1435608" y="4759452"/>
            <a:ext cx="5440679" cy="201168"/>
          </a:xfrm>
          <a:prstGeom prst="rect">
            <a:avLst/>
          </a:prstGeom>
          <a:noFill/>
        </p:spPr>
        <p:txBody>
          <a:bodyPr wrap="square" lIns="0" tIns="0" rIns="0" bIns="0" anchor="t">
            <a:spAutoFit/>
          </a:bodyPr>
          <a:lstStyle/>
          <a:p>
            <a:pPr algn="l">
              <a:lnSpc>
                <a:spcPct val="100000"/>
              </a:lnSpc>
            </a:pPr>
            <a:r>
              <a:rPr sz="780" b="1" i="0">
                <a:solidFill>
                  <a:srgbClr val="E0A526"/>
                </a:solidFill>
                <a:latin typeface="Calibri"/>
              </a:rPr>
              <a:t>MECHANISM: set comparison on (VIN, coverage type) + effective-date routing</a:t>
            </a:r>
          </a:p>
        </p:txBody>
      </p:sp>
      <p:sp>
        <p:nvSpPr>
          <p:cNvPr id="30" name="Oval 29"/>
          <p:cNvSpPr/>
          <p:nvPr/>
        </p:nvSpPr>
        <p:spPr>
          <a:xfrm>
            <a:off x="713231" y="5456682"/>
            <a:ext cx="310896" cy="310896"/>
          </a:xfrm>
          <a:prstGeom prst="ellipse">
            <a:avLst/>
          </a:prstGeom>
          <a:solidFill>
            <a:srgbClr val="2F8F5B"/>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234440" y="5106924"/>
            <a:ext cx="5806440" cy="992124"/>
          </a:xfrm>
          <a:prstGeom prst="roundRect">
            <a:avLst>
              <a:gd name="adj" fmla="val 5000"/>
            </a:avLst>
          </a:prstGeom>
          <a:solidFill>
            <a:srgbClr val="FFFFFF"/>
          </a:solidFill>
          <a:ln w="9525">
            <a:solidFill>
              <a:srgbClr val="E1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234440" y="5106924"/>
            <a:ext cx="64008" cy="992124"/>
          </a:xfrm>
          <a:prstGeom prst="roundRect">
            <a:avLst>
              <a:gd name="adj" fmla="val 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435608" y="5180076"/>
            <a:ext cx="3108960" cy="256032"/>
          </a:xfrm>
          <a:prstGeom prst="rect">
            <a:avLst/>
          </a:prstGeom>
          <a:noFill/>
        </p:spPr>
        <p:txBody>
          <a:bodyPr wrap="square" lIns="0" tIns="0" rIns="0" bIns="0" anchor="t">
            <a:spAutoFit/>
          </a:bodyPr>
          <a:lstStyle/>
          <a:p>
            <a:pPr algn="l">
              <a:lnSpc>
                <a:spcPct val="100000"/>
              </a:lnSpc>
            </a:pPr>
            <a:r>
              <a:rPr sz="1250" b="1" i="0">
                <a:solidFill>
                  <a:srgbClr val="0B2E59"/>
                </a:solidFill>
                <a:latin typeface="Calibri"/>
              </a:rPr>
              <a:t>Renewal</a:t>
            </a:r>
          </a:p>
        </p:txBody>
      </p:sp>
      <p:sp>
        <p:nvSpPr>
          <p:cNvPr id="34" name="TextBox 33"/>
          <p:cNvSpPr txBox="1"/>
          <p:nvPr/>
        </p:nvSpPr>
        <p:spPr>
          <a:xfrm>
            <a:off x="4434840" y="5198364"/>
            <a:ext cx="2423159" cy="237744"/>
          </a:xfrm>
          <a:prstGeom prst="rect">
            <a:avLst/>
          </a:prstGeom>
          <a:noFill/>
        </p:spPr>
        <p:txBody>
          <a:bodyPr wrap="square" lIns="0" tIns="0" rIns="0" bIns="0" anchor="t">
            <a:spAutoFit/>
          </a:bodyPr>
          <a:lstStyle/>
          <a:p>
            <a:pPr algn="r">
              <a:lnSpc>
                <a:spcPct val="100000"/>
              </a:lnSpc>
            </a:pPr>
            <a:r>
              <a:rPr sz="900" b="0" i="1">
                <a:solidFill>
                  <a:srgbClr val="6B7686"/>
                </a:solidFill>
                <a:latin typeface="Calibri"/>
              </a:rPr>
              <a:t>T3 · Jan 2027</a:t>
            </a:r>
          </a:p>
        </p:txBody>
      </p:sp>
      <p:sp>
        <p:nvSpPr>
          <p:cNvPr id="35" name="TextBox 34"/>
          <p:cNvSpPr txBox="1"/>
          <p:nvPr/>
        </p:nvSpPr>
        <p:spPr>
          <a:xfrm>
            <a:off x="1435608" y="5436108"/>
            <a:ext cx="5440679" cy="425196"/>
          </a:xfrm>
          <a:prstGeom prst="rect">
            <a:avLst/>
          </a:prstGeom>
          <a:noFill/>
        </p:spPr>
        <p:txBody>
          <a:bodyPr wrap="square" lIns="0" tIns="0" rIns="0" bIns="0" anchor="t">
            <a:spAutoFit/>
          </a:bodyPr>
          <a:lstStyle/>
          <a:p>
            <a:pPr algn="l">
              <a:lnSpc>
                <a:spcPct val="102000"/>
              </a:lnSpc>
            </a:pPr>
            <a:r>
              <a:rPr sz="950" b="0" i="0">
                <a:solidFill>
                  <a:srgbClr val="1B222C"/>
                </a:solidFill>
                <a:latin typeface="Calibri"/>
              </a:rPr>
              <a:t>No vehicle or driver change, but the daily GROUP_A job recomputes wall-clock features regardless: TENURE_YRS 0→1. Premium updates from the renewal rating.</a:t>
            </a:r>
          </a:p>
        </p:txBody>
      </p:sp>
      <p:sp>
        <p:nvSpPr>
          <p:cNvPr id="36" name="TextBox 35"/>
          <p:cNvSpPr txBox="1"/>
          <p:nvPr/>
        </p:nvSpPr>
        <p:spPr>
          <a:xfrm>
            <a:off x="1435608" y="5879592"/>
            <a:ext cx="5440679" cy="201168"/>
          </a:xfrm>
          <a:prstGeom prst="rect">
            <a:avLst/>
          </a:prstGeom>
          <a:noFill/>
        </p:spPr>
        <p:txBody>
          <a:bodyPr wrap="square" lIns="0" tIns="0" rIns="0" bIns="0" anchor="t">
            <a:spAutoFit/>
          </a:bodyPr>
          <a:lstStyle/>
          <a:p>
            <a:pPr algn="l">
              <a:lnSpc>
                <a:spcPct val="100000"/>
              </a:lnSpc>
            </a:pPr>
            <a:r>
              <a:rPr sz="780" b="1" i="0">
                <a:solidFill>
                  <a:srgbClr val="2F8F5B"/>
                </a:solidFill>
                <a:latin typeface="Calibri"/>
              </a:rPr>
              <a:t>MECHANISM: daily wall-clock refresh (07_job_daily_group_a_refresh)</a:t>
            </a:r>
          </a:p>
        </p:txBody>
      </p:sp>
      <p:cxnSp>
        <p:nvCxnSpPr>
          <p:cNvPr id="37" name="Connector 36"/>
          <p:cNvCxnSpPr/>
          <p:nvPr/>
        </p:nvCxnSpPr>
        <p:spPr>
          <a:xfrm flipV="1">
            <a:off x="7040879" y="3108960"/>
            <a:ext cx="411481" cy="822960"/>
          </a:xfrm>
          <a:prstGeom prst="line">
            <a:avLst/>
          </a:prstGeom>
          <a:ln w="28575">
            <a:solidFill>
              <a:srgbClr val="0B2E5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52360" y="1691640"/>
            <a:ext cx="4233672" cy="3246120"/>
          </a:xfrm>
          <a:prstGeom prst="roundRect">
            <a:avLst>
              <a:gd name="adj" fmla="val 8000"/>
            </a:avLst>
          </a:prstGeom>
          <a:solidFill>
            <a:srgbClr val="071E3B"/>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80960" y="1837944"/>
            <a:ext cx="3776472" cy="274320"/>
          </a:xfrm>
          <a:prstGeom prst="rect">
            <a:avLst/>
          </a:prstGeom>
          <a:noFill/>
        </p:spPr>
        <p:txBody>
          <a:bodyPr wrap="square" lIns="0" tIns="0" rIns="0" bIns="0" anchor="t">
            <a:spAutoFit/>
          </a:bodyPr>
          <a:lstStyle/>
          <a:p>
            <a:pPr algn="l">
              <a:lnSpc>
                <a:spcPct val="100000"/>
              </a:lnSpc>
            </a:pPr>
            <a:r>
              <a:rPr sz="1300" b="1" i="0">
                <a:solidFill>
                  <a:srgbClr val="FFFFFF"/>
                </a:solidFill>
                <a:latin typeface="Calibri"/>
              </a:rPr>
              <a:t>AUTO_FEATURES_ACTIVE</a:t>
            </a:r>
          </a:p>
        </p:txBody>
      </p:sp>
      <p:sp>
        <p:nvSpPr>
          <p:cNvPr id="40" name="TextBox 39"/>
          <p:cNvSpPr txBox="1"/>
          <p:nvPr/>
        </p:nvSpPr>
        <p:spPr>
          <a:xfrm>
            <a:off x="7680960" y="2112264"/>
            <a:ext cx="3776472" cy="237744"/>
          </a:xfrm>
          <a:prstGeom prst="rect">
            <a:avLst/>
          </a:prstGeom>
          <a:noFill/>
        </p:spPr>
        <p:txBody>
          <a:bodyPr wrap="square" lIns="0" tIns="0" rIns="0" bIns="0" anchor="t">
            <a:spAutoFit/>
          </a:bodyPr>
          <a:lstStyle/>
          <a:p>
            <a:pPr algn="l">
              <a:lnSpc>
                <a:spcPct val="100000"/>
              </a:lnSpc>
            </a:pPr>
            <a:r>
              <a:rPr sz="950" b="0" i="1">
                <a:solidFill>
                  <a:srgbClr val="9DC0E3"/>
                </a:solidFill>
                <a:latin typeface="Calibri"/>
              </a:rPr>
              <a:t>POLICY-1001 — the same row, every time</a:t>
            </a:r>
          </a:p>
        </p:txBody>
      </p:sp>
      <p:sp>
        <p:nvSpPr>
          <p:cNvPr id="41" name="TextBox 40"/>
          <p:cNvSpPr txBox="1"/>
          <p:nvPr/>
        </p:nvSpPr>
        <p:spPr>
          <a:xfrm>
            <a:off x="7680960" y="2441448"/>
            <a:ext cx="3776472" cy="201168"/>
          </a:xfrm>
          <a:prstGeom prst="rect">
            <a:avLst/>
          </a:prstGeom>
          <a:noFill/>
        </p:spPr>
        <p:txBody>
          <a:bodyPr wrap="square" lIns="0" tIns="0" rIns="0" bIns="0" anchor="t">
            <a:spAutoFit/>
          </a:bodyPr>
          <a:lstStyle/>
          <a:p>
            <a:pPr algn="ctr">
              <a:lnSpc>
                <a:spcPct val="100000"/>
              </a:lnSpc>
            </a:pPr>
            <a:r>
              <a:rPr sz="850" b="1" i="0">
                <a:solidFill>
                  <a:srgbClr val="9DC0E3"/>
                </a:solidFill>
                <a:latin typeface="Calibri"/>
              </a:rPr>
              <a:t>NB → END1 → END2 → RWL</a:t>
            </a:r>
          </a:p>
        </p:txBody>
      </p:sp>
      <p:sp>
        <p:nvSpPr>
          <p:cNvPr id="42" name="TextBox 41"/>
          <p:cNvSpPr txBox="1"/>
          <p:nvPr/>
        </p:nvSpPr>
        <p:spPr>
          <a:xfrm>
            <a:off x="7680960" y="2697480"/>
            <a:ext cx="3776472" cy="182880"/>
          </a:xfrm>
          <a:prstGeom prst="rect">
            <a:avLst/>
          </a:prstGeom>
          <a:noFill/>
        </p:spPr>
        <p:txBody>
          <a:bodyPr wrap="square" lIns="0" tIns="0" rIns="0" bIns="0" anchor="t">
            <a:spAutoFit/>
          </a:bodyPr>
          <a:lstStyle/>
          <a:p>
            <a:pPr algn="l">
              <a:lnSpc>
                <a:spcPct val="100000"/>
              </a:lnSpc>
            </a:pPr>
            <a:r>
              <a:rPr sz="900" b="1" i="0">
                <a:solidFill>
                  <a:srgbClr val="C9D8EC"/>
                </a:solidFill>
                <a:latin typeface="Calibri"/>
              </a:rPr>
              <a:t>VEH_CNT</a:t>
            </a:r>
          </a:p>
        </p:txBody>
      </p:sp>
      <p:sp>
        <p:nvSpPr>
          <p:cNvPr id="43" name="TextBox 42"/>
          <p:cNvSpPr txBox="1"/>
          <p:nvPr/>
        </p:nvSpPr>
        <p:spPr>
          <a:xfrm>
            <a:off x="7680960" y="2880360"/>
            <a:ext cx="3776472" cy="219456"/>
          </a:xfrm>
          <a:prstGeom prst="rect">
            <a:avLst/>
          </a:prstGeom>
          <a:noFill/>
        </p:spPr>
        <p:txBody>
          <a:bodyPr wrap="square" lIns="0" tIns="0" rIns="0" bIns="0" anchor="t">
            <a:spAutoFit/>
          </a:bodyPr>
          <a:lstStyle/>
          <a:p>
            <a:pPr algn="l">
              <a:lnSpc>
                <a:spcPct val="90000"/>
              </a:lnSpc>
            </a:pPr>
            <a:r>
              <a:rPr sz="850" b="0" i="0">
                <a:solidFill>
                  <a:srgbClr val="FFFFFF"/>
                </a:solidFill>
                <a:latin typeface="Calibri"/>
              </a:rPr>
              <a:t>2 → 3 → 3 → 3</a:t>
            </a:r>
          </a:p>
        </p:txBody>
      </p:sp>
      <p:sp>
        <p:nvSpPr>
          <p:cNvPr id="44" name="TextBox 43"/>
          <p:cNvSpPr txBox="1"/>
          <p:nvPr/>
        </p:nvSpPr>
        <p:spPr>
          <a:xfrm>
            <a:off x="7680960" y="3118104"/>
            <a:ext cx="3776472" cy="182880"/>
          </a:xfrm>
          <a:prstGeom prst="rect">
            <a:avLst/>
          </a:prstGeom>
          <a:noFill/>
        </p:spPr>
        <p:txBody>
          <a:bodyPr wrap="square" lIns="0" tIns="0" rIns="0" bIns="0" anchor="t">
            <a:spAutoFit/>
          </a:bodyPr>
          <a:lstStyle/>
          <a:p>
            <a:pPr algn="l">
              <a:lnSpc>
                <a:spcPct val="100000"/>
              </a:lnSpc>
            </a:pPr>
            <a:r>
              <a:rPr sz="900" b="1" i="0">
                <a:solidFill>
                  <a:srgbClr val="C9D8EC"/>
                </a:solidFill>
                <a:latin typeface="Calibri"/>
              </a:rPr>
              <a:t>COMP_COVERAGE_ADDED</a:t>
            </a:r>
          </a:p>
        </p:txBody>
      </p:sp>
      <p:sp>
        <p:nvSpPr>
          <p:cNvPr id="45" name="TextBox 44"/>
          <p:cNvSpPr txBox="1"/>
          <p:nvPr/>
        </p:nvSpPr>
        <p:spPr>
          <a:xfrm>
            <a:off x="7680960" y="3300984"/>
            <a:ext cx="3776472" cy="219456"/>
          </a:xfrm>
          <a:prstGeom prst="rect">
            <a:avLst/>
          </a:prstGeom>
          <a:noFill/>
        </p:spPr>
        <p:txBody>
          <a:bodyPr wrap="square" lIns="0" tIns="0" rIns="0" bIns="0" anchor="t">
            <a:spAutoFit/>
          </a:bodyPr>
          <a:lstStyle/>
          <a:p>
            <a:pPr algn="l">
              <a:lnSpc>
                <a:spcPct val="90000"/>
              </a:lnSpc>
            </a:pPr>
            <a:r>
              <a:rPr sz="850" b="0" i="0">
                <a:solidFill>
                  <a:srgbClr val="FFFFFF"/>
                </a:solidFill>
                <a:latin typeface="Calibri"/>
              </a:rPr>
              <a:t>0 → 0 → 1 (pending → active) → 1</a:t>
            </a:r>
          </a:p>
        </p:txBody>
      </p:sp>
      <p:sp>
        <p:nvSpPr>
          <p:cNvPr id="46" name="TextBox 45"/>
          <p:cNvSpPr txBox="1"/>
          <p:nvPr/>
        </p:nvSpPr>
        <p:spPr>
          <a:xfrm>
            <a:off x="7680960" y="3538728"/>
            <a:ext cx="3776472" cy="182880"/>
          </a:xfrm>
          <a:prstGeom prst="rect">
            <a:avLst/>
          </a:prstGeom>
          <a:noFill/>
        </p:spPr>
        <p:txBody>
          <a:bodyPr wrap="square" lIns="0" tIns="0" rIns="0" bIns="0" anchor="t">
            <a:spAutoFit/>
          </a:bodyPr>
          <a:lstStyle/>
          <a:p>
            <a:pPr algn="l">
              <a:lnSpc>
                <a:spcPct val="100000"/>
              </a:lnSpc>
            </a:pPr>
            <a:r>
              <a:rPr sz="900" b="1" i="0">
                <a:solidFill>
                  <a:srgbClr val="C9D8EC"/>
                </a:solidFill>
                <a:latin typeface="Calibri"/>
              </a:rPr>
              <a:t>TENURE_YRS</a:t>
            </a:r>
          </a:p>
        </p:txBody>
      </p:sp>
      <p:sp>
        <p:nvSpPr>
          <p:cNvPr id="47" name="TextBox 46"/>
          <p:cNvSpPr txBox="1"/>
          <p:nvPr/>
        </p:nvSpPr>
        <p:spPr>
          <a:xfrm>
            <a:off x="7680960" y="3721608"/>
            <a:ext cx="3776472" cy="219456"/>
          </a:xfrm>
          <a:prstGeom prst="rect">
            <a:avLst/>
          </a:prstGeom>
          <a:noFill/>
        </p:spPr>
        <p:txBody>
          <a:bodyPr wrap="square" lIns="0" tIns="0" rIns="0" bIns="0" anchor="t">
            <a:spAutoFit/>
          </a:bodyPr>
          <a:lstStyle/>
          <a:p>
            <a:pPr algn="l">
              <a:lnSpc>
                <a:spcPct val="90000"/>
              </a:lnSpc>
            </a:pPr>
            <a:r>
              <a:rPr sz="850" b="0" i="0">
                <a:solidFill>
                  <a:srgbClr val="FFFFFF"/>
                </a:solidFill>
                <a:latin typeface="Calibri"/>
              </a:rPr>
              <a:t>0 → 0 → 0 → 1</a:t>
            </a:r>
          </a:p>
        </p:txBody>
      </p:sp>
      <p:sp>
        <p:nvSpPr>
          <p:cNvPr id="48" name="TextBox 47"/>
          <p:cNvSpPr txBox="1"/>
          <p:nvPr/>
        </p:nvSpPr>
        <p:spPr>
          <a:xfrm>
            <a:off x="7680960" y="3959352"/>
            <a:ext cx="3776472" cy="182880"/>
          </a:xfrm>
          <a:prstGeom prst="rect">
            <a:avLst/>
          </a:prstGeom>
          <a:noFill/>
        </p:spPr>
        <p:txBody>
          <a:bodyPr wrap="square" lIns="0" tIns="0" rIns="0" bIns="0" anchor="t">
            <a:spAutoFit/>
          </a:bodyPr>
          <a:lstStyle/>
          <a:p>
            <a:pPr algn="l">
              <a:lnSpc>
                <a:spcPct val="100000"/>
              </a:lnSpc>
            </a:pPr>
            <a:r>
              <a:rPr sz="900" b="1" i="0">
                <a:solidFill>
                  <a:srgbClr val="C9D8EC"/>
                </a:solidFill>
                <a:latin typeface="Calibri"/>
              </a:rPr>
              <a:t>PREM_CHANGE_AMT</a:t>
            </a:r>
          </a:p>
        </p:txBody>
      </p:sp>
      <p:sp>
        <p:nvSpPr>
          <p:cNvPr id="49" name="TextBox 48"/>
          <p:cNvSpPr txBox="1"/>
          <p:nvPr/>
        </p:nvSpPr>
        <p:spPr>
          <a:xfrm>
            <a:off x="7680960" y="4142232"/>
            <a:ext cx="3776472" cy="219456"/>
          </a:xfrm>
          <a:prstGeom prst="rect">
            <a:avLst/>
          </a:prstGeom>
          <a:noFill/>
        </p:spPr>
        <p:txBody>
          <a:bodyPr wrap="square" lIns="0" tIns="0" rIns="0" bIns="0" anchor="t">
            <a:spAutoFit/>
          </a:bodyPr>
          <a:lstStyle/>
          <a:p>
            <a:pPr algn="l">
              <a:lnSpc>
                <a:spcPct val="90000"/>
              </a:lnSpc>
            </a:pPr>
            <a:r>
              <a:rPr sz="850" b="0" i="0">
                <a:solidFill>
                  <a:srgbClr val="FFFFFF"/>
                </a:solidFill>
                <a:latin typeface="Calibri"/>
              </a:rPr>
              <a:t>full → small → small → renewal</a:t>
            </a:r>
          </a:p>
        </p:txBody>
      </p:sp>
      <p:sp>
        <p:nvSpPr>
          <p:cNvPr id="50" name="Rounded Rectangle 49"/>
          <p:cNvSpPr/>
          <p:nvPr/>
        </p:nvSpPr>
        <p:spPr>
          <a:xfrm>
            <a:off x="7680960" y="4480560"/>
            <a:ext cx="3776472" cy="329184"/>
          </a:xfrm>
          <a:prstGeom prst="roundRect">
            <a:avLst>
              <a:gd name="adj" fmla="val 50000"/>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80960" y="4480560"/>
            <a:ext cx="3776472" cy="329184"/>
          </a:xfrm>
          <a:prstGeom prst="rect">
            <a:avLst/>
          </a:prstGeom>
          <a:noFill/>
        </p:spPr>
        <p:txBody>
          <a:bodyPr wrap="square" lIns="0" tIns="0" rIns="0" bIns="0" anchor="ctr">
            <a:spAutoFit/>
          </a:bodyPr>
          <a:lstStyle/>
          <a:p>
            <a:pPr algn="ctr">
              <a:lnSpc>
                <a:spcPct val="100000"/>
              </a:lnSpc>
            </a:pPr>
            <a:r>
              <a:rPr sz="1000" b="1" i="0">
                <a:solidFill>
                  <a:srgbClr val="0B2E59"/>
                </a:solidFill>
                <a:latin typeface="Calibri"/>
              </a:rPr>
              <a:t>1 ROW PER POLICY — ALWAYS CURRENT</a:t>
            </a:r>
          </a:p>
        </p:txBody>
      </p:sp>
      <p:sp>
        <p:nvSpPr>
          <p:cNvPr id="52" name="TextBox 51"/>
          <p:cNvSpPr txBox="1"/>
          <p:nvPr/>
        </p:nvSpPr>
        <p:spPr>
          <a:xfrm>
            <a:off x="7452360" y="5166360"/>
            <a:ext cx="4233672" cy="219456"/>
          </a:xfrm>
          <a:prstGeom prst="rect">
            <a:avLst/>
          </a:prstGeom>
          <a:noFill/>
        </p:spPr>
        <p:txBody>
          <a:bodyPr wrap="square" lIns="0" tIns="0" rIns="0" bIns="0" anchor="t">
            <a:spAutoFit/>
          </a:bodyPr>
          <a:lstStyle/>
          <a:p>
            <a:pPr algn="l">
              <a:lnSpc>
                <a:spcPct val="100000"/>
              </a:lnSpc>
            </a:pPr>
            <a:r>
              <a:rPr sz="950" b="1" i="0">
                <a:solidFill>
                  <a:srgbClr val="6B7686"/>
                </a:solidFill>
                <a:latin typeface="Calibri"/>
              </a:rPr>
              <a:t>HISTORY (SCD2) — every prior state kept</a:t>
            </a:r>
          </a:p>
        </p:txBody>
      </p:sp>
      <p:sp>
        <p:nvSpPr>
          <p:cNvPr id="53" name="Rounded Rectangle 52"/>
          <p:cNvSpPr/>
          <p:nvPr/>
        </p:nvSpPr>
        <p:spPr>
          <a:xfrm>
            <a:off x="7452360" y="5696712"/>
            <a:ext cx="976121" cy="146304"/>
          </a:xfrm>
          <a:prstGeom prst="roundRect">
            <a:avLst>
              <a:gd name="adj" fmla="val 5000"/>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8538210" y="5614416"/>
            <a:ext cx="976121" cy="228600"/>
          </a:xfrm>
          <a:prstGeom prst="roundRect">
            <a:avLst>
              <a:gd name="adj" fmla="val 5000"/>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9624060" y="5532120"/>
            <a:ext cx="976121" cy="310896"/>
          </a:xfrm>
          <a:prstGeom prst="roundRect">
            <a:avLst>
              <a:gd name="adj" fmla="val 5000"/>
            </a:avLst>
          </a:prstGeom>
          <a:solidFill>
            <a:srgbClr val="B9C0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10709910" y="5449824"/>
            <a:ext cx="976121" cy="393192"/>
          </a:xfrm>
          <a:prstGeom prst="roundRect">
            <a:avLst>
              <a:gd name="adj" fmla="val 5000"/>
            </a:avLst>
          </a:prstGeom>
          <a:solidFill>
            <a:srgbClr val="6B768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5</a:t>
            </a:r>
          </a:p>
        </p:txBody>
      </p:sp>
      <p:sp>
        <p:nvSpPr>
          <p:cNvPr id="59" name="TextBox 58"/>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gd name="adj" fmla="val 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292608"/>
            <a:ext cx="3749039" cy="310896"/>
          </a:xfrm>
          <a:prstGeom prst="roundRect">
            <a:avLst>
              <a:gd name="adj" fmla="val 5000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92608"/>
            <a:ext cx="3749039" cy="310896"/>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BUSINESS IMPACT</a:t>
            </a:r>
          </a:p>
        </p:txBody>
      </p:sp>
      <p:sp>
        <p:nvSpPr>
          <p:cNvPr id="5" name="TextBox 4"/>
          <p:cNvSpPr txBox="1"/>
          <p:nvPr/>
        </p:nvSpPr>
        <p:spPr>
          <a:xfrm>
            <a:off x="502920" y="713232"/>
            <a:ext cx="10789920" cy="548640"/>
          </a:xfrm>
          <a:prstGeom prst="rect">
            <a:avLst/>
          </a:prstGeom>
          <a:noFill/>
        </p:spPr>
        <p:txBody>
          <a:bodyPr wrap="square" lIns="0" tIns="0" rIns="0" bIns="0" anchor="t">
            <a:spAutoFit/>
          </a:bodyPr>
          <a:lstStyle/>
          <a:p>
            <a:pPr algn="l">
              <a:lnSpc>
                <a:spcPct val="100000"/>
              </a:lnSpc>
            </a:pPr>
            <a:r>
              <a:rPr sz="2500" b="1" i="0">
                <a:solidFill>
                  <a:srgbClr val="0B2E59"/>
                </a:solidFill>
                <a:latin typeface="Calibri"/>
              </a:rPr>
              <a:t>What This Changes for the Models That Depend on It</a:t>
            </a:r>
          </a:p>
        </p:txBody>
      </p:sp>
      <p:cxnSp>
        <p:nvCxnSpPr>
          <p:cNvPr id="6" name="Connector 5"/>
          <p:cNvCxnSpPr/>
          <p:nvPr/>
        </p:nvCxnSpPr>
        <p:spPr>
          <a:xfrm>
            <a:off x="502920" y="1261872"/>
            <a:ext cx="11183112" cy="0"/>
          </a:xfrm>
          <a:prstGeom prst="line">
            <a:avLst/>
          </a:prstGeom>
          <a:ln w="25400">
            <a:solidFill>
              <a:srgbClr val="2F8F5B"/>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403603" y="1485900"/>
            <a:ext cx="868680" cy="868680"/>
          </a:xfrm>
          <a:prstGeom prst="ellipse">
            <a:avLst/>
          </a:prstGeom>
          <a:solidFill>
            <a:srgbClr val="2F8F5B"/>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03603" y="1485900"/>
            <a:ext cx="868680" cy="868680"/>
          </a:xfrm>
          <a:prstGeom prst="rect">
            <a:avLst/>
          </a:prstGeom>
          <a:noFill/>
        </p:spPr>
        <p:txBody>
          <a:bodyPr wrap="square" lIns="0" tIns="0" rIns="0" bIns="0" anchor="ctr">
            <a:spAutoFit/>
          </a:bodyPr>
          <a:lstStyle/>
          <a:p>
            <a:pPr algn="ctr">
              <a:lnSpc>
                <a:spcPct val="100000"/>
              </a:lnSpc>
            </a:pPr>
            <a:r>
              <a:rPr sz="1900" b="1" i="0">
                <a:solidFill>
                  <a:srgbClr val="FFFFFF"/>
                </a:solidFill>
                <a:latin typeface="Calibri"/>
              </a:rPr>
              <a:t>29</a:t>
            </a:r>
          </a:p>
        </p:txBody>
      </p:sp>
      <p:sp>
        <p:nvSpPr>
          <p:cNvPr id="9" name="TextBox 8"/>
          <p:cNvSpPr txBox="1"/>
          <p:nvPr/>
        </p:nvSpPr>
        <p:spPr>
          <a:xfrm>
            <a:off x="502920" y="2404872"/>
            <a:ext cx="2670048" cy="457200"/>
          </a:xfrm>
          <a:prstGeom prst="rect">
            <a:avLst/>
          </a:prstGeom>
          <a:noFill/>
        </p:spPr>
        <p:txBody>
          <a:bodyPr wrap="square" lIns="0" tIns="0" rIns="0" bIns="0" anchor="t">
            <a:spAutoFit/>
          </a:bodyPr>
          <a:lstStyle/>
          <a:p>
            <a:pPr algn="ctr">
              <a:lnSpc>
                <a:spcPct val="100000"/>
              </a:lnSpc>
            </a:pPr>
            <a:r>
              <a:rPr sz="1000" b="0" i="0">
                <a:solidFill>
                  <a:srgbClr val="6B7686"/>
                </a:solidFill>
                <a:latin typeface="Calibri"/>
              </a:rPr>
              <a:t>features computed</a:t>
            </a:r>
          </a:p>
          <a:p>
            <a:pPr algn="ctr">
              <a:lnSpc>
                <a:spcPct val="100000"/>
              </a:lnSpc>
            </a:pPr>
            <a:r>
              <a:rPr sz="1000" b="0" i="0">
                <a:solidFill>
                  <a:srgbClr val="6B7686"/>
                </a:solidFill>
                <a:latin typeface="Calibri"/>
              </a:rPr>
              <a:t>centrally, once</a:t>
            </a:r>
          </a:p>
        </p:txBody>
      </p:sp>
      <p:sp>
        <p:nvSpPr>
          <p:cNvPr id="10" name="Oval 9"/>
          <p:cNvSpPr/>
          <p:nvPr/>
        </p:nvSpPr>
        <p:spPr>
          <a:xfrm>
            <a:off x="4256532" y="1485900"/>
            <a:ext cx="868680" cy="868680"/>
          </a:xfrm>
          <a:prstGeom prst="ellipse">
            <a:avLst/>
          </a:prstGeom>
          <a:solidFill>
            <a:srgbClr val="2F8F5B"/>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56532" y="1485900"/>
            <a:ext cx="868680" cy="868680"/>
          </a:xfrm>
          <a:prstGeom prst="rect">
            <a:avLst/>
          </a:prstGeom>
          <a:noFill/>
        </p:spPr>
        <p:txBody>
          <a:bodyPr wrap="square" lIns="0" tIns="0" rIns="0" bIns="0" anchor="ctr">
            <a:spAutoFit/>
          </a:bodyPr>
          <a:lstStyle/>
          <a:p>
            <a:pPr algn="ctr">
              <a:lnSpc>
                <a:spcPct val="100000"/>
              </a:lnSpc>
            </a:pPr>
            <a:r>
              <a:rPr sz="1900" b="1" i="0">
                <a:solidFill>
                  <a:srgbClr val="FFFFFF"/>
                </a:solidFill>
                <a:latin typeface="Calibri"/>
              </a:rPr>
              <a:t>~130 ms</a:t>
            </a:r>
          </a:p>
        </p:txBody>
      </p:sp>
      <p:sp>
        <p:nvSpPr>
          <p:cNvPr id="12" name="TextBox 11"/>
          <p:cNvSpPr txBox="1"/>
          <p:nvPr/>
        </p:nvSpPr>
        <p:spPr>
          <a:xfrm>
            <a:off x="3355848" y="2404872"/>
            <a:ext cx="2670048" cy="457200"/>
          </a:xfrm>
          <a:prstGeom prst="rect">
            <a:avLst/>
          </a:prstGeom>
          <a:noFill/>
        </p:spPr>
        <p:txBody>
          <a:bodyPr wrap="square" lIns="0" tIns="0" rIns="0" bIns="0" anchor="t">
            <a:spAutoFit/>
          </a:bodyPr>
          <a:lstStyle/>
          <a:p>
            <a:pPr algn="ctr">
              <a:lnSpc>
                <a:spcPct val="100000"/>
              </a:lnSpc>
            </a:pPr>
            <a:r>
              <a:rPr sz="1000" b="0" i="0">
                <a:solidFill>
                  <a:srgbClr val="6B7686"/>
                </a:solidFill>
                <a:latin typeface="Calibri"/>
              </a:rPr>
              <a:t>observed lookup</a:t>
            </a:r>
          </a:p>
          <a:p>
            <a:pPr algn="ctr">
              <a:lnSpc>
                <a:spcPct val="100000"/>
              </a:lnSpc>
            </a:pPr>
            <a:r>
              <a:rPr sz="1000" b="0" i="0">
                <a:solidFill>
                  <a:srgbClr val="6B7686"/>
                </a:solidFill>
                <a:latin typeface="Calibri"/>
              </a:rPr>
              <a:t>latency</a:t>
            </a:r>
          </a:p>
        </p:txBody>
      </p:sp>
      <p:sp>
        <p:nvSpPr>
          <p:cNvPr id="13" name="Oval 12"/>
          <p:cNvSpPr/>
          <p:nvPr/>
        </p:nvSpPr>
        <p:spPr>
          <a:xfrm>
            <a:off x="7109460" y="1485900"/>
            <a:ext cx="868680" cy="868680"/>
          </a:xfrm>
          <a:prstGeom prst="ellipse">
            <a:avLst/>
          </a:prstGeom>
          <a:solidFill>
            <a:srgbClr val="2F8F5B"/>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09460" y="1485900"/>
            <a:ext cx="868680" cy="868680"/>
          </a:xfrm>
          <a:prstGeom prst="rect">
            <a:avLst/>
          </a:prstGeom>
          <a:noFill/>
        </p:spPr>
        <p:txBody>
          <a:bodyPr wrap="square" lIns="0" tIns="0" rIns="0" bIns="0" anchor="ctr">
            <a:spAutoFit/>
          </a:bodyPr>
          <a:lstStyle/>
          <a:p>
            <a:pPr algn="ctr">
              <a:lnSpc>
                <a:spcPct val="100000"/>
              </a:lnSpc>
            </a:pPr>
            <a:r>
              <a:rPr sz="1900" b="1" i="0">
                <a:solidFill>
                  <a:srgbClr val="FFFFFF"/>
                </a:solidFill>
                <a:latin typeface="Calibri"/>
              </a:rPr>
              <a:t>1</a:t>
            </a:r>
          </a:p>
        </p:txBody>
      </p:sp>
      <p:sp>
        <p:nvSpPr>
          <p:cNvPr id="15" name="TextBox 14"/>
          <p:cNvSpPr txBox="1"/>
          <p:nvPr/>
        </p:nvSpPr>
        <p:spPr>
          <a:xfrm>
            <a:off x="6208776" y="2404872"/>
            <a:ext cx="2670048" cy="457200"/>
          </a:xfrm>
          <a:prstGeom prst="rect">
            <a:avLst/>
          </a:prstGeom>
          <a:noFill/>
        </p:spPr>
        <p:txBody>
          <a:bodyPr wrap="square" lIns="0" tIns="0" rIns="0" bIns="0" anchor="t">
            <a:spAutoFit/>
          </a:bodyPr>
          <a:lstStyle/>
          <a:p>
            <a:pPr algn="ctr">
              <a:lnSpc>
                <a:spcPct val="100000"/>
              </a:lnSpc>
            </a:pPr>
            <a:r>
              <a:rPr sz="1000" b="0" i="0">
                <a:solidFill>
                  <a:srgbClr val="6B7686"/>
                </a:solidFill>
                <a:latin typeface="Calibri"/>
              </a:rPr>
              <a:t>active row</a:t>
            </a:r>
          </a:p>
          <a:p>
            <a:pPr algn="ctr">
              <a:lnSpc>
                <a:spcPct val="100000"/>
              </a:lnSpc>
            </a:pPr>
            <a:r>
              <a:rPr sz="1000" b="0" i="0">
                <a:solidFill>
                  <a:srgbClr val="6B7686"/>
                </a:solidFill>
                <a:latin typeface="Calibri"/>
              </a:rPr>
              <a:t>per policy</a:t>
            </a:r>
          </a:p>
        </p:txBody>
      </p:sp>
      <p:sp>
        <p:nvSpPr>
          <p:cNvPr id="16" name="Oval 15"/>
          <p:cNvSpPr/>
          <p:nvPr/>
        </p:nvSpPr>
        <p:spPr>
          <a:xfrm>
            <a:off x="9962388" y="1485900"/>
            <a:ext cx="868680" cy="868680"/>
          </a:xfrm>
          <a:prstGeom prst="ellipse">
            <a:avLst/>
          </a:prstGeom>
          <a:solidFill>
            <a:srgbClr val="2F8F5B"/>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62388" y="1485900"/>
            <a:ext cx="868680" cy="868680"/>
          </a:xfrm>
          <a:prstGeom prst="rect">
            <a:avLst/>
          </a:prstGeom>
          <a:noFill/>
        </p:spPr>
        <p:txBody>
          <a:bodyPr wrap="square" lIns="0" tIns="0" rIns="0" bIns="0" anchor="ctr">
            <a:spAutoFit/>
          </a:bodyPr>
          <a:lstStyle/>
          <a:p>
            <a:pPr algn="ctr">
              <a:lnSpc>
                <a:spcPct val="100000"/>
              </a:lnSpc>
            </a:pPr>
            <a:r>
              <a:rPr sz="1900" b="1" i="0">
                <a:solidFill>
                  <a:srgbClr val="FFFFFF"/>
                </a:solidFill>
                <a:latin typeface="Calibri"/>
              </a:rPr>
              <a:t>3</a:t>
            </a:r>
          </a:p>
        </p:txBody>
      </p:sp>
      <p:sp>
        <p:nvSpPr>
          <p:cNvPr id="18" name="TextBox 17"/>
          <p:cNvSpPr txBox="1"/>
          <p:nvPr/>
        </p:nvSpPr>
        <p:spPr>
          <a:xfrm>
            <a:off x="9061704" y="2404872"/>
            <a:ext cx="2670048" cy="457200"/>
          </a:xfrm>
          <a:prstGeom prst="rect">
            <a:avLst/>
          </a:prstGeom>
          <a:noFill/>
        </p:spPr>
        <p:txBody>
          <a:bodyPr wrap="square" lIns="0" tIns="0" rIns="0" bIns="0" anchor="t">
            <a:spAutoFit/>
          </a:bodyPr>
          <a:lstStyle/>
          <a:p>
            <a:pPr algn="ctr">
              <a:lnSpc>
                <a:spcPct val="100000"/>
              </a:lnSpc>
            </a:pPr>
            <a:r>
              <a:rPr sz="1000" b="0" i="0">
                <a:solidFill>
                  <a:srgbClr val="6B7686"/>
                </a:solidFill>
                <a:latin typeface="Calibri"/>
              </a:rPr>
              <a:t>time-states supported</a:t>
            </a:r>
          </a:p>
          <a:p>
            <a:pPr algn="ctr">
              <a:lnSpc>
                <a:spcPct val="100000"/>
              </a:lnSpc>
            </a:pPr>
            <a:r>
              <a:rPr sz="1000" b="0" i="0">
                <a:solidFill>
                  <a:srgbClr val="6B7686"/>
                </a:solidFill>
                <a:latin typeface="Calibri"/>
              </a:rPr>
              <a:t>(past · present · future)</a:t>
            </a:r>
          </a:p>
        </p:txBody>
      </p:sp>
      <p:sp>
        <p:nvSpPr>
          <p:cNvPr id="19" name="Rounded Rectangle 18"/>
          <p:cNvSpPr/>
          <p:nvPr/>
        </p:nvSpPr>
        <p:spPr>
          <a:xfrm>
            <a:off x="502920" y="3063240"/>
            <a:ext cx="5532120" cy="1325880"/>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02920" y="3063240"/>
            <a:ext cx="73152" cy="1325880"/>
          </a:xfrm>
          <a:prstGeom prst="roundRect">
            <a:avLst>
              <a:gd name="adj" fmla="val 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8952" y="3182112"/>
            <a:ext cx="5074920" cy="320040"/>
          </a:xfrm>
          <a:prstGeom prst="rect">
            <a:avLst/>
          </a:prstGeom>
          <a:noFill/>
        </p:spPr>
        <p:txBody>
          <a:bodyPr wrap="square" lIns="0" tIns="0" rIns="0" bIns="0" anchor="t">
            <a:spAutoFit/>
          </a:bodyPr>
          <a:lstStyle/>
          <a:p>
            <a:pPr algn="l">
              <a:lnSpc>
                <a:spcPct val="100000"/>
              </a:lnSpc>
            </a:pPr>
            <a:r>
              <a:rPr sz="1350" b="1" i="0">
                <a:solidFill>
                  <a:srgbClr val="0B2E59"/>
                </a:solidFill>
                <a:latin typeface="Calibri"/>
              </a:rPr>
              <a:t>No Recalculation</a:t>
            </a:r>
          </a:p>
        </p:txBody>
      </p:sp>
      <p:sp>
        <p:nvSpPr>
          <p:cNvPr id="22" name="TextBox 21"/>
          <p:cNvSpPr txBox="1"/>
          <p:nvPr/>
        </p:nvSpPr>
        <p:spPr>
          <a:xfrm>
            <a:off x="758952" y="3538728"/>
            <a:ext cx="5074920" cy="731519"/>
          </a:xfrm>
          <a:prstGeom prst="rect">
            <a:avLst/>
          </a:prstGeom>
          <a:noFill/>
        </p:spPr>
        <p:txBody>
          <a:bodyPr wrap="square" lIns="0" tIns="0" rIns="0" bIns="0" anchor="t">
            <a:spAutoFit/>
          </a:bodyPr>
          <a:lstStyle/>
          <a:p>
            <a:pPr algn="l">
              <a:lnSpc>
                <a:spcPct val="110000"/>
              </a:lnSpc>
            </a:pPr>
            <a:r>
              <a:rPr sz="1080" b="0" i="0">
                <a:solidFill>
                  <a:srgbClr val="1B222C"/>
                </a:solidFill>
                <a:latin typeface="Calibri"/>
              </a:rPr>
              <a:t>Models consume precomputed features rather than each rebuilding the same vehicle / driver / coverage logic.</a:t>
            </a:r>
          </a:p>
        </p:txBody>
      </p:sp>
      <p:sp>
        <p:nvSpPr>
          <p:cNvPr id="23" name="Rounded Rectangle 22"/>
          <p:cNvSpPr/>
          <p:nvPr/>
        </p:nvSpPr>
        <p:spPr>
          <a:xfrm>
            <a:off x="6217920" y="3063240"/>
            <a:ext cx="5532120" cy="1325880"/>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217920" y="3063240"/>
            <a:ext cx="73152" cy="1325880"/>
          </a:xfrm>
          <a:prstGeom prst="roundRect">
            <a:avLst>
              <a:gd name="adj" fmla="val 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73952" y="3182112"/>
            <a:ext cx="5074920" cy="320040"/>
          </a:xfrm>
          <a:prstGeom prst="rect">
            <a:avLst/>
          </a:prstGeom>
          <a:noFill/>
        </p:spPr>
        <p:txBody>
          <a:bodyPr wrap="square" lIns="0" tIns="0" rIns="0" bIns="0" anchor="t">
            <a:spAutoFit/>
          </a:bodyPr>
          <a:lstStyle/>
          <a:p>
            <a:pPr algn="l">
              <a:lnSpc>
                <a:spcPct val="100000"/>
              </a:lnSpc>
            </a:pPr>
            <a:r>
              <a:rPr sz="1350" b="1" i="0">
                <a:solidFill>
                  <a:srgbClr val="0B2E59"/>
                </a:solidFill>
                <a:latin typeface="Calibri"/>
              </a:rPr>
              <a:t>Consistency</a:t>
            </a:r>
          </a:p>
        </p:txBody>
      </p:sp>
      <p:sp>
        <p:nvSpPr>
          <p:cNvPr id="26" name="TextBox 25"/>
          <p:cNvSpPr txBox="1"/>
          <p:nvPr/>
        </p:nvSpPr>
        <p:spPr>
          <a:xfrm>
            <a:off x="6473952" y="3538728"/>
            <a:ext cx="5074920" cy="731519"/>
          </a:xfrm>
          <a:prstGeom prst="rect">
            <a:avLst/>
          </a:prstGeom>
          <a:noFill/>
        </p:spPr>
        <p:txBody>
          <a:bodyPr wrap="square" lIns="0" tIns="0" rIns="0" bIns="0" anchor="t">
            <a:spAutoFit/>
          </a:bodyPr>
          <a:lstStyle/>
          <a:p>
            <a:pPr algn="l">
              <a:lnSpc>
                <a:spcPct val="110000"/>
              </a:lnSpc>
            </a:pPr>
            <a:r>
              <a:rPr sz="1080" b="0" i="0">
                <a:solidFill>
                  <a:srgbClr val="1B222C"/>
                </a:solidFill>
                <a:latin typeface="Calibri"/>
              </a:rPr>
              <a:t>Every model reads from the same governed active table — no two models can silently disagree on a feature value.</a:t>
            </a:r>
          </a:p>
        </p:txBody>
      </p:sp>
      <p:sp>
        <p:nvSpPr>
          <p:cNvPr id="27" name="Rounded Rectangle 26"/>
          <p:cNvSpPr/>
          <p:nvPr/>
        </p:nvSpPr>
        <p:spPr>
          <a:xfrm>
            <a:off x="502920" y="4553712"/>
            <a:ext cx="5532120" cy="1325880"/>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02920" y="4553712"/>
            <a:ext cx="73152" cy="1325880"/>
          </a:xfrm>
          <a:prstGeom prst="roundRect">
            <a:avLst>
              <a:gd name="adj" fmla="val 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8952" y="4672584"/>
            <a:ext cx="5074920" cy="320040"/>
          </a:xfrm>
          <a:prstGeom prst="rect">
            <a:avLst/>
          </a:prstGeom>
          <a:noFill/>
        </p:spPr>
        <p:txBody>
          <a:bodyPr wrap="square" lIns="0" tIns="0" rIns="0" bIns="0" anchor="t">
            <a:spAutoFit/>
          </a:bodyPr>
          <a:lstStyle/>
          <a:p>
            <a:pPr algn="l">
              <a:lnSpc>
                <a:spcPct val="100000"/>
              </a:lnSpc>
            </a:pPr>
            <a:r>
              <a:rPr sz="1350" b="1" i="0">
                <a:solidFill>
                  <a:srgbClr val="0B2E59"/>
                </a:solidFill>
                <a:latin typeface="Calibri"/>
              </a:rPr>
              <a:t>Traceability &amp; Audit</a:t>
            </a:r>
          </a:p>
        </p:txBody>
      </p:sp>
      <p:sp>
        <p:nvSpPr>
          <p:cNvPr id="30" name="TextBox 29"/>
          <p:cNvSpPr txBox="1"/>
          <p:nvPr/>
        </p:nvSpPr>
        <p:spPr>
          <a:xfrm>
            <a:off x="758952" y="5029200"/>
            <a:ext cx="5074920" cy="731519"/>
          </a:xfrm>
          <a:prstGeom prst="rect">
            <a:avLst/>
          </a:prstGeom>
          <a:noFill/>
        </p:spPr>
        <p:txBody>
          <a:bodyPr wrap="square" lIns="0" tIns="0" rIns="0" bIns="0" anchor="t">
            <a:spAutoFit/>
          </a:bodyPr>
          <a:lstStyle/>
          <a:p>
            <a:pPr algn="l">
              <a:lnSpc>
                <a:spcPct val="110000"/>
              </a:lnSpc>
            </a:pPr>
            <a:r>
              <a:rPr sz="1080" b="0" i="0">
                <a:solidFill>
                  <a:srgbClr val="1B222C"/>
                </a:solidFill>
                <a:latin typeface="Calibri"/>
              </a:rPr>
              <a:t>Source transaction IDs, validity windows, and SCD2 history make every past feature state reconstructable.</a:t>
            </a:r>
          </a:p>
        </p:txBody>
      </p:sp>
      <p:sp>
        <p:nvSpPr>
          <p:cNvPr id="31" name="Rounded Rectangle 30"/>
          <p:cNvSpPr/>
          <p:nvPr/>
        </p:nvSpPr>
        <p:spPr>
          <a:xfrm>
            <a:off x="6217920" y="4553712"/>
            <a:ext cx="5532120" cy="1325880"/>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217920" y="4553712"/>
            <a:ext cx="73152" cy="1325880"/>
          </a:xfrm>
          <a:prstGeom prst="roundRect">
            <a:avLst>
              <a:gd name="adj" fmla="val 0"/>
            </a:avLst>
          </a:prstGeom>
          <a:solidFill>
            <a:srgbClr val="2F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73952" y="4672584"/>
            <a:ext cx="5074920" cy="320040"/>
          </a:xfrm>
          <a:prstGeom prst="rect">
            <a:avLst/>
          </a:prstGeom>
          <a:noFill/>
        </p:spPr>
        <p:txBody>
          <a:bodyPr wrap="square" lIns="0" tIns="0" rIns="0" bIns="0" anchor="t">
            <a:spAutoFit/>
          </a:bodyPr>
          <a:lstStyle/>
          <a:p>
            <a:pPr algn="l">
              <a:lnSpc>
                <a:spcPct val="100000"/>
              </a:lnSpc>
            </a:pPr>
            <a:r>
              <a:rPr sz="1350" b="1" i="0">
                <a:solidFill>
                  <a:srgbClr val="0B2E59"/>
                </a:solidFill>
                <a:latin typeface="Calibri"/>
              </a:rPr>
              <a:t>Reusable &amp; Scalable</a:t>
            </a:r>
          </a:p>
        </p:txBody>
      </p:sp>
      <p:sp>
        <p:nvSpPr>
          <p:cNvPr id="34" name="TextBox 33"/>
          <p:cNvSpPr txBox="1"/>
          <p:nvPr/>
        </p:nvSpPr>
        <p:spPr>
          <a:xfrm>
            <a:off x="6473952" y="5029200"/>
            <a:ext cx="5074920" cy="731519"/>
          </a:xfrm>
          <a:prstGeom prst="rect">
            <a:avLst/>
          </a:prstGeom>
          <a:noFill/>
        </p:spPr>
        <p:txBody>
          <a:bodyPr wrap="square" lIns="0" tIns="0" rIns="0" bIns="0" anchor="t">
            <a:spAutoFit/>
          </a:bodyPr>
          <a:lstStyle/>
          <a:p>
            <a:pPr algn="l">
              <a:lnSpc>
                <a:spcPct val="110000"/>
              </a:lnSpc>
            </a:pPr>
            <a:r>
              <a:rPr sz="1080" b="0" i="0">
                <a:solidFill>
                  <a:srgbClr val="1B222C"/>
                </a:solidFill>
                <a:latin typeface="Calibri"/>
              </a:rPr>
              <a:t>The same serving layer absorbs new models and new feature groups without a new pipeline each time.</a:t>
            </a:r>
          </a:p>
        </p:txBody>
      </p:sp>
      <p:sp>
        <p:nvSpPr>
          <p:cNvPr id="35" name="TextBox 34"/>
          <p:cNvSpPr txBox="1"/>
          <p:nvPr/>
        </p:nvSpPr>
        <p:spPr>
          <a:xfrm>
            <a:off x="502920" y="6080760"/>
            <a:ext cx="11201400" cy="274320"/>
          </a:xfrm>
          <a:prstGeom prst="rect">
            <a:avLst/>
          </a:prstGeom>
          <a:noFill/>
        </p:spPr>
        <p:txBody>
          <a:bodyPr wrap="square" lIns="0" tIns="0" rIns="0" bIns="0" anchor="t">
            <a:spAutoFit/>
          </a:bodyPr>
          <a:lstStyle/>
          <a:p>
            <a:pPr algn="l">
              <a:lnSpc>
                <a:spcPct val="100000"/>
              </a:lnSpc>
            </a:pPr>
            <a:r>
              <a:rPr sz="950" b="0" i="1">
                <a:solidFill>
                  <a:srgbClr val="6B7686"/>
                </a:solidFill>
                <a:latin typeface="Calibri"/>
              </a:rPr>
              <a:t>Latency reflects an observed project test result, not a guaranteed service-level agreement.</a:t>
            </a:r>
          </a:p>
        </p:txBody>
      </p:sp>
      <p:cxnSp>
        <p:nvCxnSpPr>
          <p:cNvPr id="36" name="Connector 35"/>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6</a:t>
            </a:r>
          </a:p>
        </p:txBody>
      </p:sp>
      <p:sp>
        <p:nvSpPr>
          <p:cNvPr id="38" name="TextBox 37"/>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gd name="adj" fmla="val 0"/>
            </a:avLst>
          </a:prstGeom>
          <a:solidFill>
            <a:srgbClr val="6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292608"/>
            <a:ext cx="3968496" cy="310896"/>
          </a:xfrm>
          <a:prstGeom prst="roundRect">
            <a:avLst>
              <a:gd name="adj" fmla="val 50000"/>
            </a:avLst>
          </a:prstGeom>
          <a:solidFill>
            <a:srgbClr val="6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92608"/>
            <a:ext cx="3968496" cy="310896"/>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BEYOND INSURANCE</a:t>
            </a:r>
          </a:p>
        </p:txBody>
      </p:sp>
      <p:sp>
        <p:nvSpPr>
          <p:cNvPr id="5" name="TextBox 4"/>
          <p:cNvSpPr txBox="1"/>
          <p:nvPr/>
        </p:nvSpPr>
        <p:spPr>
          <a:xfrm>
            <a:off x="502920" y="713232"/>
            <a:ext cx="10789920" cy="548640"/>
          </a:xfrm>
          <a:prstGeom prst="rect">
            <a:avLst/>
          </a:prstGeom>
          <a:noFill/>
        </p:spPr>
        <p:txBody>
          <a:bodyPr wrap="square" lIns="0" tIns="0" rIns="0" bIns="0" anchor="t">
            <a:spAutoFit/>
          </a:bodyPr>
          <a:lstStyle/>
          <a:p>
            <a:pPr algn="l">
              <a:lnSpc>
                <a:spcPct val="100000"/>
              </a:lnSpc>
            </a:pPr>
            <a:r>
              <a:rPr sz="2500" b="1" i="0">
                <a:solidFill>
                  <a:srgbClr val="0B2E59"/>
                </a:solidFill>
                <a:latin typeface="Calibri"/>
              </a:rPr>
              <a:t>The Same Pattern, Outside Insurance</a:t>
            </a:r>
          </a:p>
        </p:txBody>
      </p:sp>
      <p:cxnSp>
        <p:nvCxnSpPr>
          <p:cNvPr id="6" name="Connector 5"/>
          <p:cNvCxnSpPr/>
          <p:nvPr/>
        </p:nvCxnSpPr>
        <p:spPr>
          <a:xfrm>
            <a:off x="502920" y="1261872"/>
            <a:ext cx="11183112" cy="0"/>
          </a:xfrm>
          <a:prstGeom prst="line">
            <a:avLst/>
          </a:prstGeom>
          <a:ln w="25400">
            <a:solidFill>
              <a:srgbClr val="6E4A9E"/>
            </a:solidFill>
          </a:ln>
          <a:effectLst/>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321808" y="1188719"/>
            <a:ext cx="1554480" cy="1554480"/>
          </a:xfrm>
          <a:prstGeom prst="ellipse">
            <a:avLst/>
          </a:prstGeom>
          <a:solidFill>
            <a:srgbClr val="6E4A9E"/>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21808" y="1673351"/>
            <a:ext cx="1554480" cy="640080"/>
          </a:xfrm>
          <a:prstGeom prst="rect">
            <a:avLst/>
          </a:prstGeom>
          <a:noFill/>
        </p:spPr>
        <p:txBody>
          <a:bodyPr wrap="square" lIns="0" tIns="0" rIns="0" bIns="0" anchor="t">
            <a:spAutoFit/>
          </a:bodyPr>
          <a:lstStyle/>
          <a:p>
            <a:pPr algn="ctr">
              <a:lnSpc>
                <a:spcPct val="95000"/>
              </a:lnSpc>
            </a:pPr>
            <a:r>
              <a:rPr sz="1200" b="1" i="0">
                <a:solidFill>
                  <a:srgbClr val="FFFFFF"/>
                </a:solidFill>
                <a:latin typeface="Calibri"/>
              </a:rPr>
              <a:t>Online</a:t>
            </a:r>
          </a:p>
          <a:p>
            <a:pPr algn="ctr">
              <a:lnSpc>
                <a:spcPct val="95000"/>
              </a:lnSpc>
            </a:pPr>
            <a:r>
              <a:rPr sz="1200" b="1" i="0">
                <a:solidFill>
                  <a:srgbClr val="FFFFFF"/>
                </a:solidFill>
                <a:latin typeface="Calibri"/>
              </a:rPr>
              <a:t>Feature</a:t>
            </a:r>
          </a:p>
          <a:p>
            <a:pPr algn="ctr">
              <a:lnSpc>
                <a:spcPct val="95000"/>
              </a:lnSpc>
            </a:pPr>
            <a:r>
              <a:rPr sz="1200" b="1" i="0">
                <a:solidFill>
                  <a:srgbClr val="FFFFFF"/>
                </a:solidFill>
                <a:latin typeface="Calibri"/>
              </a:rPr>
              <a:t>Store</a:t>
            </a:r>
          </a:p>
        </p:txBody>
      </p:sp>
      <p:sp>
        <p:nvSpPr>
          <p:cNvPr id="9" name="Rounded Rectangle 8"/>
          <p:cNvSpPr/>
          <p:nvPr/>
        </p:nvSpPr>
        <p:spPr>
          <a:xfrm>
            <a:off x="502920" y="2834640"/>
            <a:ext cx="5440680" cy="1691640"/>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02920" y="2834640"/>
            <a:ext cx="5440680" cy="54864"/>
          </a:xfrm>
          <a:prstGeom prst="roundRect">
            <a:avLst>
              <a:gd name="adj" fmla="val 0"/>
            </a:avLst>
          </a:prstGeom>
          <a:solidFill>
            <a:srgbClr val="6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953512"/>
            <a:ext cx="4983480" cy="274320"/>
          </a:xfrm>
          <a:prstGeom prst="rect">
            <a:avLst/>
          </a:prstGeom>
          <a:noFill/>
        </p:spPr>
        <p:txBody>
          <a:bodyPr wrap="square" lIns="0" tIns="0" rIns="0" bIns="0" anchor="t">
            <a:spAutoFit/>
          </a:bodyPr>
          <a:lstStyle/>
          <a:p>
            <a:pPr algn="l">
              <a:lnSpc>
                <a:spcPct val="100000"/>
              </a:lnSpc>
            </a:pPr>
            <a:r>
              <a:rPr sz="1300" b="1" i="0">
                <a:solidFill>
                  <a:srgbClr val="0B2E59"/>
                </a:solidFill>
                <a:latin typeface="Calibri"/>
              </a:rPr>
              <a:t>Recommendation Systems</a:t>
            </a:r>
          </a:p>
        </p:txBody>
      </p:sp>
      <p:sp>
        <p:nvSpPr>
          <p:cNvPr id="12" name="TextBox 11"/>
          <p:cNvSpPr txBox="1"/>
          <p:nvPr/>
        </p:nvSpPr>
        <p:spPr>
          <a:xfrm>
            <a:off x="731520" y="3236976"/>
            <a:ext cx="4983480" cy="201168"/>
          </a:xfrm>
          <a:prstGeom prst="rect">
            <a:avLst/>
          </a:prstGeom>
          <a:noFill/>
        </p:spPr>
        <p:txBody>
          <a:bodyPr wrap="square" lIns="0" tIns="0" rIns="0" bIns="0" anchor="t">
            <a:spAutoFit/>
          </a:bodyPr>
          <a:lstStyle/>
          <a:p>
            <a:pPr algn="l">
              <a:lnSpc>
                <a:spcPct val="100000"/>
              </a:lnSpc>
            </a:pPr>
            <a:r>
              <a:rPr sz="850" b="1" i="0">
                <a:solidFill>
                  <a:srgbClr val="6B7686"/>
                </a:solidFill>
                <a:latin typeface="Calibri"/>
              </a:rPr>
              <a:t>E-COMMERCE &amp; STREAMING</a:t>
            </a:r>
          </a:p>
        </p:txBody>
      </p:sp>
      <p:sp>
        <p:nvSpPr>
          <p:cNvPr id="13" name="TextBox 12"/>
          <p:cNvSpPr txBox="1"/>
          <p:nvPr/>
        </p:nvSpPr>
        <p:spPr>
          <a:xfrm>
            <a:off x="731520" y="3456432"/>
            <a:ext cx="4983480" cy="502920"/>
          </a:xfrm>
          <a:prstGeom prst="rect">
            <a:avLst/>
          </a:prstGeom>
          <a:noFill/>
        </p:spPr>
        <p:txBody>
          <a:bodyPr wrap="square" lIns="0" tIns="0" rIns="0" bIns="0" anchor="t">
            <a:spAutoFit/>
          </a:bodyPr>
          <a:lstStyle/>
          <a:p>
            <a:pPr algn="l">
              <a:lnSpc>
                <a:spcPct val="103000"/>
              </a:lnSpc>
            </a:pPr>
            <a:r>
              <a:rPr sz="930" b="0" i="0">
                <a:solidFill>
                  <a:srgbClr val="1B222C"/>
                </a:solidFill>
                <a:latin typeface="Calibri"/>
              </a:rPr>
              <a:t>Precomputed user and item signals — purchase history, watch history, embeddings — looked up instantly instead of recalculated on every page load.</a:t>
            </a:r>
          </a:p>
        </p:txBody>
      </p:sp>
      <p:sp>
        <p:nvSpPr>
          <p:cNvPr id="14" name="TextBox 13"/>
          <p:cNvSpPr txBox="1"/>
          <p:nvPr/>
        </p:nvSpPr>
        <p:spPr>
          <a:xfrm>
            <a:off x="731520" y="4142232"/>
            <a:ext cx="4983480" cy="347472"/>
          </a:xfrm>
          <a:prstGeom prst="rect">
            <a:avLst/>
          </a:prstGeom>
          <a:noFill/>
        </p:spPr>
        <p:txBody>
          <a:bodyPr wrap="square" lIns="0" tIns="0" rIns="0" bIns="0" anchor="t">
            <a:spAutoFit/>
          </a:bodyPr>
          <a:lstStyle/>
          <a:p>
            <a:pPr algn="l">
              <a:lnSpc>
                <a:spcPct val="100000"/>
              </a:lnSpc>
            </a:pPr>
            <a:r>
              <a:rPr sz="830" b="0" i="1">
                <a:solidFill>
                  <a:srgbClr val="6E4A9E"/>
                </a:solidFill>
                <a:latin typeface="Calibri"/>
              </a:rPr>
              <a:t>IMPACT: Faster page loads; personalization that scales to millions of users without per-request compute.</a:t>
            </a:r>
          </a:p>
        </p:txBody>
      </p:sp>
      <p:sp>
        <p:nvSpPr>
          <p:cNvPr id="15" name="Rounded Rectangle 14"/>
          <p:cNvSpPr/>
          <p:nvPr/>
        </p:nvSpPr>
        <p:spPr>
          <a:xfrm>
            <a:off x="6263640" y="2834640"/>
            <a:ext cx="5440680" cy="1691640"/>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263640" y="2834640"/>
            <a:ext cx="5440680" cy="54864"/>
          </a:xfrm>
          <a:prstGeom prst="roundRect">
            <a:avLst>
              <a:gd name="adj" fmla="val 0"/>
            </a:avLst>
          </a:prstGeom>
          <a:solidFill>
            <a:srgbClr val="6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92240" y="2953512"/>
            <a:ext cx="4983480" cy="274320"/>
          </a:xfrm>
          <a:prstGeom prst="rect">
            <a:avLst/>
          </a:prstGeom>
          <a:noFill/>
        </p:spPr>
        <p:txBody>
          <a:bodyPr wrap="square" lIns="0" tIns="0" rIns="0" bIns="0" anchor="t">
            <a:spAutoFit/>
          </a:bodyPr>
          <a:lstStyle/>
          <a:p>
            <a:pPr algn="l">
              <a:lnSpc>
                <a:spcPct val="100000"/>
              </a:lnSpc>
            </a:pPr>
            <a:r>
              <a:rPr sz="1300" b="1" i="0">
                <a:solidFill>
                  <a:srgbClr val="0B2E59"/>
                </a:solidFill>
                <a:latin typeface="Calibri"/>
              </a:rPr>
              <a:t>Fraud &amp; Risk Scoring</a:t>
            </a:r>
          </a:p>
        </p:txBody>
      </p:sp>
      <p:sp>
        <p:nvSpPr>
          <p:cNvPr id="18" name="TextBox 17"/>
          <p:cNvSpPr txBox="1"/>
          <p:nvPr/>
        </p:nvSpPr>
        <p:spPr>
          <a:xfrm>
            <a:off x="6492240" y="3236976"/>
            <a:ext cx="4983480" cy="201168"/>
          </a:xfrm>
          <a:prstGeom prst="rect">
            <a:avLst/>
          </a:prstGeom>
          <a:noFill/>
        </p:spPr>
        <p:txBody>
          <a:bodyPr wrap="square" lIns="0" tIns="0" rIns="0" bIns="0" anchor="t">
            <a:spAutoFit/>
          </a:bodyPr>
          <a:lstStyle/>
          <a:p>
            <a:pPr algn="l">
              <a:lnSpc>
                <a:spcPct val="100000"/>
              </a:lnSpc>
            </a:pPr>
            <a:r>
              <a:rPr sz="850" b="1" i="0">
                <a:solidFill>
                  <a:srgbClr val="6B7686"/>
                </a:solidFill>
                <a:latin typeface="Calibri"/>
              </a:rPr>
              <a:t>PAYMENTS &amp; BANKING</a:t>
            </a:r>
          </a:p>
        </p:txBody>
      </p:sp>
      <p:sp>
        <p:nvSpPr>
          <p:cNvPr id="19" name="TextBox 18"/>
          <p:cNvSpPr txBox="1"/>
          <p:nvPr/>
        </p:nvSpPr>
        <p:spPr>
          <a:xfrm>
            <a:off x="6492240" y="3456432"/>
            <a:ext cx="4983480" cy="502920"/>
          </a:xfrm>
          <a:prstGeom prst="rect">
            <a:avLst/>
          </a:prstGeom>
          <a:noFill/>
        </p:spPr>
        <p:txBody>
          <a:bodyPr wrap="square" lIns="0" tIns="0" rIns="0" bIns="0" anchor="t">
            <a:spAutoFit/>
          </a:bodyPr>
          <a:lstStyle/>
          <a:p>
            <a:pPr algn="l">
              <a:lnSpc>
                <a:spcPct val="103000"/>
              </a:lnSpc>
            </a:pPr>
            <a:r>
              <a:rPr sz="930" b="0" i="0">
                <a:solidFill>
                  <a:srgbClr val="1B222C"/>
                </a:solidFill>
                <a:latin typeface="Calibri"/>
              </a:rPr>
              <a:t>Behavioral aggregates — transaction velocity, spending patterns — precomputed and looked up in milliseconds during a live transaction.</a:t>
            </a:r>
          </a:p>
        </p:txBody>
      </p:sp>
      <p:sp>
        <p:nvSpPr>
          <p:cNvPr id="20" name="TextBox 19"/>
          <p:cNvSpPr txBox="1"/>
          <p:nvPr/>
        </p:nvSpPr>
        <p:spPr>
          <a:xfrm>
            <a:off x="6492240" y="4142232"/>
            <a:ext cx="4983480" cy="347472"/>
          </a:xfrm>
          <a:prstGeom prst="rect">
            <a:avLst/>
          </a:prstGeom>
          <a:noFill/>
        </p:spPr>
        <p:txBody>
          <a:bodyPr wrap="square" lIns="0" tIns="0" rIns="0" bIns="0" anchor="t">
            <a:spAutoFit/>
          </a:bodyPr>
          <a:lstStyle/>
          <a:p>
            <a:pPr algn="l">
              <a:lnSpc>
                <a:spcPct val="100000"/>
              </a:lnSpc>
            </a:pPr>
            <a:r>
              <a:rPr sz="830" b="0" i="1">
                <a:solidFill>
                  <a:srgbClr val="6E4A9E"/>
                </a:solidFill>
                <a:latin typeface="Calibri"/>
              </a:rPr>
              <a:t>IMPACT: Real-time decisions within a hard latency budget, without recomputing a customer's full history per swipe.</a:t>
            </a:r>
          </a:p>
        </p:txBody>
      </p:sp>
      <p:sp>
        <p:nvSpPr>
          <p:cNvPr id="21" name="Rounded Rectangle 20"/>
          <p:cNvSpPr/>
          <p:nvPr/>
        </p:nvSpPr>
        <p:spPr>
          <a:xfrm>
            <a:off x="502920" y="4690872"/>
            <a:ext cx="5440680" cy="1691640"/>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2920" y="4690872"/>
            <a:ext cx="5440680" cy="54864"/>
          </a:xfrm>
          <a:prstGeom prst="roundRect">
            <a:avLst>
              <a:gd name="adj" fmla="val 0"/>
            </a:avLst>
          </a:prstGeom>
          <a:solidFill>
            <a:srgbClr val="6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809744"/>
            <a:ext cx="4983480" cy="274320"/>
          </a:xfrm>
          <a:prstGeom prst="rect">
            <a:avLst/>
          </a:prstGeom>
          <a:noFill/>
        </p:spPr>
        <p:txBody>
          <a:bodyPr wrap="square" lIns="0" tIns="0" rIns="0" bIns="0" anchor="t">
            <a:spAutoFit/>
          </a:bodyPr>
          <a:lstStyle/>
          <a:p>
            <a:pPr algn="l">
              <a:lnSpc>
                <a:spcPct val="100000"/>
              </a:lnSpc>
            </a:pPr>
            <a:r>
              <a:rPr sz="1300" b="1" i="0">
                <a:solidFill>
                  <a:srgbClr val="0B2E59"/>
                </a:solidFill>
                <a:latin typeface="Calibri"/>
              </a:rPr>
              <a:t>Real-Time Bidding</a:t>
            </a:r>
          </a:p>
        </p:txBody>
      </p:sp>
      <p:sp>
        <p:nvSpPr>
          <p:cNvPr id="24" name="TextBox 23"/>
          <p:cNvSpPr txBox="1"/>
          <p:nvPr/>
        </p:nvSpPr>
        <p:spPr>
          <a:xfrm>
            <a:off x="731520" y="5093208"/>
            <a:ext cx="4983480" cy="201168"/>
          </a:xfrm>
          <a:prstGeom prst="rect">
            <a:avLst/>
          </a:prstGeom>
          <a:noFill/>
        </p:spPr>
        <p:txBody>
          <a:bodyPr wrap="square" lIns="0" tIns="0" rIns="0" bIns="0" anchor="t">
            <a:spAutoFit/>
          </a:bodyPr>
          <a:lstStyle/>
          <a:p>
            <a:pPr algn="l">
              <a:lnSpc>
                <a:spcPct val="100000"/>
              </a:lnSpc>
            </a:pPr>
            <a:r>
              <a:rPr sz="850" b="1" i="0">
                <a:solidFill>
                  <a:srgbClr val="6B7686"/>
                </a:solidFill>
                <a:latin typeface="Calibri"/>
              </a:rPr>
              <a:t>AD-TECH</a:t>
            </a:r>
          </a:p>
        </p:txBody>
      </p:sp>
      <p:sp>
        <p:nvSpPr>
          <p:cNvPr id="25" name="TextBox 24"/>
          <p:cNvSpPr txBox="1"/>
          <p:nvPr/>
        </p:nvSpPr>
        <p:spPr>
          <a:xfrm>
            <a:off x="731520" y="5312664"/>
            <a:ext cx="4983480" cy="502920"/>
          </a:xfrm>
          <a:prstGeom prst="rect">
            <a:avLst/>
          </a:prstGeom>
          <a:noFill/>
        </p:spPr>
        <p:txBody>
          <a:bodyPr wrap="square" lIns="0" tIns="0" rIns="0" bIns="0" anchor="t">
            <a:spAutoFit/>
          </a:bodyPr>
          <a:lstStyle/>
          <a:p>
            <a:pPr algn="l">
              <a:lnSpc>
                <a:spcPct val="103000"/>
              </a:lnSpc>
            </a:pPr>
            <a:r>
              <a:rPr sz="930" b="0" i="0">
                <a:solidFill>
                  <a:srgbClr val="1B222C"/>
                </a:solidFill>
                <a:latin typeface="Calibri"/>
              </a:rPr>
              <a:t>User and context features precomputed ahead of the bid request, since the bidding window itself leaves no time to compute from scratch.</a:t>
            </a:r>
          </a:p>
        </p:txBody>
      </p:sp>
      <p:sp>
        <p:nvSpPr>
          <p:cNvPr id="26" name="TextBox 25"/>
          <p:cNvSpPr txBox="1"/>
          <p:nvPr/>
        </p:nvSpPr>
        <p:spPr>
          <a:xfrm>
            <a:off x="731520" y="5998464"/>
            <a:ext cx="4983480" cy="347472"/>
          </a:xfrm>
          <a:prstGeom prst="rect">
            <a:avLst/>
          </a:prstGeom>
          <a:noFill/>
        </p:spPr>
        <p:txBody>
          <a:bodyPr wrap="square" lIns="0" tIns="0" rIns="0" bIns="0" anchor="t">
            <a:spAutoFit/>
          </a:bodyPr>
          <a:lstStyle/>
          <a:p>
            <a:pPr algn="l">
              <a:lnSpc>
                <a:spcPct val="100000"/>
              </a:lnSpc>
            </a:pPr>
            <a:r>
              <a:rPr sz="830" b="0" i="1">
                <a:solidFill>
                  <a:srgbClr val="6E4A9E"/>
                </a:solidFill>
                <a:latin typeface="Calibri"/>
              </a:rPr>
              <a:t>IMPACT: Meets the bid-response time budget while still using rich, up-to-date signals.</a:t>
            </a:r>
          </a:p>
        </p:txBody>
      </p:sp>
      <p:sp>
        <p:nvSpPr>
          <p:cNvPr id="27" name="Rounded Rectangle 26"/>
          <p:cNvSpPr/>
          <p:nvPr/>
        </p:nvSpPr>
        <p:spPr>
          <a:xfrm>
            <a:off x="6263640" y="4690872"/>
            <a:ext cx="5440680" cy="1691640"/>
          </a:xfrm>
          <a:prstGeom prst="roundRect">
            <a:avLst>
              <a:gd name="adj" fmla="val 5000"/>
            </a:avLst>
          </a:prstGeom>
          <a:solidFill>
            <a:srgbClr val="FFFFFF"/>
          </a:solidFill>
          <a:ln w="9525">
            <a:solidFill>
              <a:srgbClr val="E1E4EA"/>
            </a:solid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263640" y="4690872"/>
            <a:ext cx="5440680" cy="54864"/>
          </a:xfrm>
          <a:prstGeom prst="roundRect">
            <a:avLst>
              <a:gd name="adj" fmla="val 0"/>
            </a:avLst>
          </a:prstGeom>
          <a:solidFill>
            <a:srgbClr val="6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92240" y="4809744"/>
            <a:ext cx="4983480" cy="274320"/>
          </a:xfrm>
          <a:prstGeom prst="rect">
            <a:avLst/>
          </a:prstGeom>
          <a:noFill/>
        </p:spPr>
        <p:txBody>
          <a:bodyPr wrap="square" lIns="0" tIns="0" rIns="0" bIns="0" anchor="t">
            <a:spAutoFit/>
          </a:bodyPr>
          <a:lstStyle/>
          <a:p>
            <a:pPr algn="l">
              <a:lnSpc>
                <a:spcPct val="100000"/>
              </a:lnSpc>
            </a:pPr>
            <a:r>
              <a:rPr sz="1300" b="1" i="0">
                <a:solidFill>
                  <a:srgbClr val="0B2E59"/>
                </a:solidFill>
                <a:latin typeface="Calibri"/>
              </a:rPr>
              <a:t>Underwriting &amp; Lending</a:t>
            </a:r>
          </a:p>
        </p:txBody>
      </p:sp>
      <p:sp>
        <p:nvSpPr>
          <p:cNvPr id="30" name="TextBox 29"/>
          <p:cNvSpPr txBox="1"/>
          <p:nvPr/>
        </p:nvSpPr>
        <p:spPr>
          <a:xfrm>
            <a:off x="6492240" y="5093208"/>
            <a:ext cx="4983480" cy="201168"/>
          </a:xfrm>
          <a:prstGeom prst="rect">
            <a:avLst/>
          </a:prstGeom>
          <a:noFill/>
        </p:spPr>
        <p:txBody>
          <a:bodyPr wrap="square" lIns="0" tIns="0" rIns="0" bIns="0" anchor="t">
            <a:spAutoFit/>
          </a:bodyPr>
          <a:lstStyle/>
          <a:p>
            <a:pPr algn="l">
              <a:lnSpc>
                <a:spcPct val="100000"/>
              </a:lnSpc>
            </a:pPr>
            <a:r>
              <a:rPr sz="850" b="1" i="0">
                <a:solidFill>
                  <a:srgbClr val="6B7686"/>
                </a:solidFill>
                <a:latin typeface="Calibri"/>
              </a:rPr>
              <a:t>CREDIT &amp; INSURANCE</a:t>
            </a:r>
          </a:p>
        </p:txBody>
      </p:sp>
      <p:sp>
        <p:nvSpPr>
          <p:cNvPr id="31" name="TextBox 30"/>
          <p:cNvSpPr txBox="1"/>
          <p:nvPr/>
        </p:nvSpPr>
        <p:spPr>
          <a:xfrm>
            <a:off x="6492240" y="5312664"/>
            <a:ext cx="4983480" cy="502920"/>
          </a:xfrm>
          <a:prstGeom prst="rect">
            <a:avLst/>
          </a:prstGeom>
          <a:noFill/>
        </p:spPr>
        <p:txBody>
          <a:bodyPr wrap="square" lIns="0" tIns="0" rIns="0" bIns="0" anchor="t">
            <a:spAutoFit/>
          </a:bodyPr>
          <a:lstStyle/>
          <a:p>
            <a:pPr algn="l">
              <a:lnSpc>
                <a:spcPct val="103000"/>
              </a:lnSpc>
            </a:pPr>
            <a:r>
              <a:rPr sz="930" b="0" i="0">
                <a:solidFill>
                  <a:srgbClr val="1B222C"/>
                </a:solidFill>
                <a:latin typeface="Calibri"/>
              </a:rPr>
              <a:t>Applicant- and policy-level aggregates — the same shape as this project — computed once and reused by every risk and pricing model that touches that customer.</a:t>
            </a:r>
          </a:p>
        </p:txBody>
      </p:sp>
      <p:sp>
        <p:nvSpPr>
          <p:cNvPr id="32" name="TextBox 31"/>
          <p:cNvSpPr txBox="1"/>
          <p:nvPr/>
        </p:nvSpPr>
        <p:spPr>
          <a:xfrm>
            <a:off x="6492240" y="5998464"/>
            <a:ext cx="4983480" cy="347472"/>
          </a:xfrm>
          <a:prstGeom prst="rect">
            <a:avLst/>
          </a:prstGeom>
          <a:noFill/>
        </p:spPr>
        <p:txBody>
          <a:bodyPr wrap="square" lIns="0" tIns="0" rIns="0" bIns="0" anchor="t">
            <a:spAutoFit/>
          </a:bodyPr>
          <a:lstStyle/>
          <a:p>
            <a:pPr algn="l">
              <a:lnSpc>
                <a:spcPct val="100000"/>
              </a:lnSpc>
            </a:pPr>
            <a:r>
              <a:rPr sz="830" b="0" i="1">
                <a:solidFill>
                  <a:srgbClr val="6E4A9E"/>
                </a:solidFill>
                <a:latin typeface="Calibri"/>
              </a:rPr>
              <a:t>IMPACT: One governed feature set instead of one-off scoring logic per model team.</a:t>
            </a:r>
          </a:p>
        </p:txBody>
      </p:sp>
      <p:cxnSp>
        <p:nvCxnSpPr>
          <p:cNvPr id="33" name="Connector 32"/>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7</a:t>
            </a:r>
          </a:p>
        </p:txBody>
      </p:sp>
      <p:sp>
        <p:nvSpPr>
          <p:cNvPr id="35" name="TextBox 34"/>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91440"/>
          </a:xfrm>
          <a:prstGeom prst="roundRect">
            <a:avLst>
              <a:gd name="adj" fmla="val 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02920" y="292608"/>
            <a:ext cx="3090672" cy="310896"/>
          </a:xfrm>
          <a:prstGeom prst="roundRect">
            <a:avLst>
              <a:gd name="adj" fmla="val 5000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92608"/>
            <a:ext cx="3090672" cy="310896"/>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ARCHITECTURE</a:t>
            </a:r>
          </a:p>
        </p:txBody>
      </p:sp>
      <p:sp>
        <p:nvSpPr>
          <p:cNvPr id="5" name="TextBox 4"/>
          <p:cNvSpPr txBox="1"/>
          <p:nvPr/>
        </p:nvSpPr>
        <p:spPr>
          <a:xfrm>
            <a:off x="502920" y="713232"/>
            <a:ext cx="10789920" cy="548640"/>
          </a:xfrm>
          <a:prstGeom prst="rect">
            <a:avLst/>
          </a:prstGeom>
          <a:noFill/>
        </p:spPr>
        <p:txBody>
          <a:bodyPr wrap="square" lIns="0" tIns="0" rIns="0" bIns="0" anchor="t">
            <a:spAutoFit/>
          </a:bodyPr>
          <a:lstStyle/>
          <a:p>
            <a:pPr algn="l">
              <a:lnSpc>
                <a:spcPct val="100000"/>
              </a:lnSpc>
            </a:pPr>
            <a:r>
              <a:rPr sz="2500" b="1" i="0">
                <a:solidFill>
                  <a:srgbClr val="0B2E59"/>
                </a:solidFill>
                <a:latin typeface="Calibri"/>
              </a:rPr>
              <a:t>End-to-End Architecture</a:t>
            </a:r>
          </a:p>
        </p:txBody>
      </p:sp>
      <p:cxnSp>
        <p:nvCxnSpPr>
          <p:cNvPr id="6" name="Connector 5"/>
          <p:cNvCxnSpPr/>
          <p:nvPr/>
        </p:nvCxnSpPr>
        <p:spPr>
          <a:xfrm>
            <a:off x="502920" y="1261872"/>
            <a:ext cx="11183112" cy="0"/>
          </a:xfrm>
          <a:prstGeom prst="line">
            <a:avLst/>
          </a:prstGeom>
          <a:ln w="25400">
            <a:solidFill>
              <a:srgbClr val="3E6FA6"/>
            </a:solidFill>
          </a:ln>
          <a:effectLst/>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2920" y="1417320"/>
            <a:ext cx="4206240" cy="548640"/>
          </a:xfrm>
          <a:prstGeom prst="roundRect">
            <a:avLst>
              <a:gd name="adj" fmla="val 10000"/>
            </a:avLst>
          </a:prstGeom>
          <a:solidFill>
            <a:srgbClr val="3E6FA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Transaction JSON → Auto Loader</a:t>
            </a:r>
          </a:p>
        </p:txBody>
      </p:sp>
      <p:sp>
        <p:nvSpPr>
          <p:cNvPr id="8" name="Rounded Rectangle 7"/>
          <p:cNvSpPr/>
          <p:nvPr/>
        </p:nvSpPr>
        <p:spPr>
          <a:xfrm>
            <a:off x="502920" y="2185416"/>
            <a:ext cx="4206240" cy="548640"/>
          </a:xfrm>
          <a:prstGeom prst="roundRect">
            <a:avLst>
              <a:gd name="adj" fmla="val 10000"/>
            </a:avLst>
          </a:prstGeom>
          <a:solidFill>
            <a:srgbClr val="0B2E59"/>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RAW_POLICY_EVENTS (Bronze)</a:t>
            </a:r>
          </a:p>
        </p:txBody>
      </p:sp>
      <p:sp>
        <p:nvSpPr>
          <p:cNvPr id="9" name="Rounded Rectangle 8"/>
          <p:cNvSpPr/>
          <p:nvPr/>
        </p:nvSpPr>
        <p:spPr>
          <a:xfrm>
            <a:off x="502920" y="2953512"/>
            <a:ext cx="4206240" cy="548640"/>
          </a:xfrm>
          <a:prstGeom prst="roundRect">
            <a:avLst>
              <a:gd name="adj" fmla="val 10000"/>
            </a:avLst>
          </a:prstGeom>
          <a:solidFill>
            <a:srgbClr val="3E6FA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PySpark Feature Computation</a:t>
            </a:r>
          </a:p>
        </p:txBody>
      </p:sp>
      <p:sp>
        <p:nvSpPr>
          <p:cNvPr id="10" name="Rounded Rectangle 9"/>
          <p:cNvSpPr/>
          <p:nvPr/>
        </p:nvSpPr>
        <p:spPr>
          <a:xfrm>
            <a:off x="502920" y="3721608"/>
            <a:ext cx="4206240" cy="548640"/>
          </a:xfrm>
          <a:prstGeom prst="roundRect">
            <a:avLst>
              <a:gd name="adj" fmla="val 10000"/>
            </a:avLst>
          </a:prstGeom>
          <a:solidFill>
            <a:srgbClr val="0B2E59"/>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COMPUTED_FEATURE_EVENTS (Silver)</a:t>
            </a:r>
          </a:p>
        </p:txBody>
      </p:sp>
      <p:sp>
        <p:nvSpPr>
          <p:cNvPr id="11" name="Rounded Rectangle 10"/>
          <p:cNvSpPr/>
          <p:nvPr/>
        </p:nvSpPr>
        <p:spPr>
          <a:xfrm>
            <a:off x="502920" y="4489704"/>
            <a:ext cx="4206240" cy="548640"/>
          </a:xfrm>
          <a:prstGeom prst="roundRect">
            <a:avLst>
              <a:gd name="adj" fmla="val 10000"/>
            </a:avLst>
          </a:prstGeom>
          <a:solidFill>
            <a:srgbClr val="3E6FA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5000"/>
              </a:lnSpc>
            </a:pPr>
            <a:r>
              <a:rPr sz="1050" b="1">
                <a:solidFill>
                  <a:srgbClr val="FFFFFF"/>
                </a:solidFill>
                <a:latin typeface="Calibri"/>
              </a:rPr>
              <a:t>Registry-Driven Routing</a:t>
            </a:r>
          </a:p>
        </p:txBody>
      </p:sp>
      <p:cxnSp>
        <p:nvCxnSpPr>
          <p:cNvPr id="12" name="Connector 11"/>
          <p:cNvCxnSpPr/>
          <p:nvPr/>
        </p:nvCxnSpPr>
        <p:spPr>
          <a:xfrm>
            <a:off x="2606039" y="1965960"/>
            <a:ext cx="0" cy="219456"/>
          </a:xfrm>
          <a:prstGeom prst="line">
            <a:avLst/>
          </a:prstGeom>
          <a:ln w="25400">
            <a:solidFill>
              <a:srgbClr val="3E6F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606039" y="2734056"/>
            <a:ext cx="0" cy="219456"/>
          </a:xfrm>
          <a:prstGeom prst="line">
            <a:avLst/>
          </a:prstGeom>
          <a:ln w="25400">
            <a:solidFill>
              <a:srgbClr val="3E6F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606039" y="3502152"/>
            <a:ext cx="0" cy="219456"/>
          </a:xfrm>
          <a:prstGeom prst="line">
            <a:avLst/>
          </a:prstGeom>
          <a:ln w="25400">
            <a:solidFill>
              <a:srgbClr val="3E6FA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606039" y="4270248"/>
            <a:ext cx="0" cy="219456"/>
          </a:xfrm>
          <a:prstGeom prst="line">
            <a:avLst/>
          </a:prstGeom>
          <a:ln w="25400">
            <a:solidFill>
              <a:srgbClr val="3E6F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37759" y="2185416"/>
            <a:ext cx="1737360" cy="548640"/>
          </a:xfrm>
          <a:prstGeom prst="roundRect">
            <a:avLst>
              <a:gd name="adj" fmla="val 10000"/>
            </a:avLst>
          </a:prstGeom>
          <a:solidFill>
            <a:srgbClr val="C1443A"/>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59" y="2185416"/>
            <a:ext cx="1737360" cy="548640"/>
          </a:xfrm>
          <a:prstGeom prst="rect">
            <a:avLst/>
          </a:prstGeom>
          <a:noFill/>
        </p:spPr>
        <p:txBody>
          <a:bodyPr wrap="square" lIns="0" tIns="0" rIns="0" bIns="0" anchor="ctr">
            <a:spAutoFit/>
          </a:bodyPr>
          <a:lstStyle/>
          <a:p>
            <a:pPr algn="ctr">
              <a:lnSpc>
                <a:spcPct val="90000"/>
              </a:lnSpc>
            </a:pPr>
            <a:r>
              <a:rPr sz="850" b="1" i="0">
                <a:solidFill>
                  <a:srgbClr val="FFFFFF"/>
                </a:solidFill>
                <a:latin typeface="Calibri"/>
              </a:rPr>
              <a:t>RAW_EVENTS_DLQ</a:t>
            </a:r>
          </a:p>
          <a:p>
            <a:pPr algn="ctr">
              <a:lnSpc>
                <a:spcPct val="90000"/>
              </a:lnSpc>
            </a:pPr>
            <a:r>
              <a:rPr sz="850" b="1" i="0">
                <a:solidFill>
                  <a:srgbClr val="FFFFFF"/>
                </a:solidFill>
                <a:latin typeface="Calibri"/>
              </a:rPr>
              <a:t>(malformed)</a:t>
            </a:r>
          </a:p>
        </p:txBody>
      </p:sp>
      <p:cxnSp>
        <p:nvCxnSpPr>
          <p:cNvPr id="18" name="Connector 17"/>
          <p:cNvCxnSpPr/>
          <p:nvPr/>
        </p:nvCxnSpPr>
        <p:spPr>
          <a:xfrm>
            <a:off x="4709159" y="2459736"/>
            <a:ext cx="228600" cy="0"/>
          </a:xfrm>
          <a:prstGeom prst="line">
            <a:avLst/>
          </a:prstGeom>
          <a:ln w="19050">
            <a:solidFill>
              <a:srgbClr val="C1443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02920" y="5312664"/>
            <a:ext cx="1280160" cy="566928"/>
          </a:xfrm>
          <a:prstGeom prst="roundRect">
            <a:avLst>
              <a:gd name="adj" fmla="val 10000"/>
            </a:avLst>
          </a:prstGeom>
          <a:solidFill>
            <a:srgbClr val="0B2E59"/>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0000"/>
              </a:lnSpc>
            </a:pPr>
            <a:r>
              <a:rPr sz="850" b="1">
                <a:solidFill>
                  <a:srgbClr val="FFFFFF"/>
                </a:solidFill>
                <a:latin typeface="Calibri"/>
              </a:rPr>
              <a:t>ACTIVE
(serving)</a:t>
            </a:r>
          </a:p>
        </p:txBody>
      </p:sp>
      <p:cxnSp>
        <p:nvCxnSpPr>
          <p:cNvPr id="20" name="Connector 19"/>
          <p:cNvCxnSpPr/>
          <p:nvPr/>
        </p:nvCxnSpPr>
        <p:spPr>
          <a:xfrm flipH="1">
            <a:off x="1143000" y="5038344"/>
            <a:ext cx="1463039" cy="274320"/>
          </a:xfrm>
          <a:prstGeom prst="line">
            <a:avLst/>
          </a:prstGeom>
          <a:ln w="19050">
            <a:solidFill>
              <a:srgbClr val="3E6F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911095" y="5312664"/>
            <a:ext cx="1280160" cy="566928"/>
          </a:xfrm>
          <a:prstGeom prst="roundRect">
            <a:avLst>
              <a:gd name="adj" fmla="val 10000"/>
            </a:avLst>
          </a:prstGeom>
          <a:solidFill>
            <a:srgbClr val="E0A526"/>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0000"/>
              </a:lnSpc>
            </a:pPr>
            <a:r>
              <a:rPr sz="850" b="1">
                <a:solidFill>
                  <a:srgbClr val="FFFFFF"/>
                </a:solidFill>
                <a:latin typeface="Calibri"/>
              </a:rPr>
              <a:t>PENDING
(future)</a:t>
            </a:r>
          </a:p>
        </p:txBody>
      </p:sp>
      <p:cxnSp>
        <p:nvCxnSpPr>
          <p:cNvPr id="22" name="Connector 21"/>
          <p:cNvCxnSpPr/>
          <p:nvPr/>
        </p:nvCxnSpPr>
        <p:spPr>
          <a:xfrm flipH="1">
            <a:off x="2551176" y="5038344"/>
            <a:ext cx="54863" cy="274320"/>
          </a:xfrm>
          <a:prstGeom prst="line">
            <a:avLst/>
          </a:prstGeom>
          <a:ln w="19050">
            <a:solidFill>
              <a:srgbClr val="3E6F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319272" y="5312664"/>
            <a:ext cx="1280160" cy="566928"/>
          </a:xfrm>
          <a:prstGeom prst="roundRect">
            <a:avLst>
              <a:gd name="adj" fmla="val 10000"/>
            </a:avLst>
          </a:prstGeom>
          <a:solidFill>
            <a:srgbClr val="6E4A9E"/>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90000"/>
              </a:lnSpc>
            </a:pPr>
            <a:r>
              <a:rPr sz="850" b="1">
                <a:solidFill>
                  <a:srgbClr val="FFFFFF"/>
                </a:solidFill>
                <a:latin typeface="Calibri"/>
              </a:rPr>
              <a:t>HISTORY
(SCD2)</a:t>
            </a:r>
          </a:p>
        </p:txBody>
      </p:sp>
      <p:cxnSp>
        <p:nvCxnSpPr>
          <p:cNvPr id="24" name="Connector 23"/>
          <p:cNvCxnSpPr/>
          <p:nvPr/>
        </p:nvCxnSpPr>
        <p:spPr>
          <a:xfrm>
            <a:off x="2606039" y="5038344"/>
            <a:ext cx="1353313" cy="274320"/>
          </a:xfrm>
          <a:prstGeom prst="line">
            <a:avLst/>
          </a:prstGeom>
          <a:ln w="19050">
            <a:solidFill>
              <a:srgbClr val="3E6FA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02920" y="6245352"/>
            <a:ext cx="4206240" cy="548640"/>
          </a:xfrm>
          <a:prstGeom prst="roundRect">
            <a:avLst>
              <a:gd name="adj" fmla="val 10000"/>
            </a:avLst>
          </a:prstGeom>
          <a:solidFill>
            <a:srgbClr val="071E3B"/>
          </a:solidFill>
          <a:ln>
            <a:noFill/>
          </a:ln>
          <a:effectLst>
            <a:outerShdw blurRad="70000" dist="22000" dir="5400000" rotWithShape="0">
              <a:srgbClr val="8A94A3">
                <a:alpha val="7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245352"/>
            <a:ext cx="4206240" cy="548640"/>
          </a:xfrm>
          <a:prstGeom prst="rect">
            <a:avLst/>
          </a:prstGeom>
          <a:noFill/>
        </p:spPr>
        <p:txBody>
          <a:bodyPr wrap="square" lIns="0" tIns="0" rIns="0" bIns="0" anchor="ctr">
            <a:spAutoFit/>
          </a:bodyPr>
          <a:lstStyle/>
          <a:p>
            <a:pPr algn="ctr">
              <a:lnSpc>
                <a:spcPct val="100000"/>
              </a:lnSpc>
            </a:pPr>
            <a:r>
              <a:rPr sz="1000" b="1" i="0">
                <a:solidFill>
                  <a:srgbClr val="FFFFFF"/>
                </a:solidFill>
                <a:latin typeface="Calibri"/>
              </a:rPr>
              <a:t>Lakebase → Feature Serving Endpoint</a:t>
            </a:r>
          </a:p>
        </p:txBody>
      </p:sp>
      <p:cxnSp>
        <p:nvCxnSpPr>
          <p:cNvPr id="27" name="Connector 26"/>
          <p:cNvCxnSpPr/>
          <p:nvPr/>
        </p:nvCxnSpPr>
        <p:spPr>
          <a:xfrm>
            <a:off x="1143000" y="5879592"/>
            <a:ext cx="1463039" cy="365760"/>
          </a:xfrm>
          <a:prstGeom prst="line">
            <a:avLst/>
          </a:prstGeom>
          <a:ln w="22225">
            <a:solidFill>
              <a:srgbClr val="0B2E5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03719" y="1417320"/>
            <a:ext cx="4785055" cy="274320"/>
          </a:xfrm>
          <a:prstGeom prst="rect">
            <a:avLst/>
          </a:prstGeom>
          <a:noFill/>
        </p:spPr>
        <p:txBody>
          <a:bodyPr wrap="square" lIns="0" tIns="0" rIns="0" bIns="0" anchor="t">
            <a:spAutoFit/>
          </a:bodyPr>
          <a:lstStyle/>
          <a:p>
            <a:pPr algn="l">
              <a:lnSpc>
                <a:spcPct val="100000"/>
              </a:lnSpc>
            </a:pPr>
            <a:r>
              <a:rPr sz="1150" b="1" i="0">
                <a:solidFill>
                  <a:srgbClr val="0B2E59"/>
                </a:solidFill>
                <a:latin typeface="Calibri"/>
              </a:rPr>
              <a:t>TRIGGER TYPE</a:t>
            </a:r>
          </a:p>
        </p:txBody>
      </p:sp>
      <p:sp>
        <p:nvSpPr>
          <p:cNvPr id="29" name="Rounded Rectangle 28"/>
          <p:cNvSpPr/>
          <p:nvPr/>
        </p:nvSpPr>
        <p:spPr>
          <a:xfrm>
            <a:off x="6903719" y="1801368"/>
            <a:ext cx="256032" cy="256032"/>
          </a:xfrm>
          <a:prstGeom prst="roundRect">
            <a:avLst>
              <a:gd name="adj" fmla="val 50000"/>
            </a:avLst>
          </a:prstGeom>
          <a:solidFill>
            <a:srgbClr val="3E6F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87767" y="1755648"/>
            <a:ext cx="4401007" cy="274320"/>
          </a:xfrm>
          <a:prstGeom prst="rect">
            <a:avLst/>
          </a:prstGeom>
          <a:noFill/>
        </p:spPr>
        <p:txBody>
          <a:bodyPr wrap="square" lIns="0" tIns="0" rIns="0" bIns="0" anchor="t">
            <a:spAutoFit/>
          </a:bodyPr>
          <a:lstStyle/>
          <a:p>
            <a:pPr algn="l">
              <a:lnSpc>
                <a:spcPct val="100000"/>
              </a:lnSpc>
            </a:pPr>
            <a:r>
              <a:rPr sz="1200" b="1" i="0">
                <a:solidFill>
                  <a:srgbClr val="0B2E59"/>
                </a:solidFill>
                <a:latin typeface="Calibri"/>
              </a:rPr>
              <a:t>Event-driven</a:t>
            </a:r>
          </a:p>
        </p:txBody>
      </p:sp>
      <p:sp>
        <p:nvSpPr>
          <p:cNvPr id="31" name="TextBox 30"/>
          <p:cNvSpPr txBox="1"/>
          <p:nvPr/>
        </p:nvSpPr>
        <p:spPr>
          <a:xfrm>
            <a:off x="7287767" y="2039112"/>
            <a:ext cx="4401007" cy="411480"/>
          </a:xfrm>
          <a:prstGeom prst="rect">
            <a:avLst/>
          </a:prstGeom>
          <a:noFill/>
        </p:spPr>
        <p:txBody>
          <a:bodyPr wrap="square" lIns="0" tIns="0" rIns="0" bIns="0" anchor="t">
            <a:spAutoFit/>
          </a:bodyPr>
          <a:lstStyle/>
          <a:p>
            <a:pPr algn="l">
              <a:lnSpc>
                <a:spcPct val="100000"/>
              </a:lnSpc>
            </a:pPr>
            <a:r>
              <a:rPr sz="950" b="0" i="0">
                <a:solidFill>
                  <a:srgbClr val="6B7686"/>
                </a:solidFill>
                <a:latin typeface="Calibri"/>
              </a:rPr>
              <a:t>Triggered by Delta Change Data Feed on every new row</a:t>
            </a:r>
          </a:p>
        </p:txBody>
      </p:sp>
      <p:sp>
        <p:nvSpPr>
          <p:cNvPr id="32" name="Rounded Rectangle 31"/>
          <p:cNvSpPr/>
          <p:nvPr/>
        </p:nvSpPr>
        <p:spPr>
          <a:xfrm>
            <a:off x="6903719" y="2578608"/>
            <a:ext cx="256032" cy="256032"/>
          </a:xfrm>
          <a:prstGeom prst="roundRect">
            <a:avLst>
              <a:gd name="adj" fmla="val 50000"/>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87767" y="2532888"/>
            <a:ext cx="4401007" cy="274320"/>
          </a:xfrm>
          <a:prstGeom prst="rect">
            <a:avLst/>
          </a:prstGeom>
          <a:noFill/>
        </p:spPr>
        <p:txBody>
          <a:bodyPr wrap="square" lIns="0" tIns="0" rIns="0" bIns="0" anchor="t">
            <a:spAutoFit/>
          </a:bodyPr>
          <a:lstStyle/>
          <a:p>
            <a:pPr algn="l">
              <a:lnSpc>
                <a:spcPct val="100000"/>
              </a:lnSpc>
            </a:pPr>
            <a:r>
              <a:rPr sz="1200" b="1" i="0">
                <a:solidFill>
                  <a:srgbClr val="0B2E59"/>
                </a:solidFill>
                <a:latin typeface="Calibri"/>
              </a:rPr>
              <a:t>Hourly job</a:t>
            </a:r>
          </a:p>
        </p:txBody>
      </p:sp>
      <p:sp>
        <p:nvSpPr>
          <p:cNvPr id="34" name="TextBox 33"/>
          <p:cNvSpPr txBox="1"/>
          <p:nvPr/>
        </p:nvSpPr>
        <p:spPr>
          <a:xfrm>
            <a:off x="7287767" y="2816352"/>
            <a:ext cx="4401007" cy="411480"/>
          </a:xfrm>
          <a:prstGeom prst="rect">
            <a:avLst/>
          </a:prstGeom>
          <a:noFill/>
        </p:spPr>
        <p:txBody>
          <a:bodyPr wrap="square" lIns="0" tIns="0" rIns="0" bIns="0" anchor="t">
            <a:spAutoFit/>
          </a:bodyPr>
          <a:lstStyle/>
          <a:p>
            <a:pPr algn="l">
              <a:lnSpc>
                <a:spcPct val="100000"/>
              </a:lnSpc>
            </a:pPr>
            <a:r>
              <a:rPr sz="950" b="0" i="0">
                <a:solidFill>
                  <a:srgbClr val="6B7686"/>
                </a:solidFill>
                <a:latin typeface="Calibri"/>
              </a:rPr>
              <a:t>Promotes due Pending rows into Active</a:t>
            </a:r>
          </a:p>
        </p:txBody>
      </p:sp>
      <p:sp>
        <p:nvSpPr>
          <p:cNvPr id="35" name="Rounded Rectangle 34"/>
          <p:cNvSpPr/>
          <p:nvPr/>
        </p:nvSpPr>
        <p:spPr>
          <a:xfrm>
            <a:off x="6903719" y="3355848"/>
            <a:ext cx="256032" cy="256032"/>
          </a:xfrm>
          <a:prstGeom prst="roundRect">
            <a:avLst>
              <a:gd name="adj" fmla="val 50000"/>
            </a:avLst>
          </a:prstGeom>
          <a:solidFill>
            <a:srgbClr val="6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287767" y="3310128"/>
            <a:ext cx="4401007" cy="274320"/>
          </a:xfrm>
          <a:prstGeom prst="rect">
            <a:avLst/>
          </a:prstGeom>
          <a:noFill/>
        </p:spPr>
        <p:txBody>
          <a:bodyPr wrap="square" lIns="0" tIns="0" rIns="0" bIns="0" anchor="t">
            <a:spAutoFit/>
          </a:bodyPr>
          <a:lstStyle/>
          <a:p>
            <a:pPr algn="l">
              <a:lnSpc>
                <a:spcPct val="100000"/>
              </a:lnSpc>
            </a:pPr>
            <a:r>
              <a:rPr sz="1200" b="1" i="0">
                <a:solidFill>
                  <a:srgbClr val="0B2E59"/>
                </a:solidFill>
                <a:latin typeface="Calibri"/>
              </a:rPr>
              <a:t>Daily job</a:t>
            </a:r>
          </a:p>
        </p:txBody>
      </p:sp>
      <p:sp>
        <p:nvSpPr>
          <p:cNvPr id="37" name="TextBox 36"/>
          <p:cNvSpPr txBox="1"/>
          <p:nvPr/>
        </p:nvSpPr>
        <p:spPr>
          <a:xfrm>
            <a:off x="7287767" y="3593591"/>
            <a:ext cx="4401007" cy="411480"/>
          </a:xfrm>
          <a:prstGeom prst="rect">
            <a:avLst/>
          </a:prstGeom>
          <a:noFill/>
        </p:spPr>
        <p:txBody>
          <a:bodyPr wrap="square" lIns="0" tIns="0" rIns="0" bIns="0" anchor="t">
            <a:spAutoFit/>
          </a:bodyPr>
          <a:lstStyle/>
          <a:p>
            <a:pPr algn="l">
              <a:lnSpc>
                <a:spcPct val="100000"/>
              </a:lnSpc>
            </a:pPr>
            <a:r>
              <a:rPr sz="950" b="0" i="0">
                <a:solidFill>
                  <a:srgbClr val="6B7686"/>
                </a:solidFill>
                <a:latin typeface="Calibri"/>
              </a:rPr>
              <a:t>Recomputes GROUP_A — drifts on time alone, not just events</a:t>
            </a:r>
          </a:p>
        </p:txBody>
      </p:sp>
      <p:sp>
        <p:nvSpPr>
          <p:cNvPr id="38" name="TextBox 37"/>
          <p:cNvSpPr txBox="1"/>
          <p:nvPr/>
        </p:nvSpPr>
        <p:spPr>
          <a:xfrm>
            <a:off x="6903719" y="4224527"/>
            <a:ext cx="4785055" cy="914400"/>
          </a:xfrm>
          <a:prstGeom prst="rect">
            <a:avLst/>
          </a:prstGeom>
          <a:noFill/>
        </p:spPr>
        <p:txBody>
          <a:bodyPr wrap="square" lIns="0" tIns="0" rIns="0" bIns="0" anchor="t">
            <a:spAutoFit/>
          </a:bodyPr>
          <a:lstStyle/>
          <a:p>
            <a:pPr algn="l">
              <a:lnSpc>
                <a:spcPct val="115000"/>
              </a:lnSpc>
            </a:pPr>
            <a:r>
              <a:rPr sz="1000" b="0" i="1">
                <a:solidFill>
                  <a:srgbClr val="1B222C"/>
                </a:solidFill>
                <a:latin typeface="Calibri"/>
              </a:rPr>
              <a:t>Nothing here is a single always-on stream — each stage is a triggered micro-batch (trigger(availableNow=True)) or a scheduled Databricks Workflow.</a:t>
            </a:r>
          </a:p>
        </p:txBody>
      </p:sp>
      <p:cxnSp>
        <p:nvCxnSpPr>
          <p:cNvPr id="39" name="Connector 38"/>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8</a:t>
            </a:r>
          </a:p>
        </p:txBody>
      </p:sp>
      <p:sp>
        <p:nvSpPr>
          <p:cNvPr id="41" name="TextBox 40"/>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E59"/>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128016"/>
          </a:xfrm>
          <a:prstGeom prst="roundRect">
            <a:avLst>
              <a:gd name="adj" fmla="val 6000"/>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1965960"/>
            <a:ext cx="12191695" cy="914400"/>
          </a:xfrm>
          <a:prstGeom prst="rect">
            <a:avLst/>
          </a:prstGeom>
          <a:noFill/>
        </p:spPr>
        <p:txBody>
          <a:bodyPr wrap="square" lIns="0" tIns="0" rIns="0" bIns="0" anchor="t">
            <a:spAutoFit/>
          </a:bodyPr>
          <a:lstStyle/>
          <a:p>
            <a:pPr algn="ctr">
              <a:lnSpc>
                <a:spcPct val="100000"/>
              </a:lnSpc>
            </a:pPr>
            <a:r>
              <a:rPr sz="4200" b="1" i="0">
                <a:solidFill>
                  <a:srgbClr val="FFFFFF"/>
                </a:solidFill>
                <a:latin typeface="Calibri"/>
              </a:rPr>
              <a:t>Live Demo</a:t>
            </a:r>
          </a:p>
        </p:txBody>
      </p:sp>
      <p:sp>
        <p:nvSpPr>
          <p:cNvPr id="4" name="TextBox 3"/>
          <p:cNvSpPr txBox="1"/>
          <p:nvPr/>
        </p:nvSpPr>
        <p:spPr>
          <a:xfrm>
            <a:off x="0" y="2743200"/>
            <a:ext cx="12191695" cy="457200"/>
          </a:xfrm>
          <a:prstGeom prst="rect">
            <a:avLst/>
          </a:prstGeom>
          <a:noFill/>
        </p:spPr>
        <p:txBody>
          <a:bodyPr wrap="square" lIns="0" tIns="0" rIns="0" bIns="0" anchor="t">
            <a:spAutoFit/>
          </a:bodyPr>
          <a:lstStyle/>
          <a:p>
            <a:pPr algn="ctr">
              <a:lnSpc>
                <a:spcPct val="100000"/>
              </a:lnSpc>
            </a:pPr>
            <a:r>
              <a:rPr sz="1400" b="0" i="1">
                <a:solidFill>
                  <a:srgbClr val="E0A526"/>
                </a:solidFill>
                <a:latin typeface="Calibri"/>
              </a:rPr>
              <a:t>Walking through the running pipeline and architecture</a:t>
            </a:r>
          </a:p>
        </p:txBody>
      </p:sp>
      <p:sp>
        <p:nvSpPr>
          <p:cNvPr id="5" name="TextBox 4"/>
          <p:cNvSpPr txBox="1"/>
          <p:nvPr/>
        </p:nvSpPr>
        <p:spPr>
          <a:xfrm>
            <a:off x="3566160" y="3520440"/>
            <a:ext cx="5120640" cy="1828800"/>
          </a:xfrm>
          <a:prstGeom prst="rect">
            <a:avLst/>
          </a:prstGeom>
          <a:noFill/>
        </p:spPr>
        <p:txBody>
          <a:bodyPr wrap="square" lIns="0" tIns="0" rIns="0" bIns="0" anchor="t">
            <a:spAutoFit/>
          </a:bodyPr>
          <a:lstStyle/>
          <a:p>
            <a:pPr algn="l">
              <a:lnSpc>
                <a:spcPct val="105000"/>
              </a:lnSpc>
              <a:spcAft>
                <a:spcPts val="1000"/>
              </a:spcAft>
            </a:pPr>
            <a:r>
              <a:rPr sz="1300">
                <a:solidFill>
                  <a:srgbClr val="FFFFFF"/>
                </a:solidFill>
                <a:latin typeface="Calibri"/>
              </a:rPr>
              <a:t>–  Publish a test transaction JSON</a:t>
            </a:r>
          </a:p>
          <a:p>
            <a:pPr algn="l">
              <a:lnSpc>
                <a:spcPct val="105000"/>
              </a:lnSpc>
              <a:spcAft>
                <a:spcPts val="1000"/>
              </a:spcAft>
            </a:pPr>
            <a:r>
              <a:rPr sz="1300">
                <a:solidFill>
                  <a:srgbClr val="FFFFFF"/>
                </a:solidFill>
                <a:latin typeface="Calibri"/>
              </a:rPr>
              <a:t>–  Run the pipeline notebooks end to end</a:t>
            </a:r>
          </a:p>
          <a:p>
            <a:pPr algn="l">
              <a:lnSpc>
                <a:spcPct val="105000"/>
              </a:lnSpc>
              <a:spcAft>
                <a:spcPts val="1000"/>
              </a:spcAft>
            </a:pPr>
            <a:r>
              <a:rPr sz="1300">
                <a:solidFill>
                  <a:srgbClr val="FFFFFF"/>
                </a:solidFill>
                <a:latin typeface="Calibri"/>
              </a:rPr>
              <a:t>–  Inspect Active / Pending / History in the feature-store viewer</a:t>
            </a:r>
          </a:p>
          <a:p>
            <a:pPr algn="l">
              <a:lnSpc>
                <a:spcPct val="105000"/>
              </a:lnSpc>
              <a:spcAft>
                <a:spcPts val="1000"/>
              </a:spcAft>
            </a:pPr>
            <a:r>
              <a:rPr sz="1300">
                <a:solidFill>
                  <a:srgbClr val="FFFFFF"/>
                </a:solidFill>
                <a:latin typeface="Calibri"/>
              </a:rPr>
              <a:t>–  Query the Feature Serving Endpoint by policy ID and read back latency</a:t>
            </a:r>
          </a:p>
        </p:txBody>
      </p:sp>
      <p:cxnSp>
        <p:nvCxnSpPr>
          <p:cNvPr id="6" name="Connector 5"/>
          <p:cNvCxnSpPr/>
          <p:nvPr/>
        </p:nvCxnSpPr>
        <p:spPr>
          <a:xfrm>
            <a:off x="411480" y="6528816"/>
            <a:ext cx="11384280" cy="0"/>
          </a:xfrm>
          <a:prstGeom prst="line">
            <a:avLst/>
          </a:prstGeom>
          <a:ln w="9525">
            <a:solidFill>
              <a:srgbClr val="E1E4EA"/>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11480" y="6583680"/>
            <a:ext cx="548640" cy="256032"/>
          </a:xfrm>
          <a:prstGeom prst="rect">
            <a:avLst/>
          </a:prstGeom>
          <a:noFill/>
        </p:spPr>
        <p:txBody>
          <a:bodyPr wrap="square" lIns="0" tIns="0" rIns="0" bIns="0" anchor="t">
            <a:spAutoFit/>
          </a:bodyPr>
          <a:lstStyle/>
          <a:p>
            <a:pPr algn="l">
              <a:lnSpc>
                <a:spcPct val="100000"/>
              </a:lnSpc>
            </a:pPr>
            <a:r>
              <a:rPr sz="1000" b="0" i="0">
                <a:solidFill>
                  <a:srgbClr val="6B7686"/>
                </a:solidFill>
                <a:latin typeface="Calibri"/>
              </a:rPr>
              <a:t>9</a:t>
            </a:r>
          </a:p>
        </p:txBody>
      </p:sp>
      <p:sp>
        <p:nvSpPr>
          <p:cNvPr id="8" name="TextBox 7"/>
          <p:cNvSpPr txBox="1"/>
          <p:nvPr/>
        </p:nvSpPr>
        <p:spPr>
          <a:xfrm>
            <a:off x="8686800" y="6583680"/>
            <a:ext cx="3090672" cy="256032"/>
          </a:xfrm>
          <a:prstGeom prst="rect">
            <a:avLst/>
          </a:prstGeom>
          <a:noFill/>
        </p:spPr>
        <p:txBody>
          <a:bodyPr wrap="square" lIns="0" tIns="0" rIns="0" bIns="0" anchor="t">
            <a:spAutoFit/>
          </a:bodyPr>
          <a:lstStyle/>
          <a:p>
            <a:pPr algn="r">
              <a:lnSpc>
                <a:spcPct val="100000"/>
              </a:lnSpc>
            </a:pPr>
            <a:r>
              <a:rPr sz="900" b="0" i="0">
                <a:solidFill>
                  <a:srgbClr val="6B7686"/>
                </a:solidFill>
                <a:latin typeface="Calibri"/>
              </a:rPr>
              <a:t>FARMERS INSURANCE  ·  ONLINE FEATURE STORE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2335</Words>
  <Application>Microsoft Office PowerPoint</Application>
  <PresentationFormat>Widescreen</PresentationFormat>
  <Paragraphs>217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_Sneha _</cp:lastModifiedBy>
  <cp:revision>1</cp:revision>
  <dcterms:created xsi:type="dcterms:W3CDTF">2013-01-27T09:14:16Z</dcterms:created>
  <dcterms:modified xsi:type="dcterms:W3CDTF">2026-08-04T03:01:55Z</dcterms:modified>
  <cp:category/>
</cp:coreProperties>
</file>