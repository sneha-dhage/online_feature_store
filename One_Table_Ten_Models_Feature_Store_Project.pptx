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 this is a review of the time-aware online feature store built for auto insurance policy models: one active table, computed once, serving multiple models. Introduce yourself and hand off to the agenda.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stops: why this matters, how it's built, the time-aware design that makes it different, results and risk, what's next, and a short personal reflection to close.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things up front. The problem: duplicated per-model feature logic with no traceability. The objective: one active table, computed once, served in about 130 milliseconds. The benefit: consistency, traceability, and correct handling of both immediate and future-effective changes. And what we stayed careful about: keeping three tables synchronized, getting validity windows exactly right, and never serving stale features on a failed job.</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every model goes back to the policy system and rebuilds the features it needs — three copies of the same logic, slow and inconsistent, with no record of what a model actually saw. The feature store computes each policy's features once, keyed by policy ID, and every model reads the same governed values — observed at roughly 130 milliseconds per lookup during testing.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stages, left to right. A policy transaction lands as a JSON file. PySpark derives policy features from it. The registry decides immediate versus effective-date routing for each feature group. The online feature store's active table syncs to Lakebase. And an endpoint serves it all, looked up by policy ID or number.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full pipeline: Auto Loader lands transaction JSON into Bronze, Change Data Feed triggers PySpark feature computation into Silver, and Change Data Feed on Silver triggers registry-driven routing. Routing fans out to three tables — Active for serving, Pending for future-dated GROUP_B changes, and History for SCD Type 2 snapshots. An hourly job promotes due Pending rows into Active, and a daily job refreshes GROUP_A because those features drift on wall-clock time alone. From there, Active publishes to the Lakebase online store for fast policy-ID lookup.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29 features in two groups. GROUP A — five features — is driven by wall-clock time, not events, so it's recomputed against the full transaction history every day. GROUP B — 24 features — splits into three families: snapshot values, coverage lag comparisons including the 12 added/removed coverage columns, and three demographic and deductible change indicators. All of it computed once, in PySpark, and reused by every model.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transaction carries two clocks. GROUP_A features key off the transaction timestamp and always go active immediately. GROUP_B features key off the policy's effective date, which can be in the future — so they wait in Pending until that date arrives, then an hourly job promotes them into Active and closes the prior Active row into History in the same step. Walk the fictional example: POLICY-1001 gets a transaction today, its GROUP_A goes live immediately, its GROUP_B change is future-dated and parks in Pending, and the hourly job finishes the handoff when it's due.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registry is what keeps this from turning into hardcoded column lists scattered everywhere. FEATURE_GROUP_REGISTRY stores which columns each group owns, its routing type, and which column drives its effective time — read fresh every micro-batch. And critically, history is closed exactly once per event using the earliest effective date touched — that's what prevents a negative or overlapping validity window.</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29 features computed centrally, roughly 130 milliseconds observed lookup latency, exactly one active row per policy, and explicit support for three time states. The benefits that follow: no per-model recalculation, consistent definitions across models, full traceability through history, and a layer that scales to more models and feature groups. The latency figure is an observed test result, not a committed SLA.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Plotting the same six risks by impact and likelihood instead of a flat list. Temporal routing and history-window correctness sit in the low-likelihood corner because they're structurally prevented by the table design and routing logic in code. Feature drift, malformed events, and online serving availability are operationally controlled — handled by scheduled jobs and checks, not eliminated outright. Large-policy history recomputation sits furthest right — it's the one open engineering consideration without a mitigation in place yet, just a clear direction for future optimization. To be clear, these positions are engineering judgment, not measured incident data.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Near term hardens what exists — validation, monitoring, latency percentiles, and routing tests. Medium term extends the platform to more feature groups and models. Long term is about scope — more product lines, point-in-time training sets, and formal governance. Close on the platform's purpose: the right feature value, to every model, at the right time.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walkthrough: publish a test transaction, run the notebooks in order, inspect the Active/Pending/History state with the feature-store viewer utility, then query the Feature Serving Endpoint directly by policy ID and read back the latency.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Reflection on the internship, not just the pipeline. Adapting to real-world ambiguity, learning through feedback and mentorship, building hands-on skill with Databricks, PySpark, and Snowflake, and connecting the technical work back to insurance business decisions.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the mentors and teammates who supported this project, then open the floor for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0DDEC"/>
        </a:solidFill>
        <a:effectLst/>
      </p:bgPr>
    </p:bg>
    <p:spTree>
      <p:nvGrpSpPr>
        <p:cNvPr id="1" name=""/>
        <p:cNvGrpSpPr/>
        <p:nvPr/>
      </p:nvGrpSpPr>
      <p:grpSpPr/>
      <p:sp>
        <p:nvSpPr>
          <p:cNvPr id="2" name="Block Arc 1"/>
          <p:cNvSpPr/>
          <p:nvPr/>
        </p:nvSpPr>
        <p:spPr>
          <a:xfrm>
            <a:off x="9646920" y="566928"/>
            <a:ext cx="457200" cy="420624"/>
          </a:xfrm>
          <a:prstGeom prst="blockArc">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195560" y="530352"/>
            <a:ext cx="1737360" cy="365760"/>
          </a:xfrm>
          <a:prstGeom prst="rect">
            <a:avLst/>
          </a:prstGeom>
          <a:noFill/>
        </p:spPr>
        <p:txBody>
          <a:bodyPr wrap="square" anchor="t" lIns="0" rIns="0" tIns="0" bIns="0">
            <a:spAutoFit/>
          </a:bodyPr>
          <a:lstStyle/>
          <a:p>
            <a:pPr algn="l">
              <a:lnSpc>
                <a:spcPct val="100000"/>
              </a:lnSpc>
            </a:pPr>
            <a:r>
              <a:rPr sz="1700" b="1" i="0">
                <a:solidFill>
                  <a:srgbClr val="14255C"/>
                </a:solidFill>
                <a:latin typeface="Calibri"/>
              </a:rPr>
              <a:t>FARMERS</a:t>
            </a:r>
          </a:p>
        </p:txBody>
      </p:sp>
      <p:sp>
        <p:nvSpPr>
          <p:cNvPr id="4" name="TextBox 3"/>
          <p:cNvSpPr txBox="1"/>
          <p:nvPr/>
        </p:nvSpPr>
        <p:spPr>
          <a:xfrm>
            <a:off x="10195560" y="896112"/>
            <a:ext cx="1737360" cy="274320"/>
          </a:xfrm>
          <a:prstGeom prst="rect">
            <a:avLst/>
          </a:prstGeom>
          <a:noFill/>
        </p:spPr>
        <p:txBody>
          <a:bodyPr wrap="square" anchor="t" lIns="0" rIns="0" tIns="0" bIns="0">
            <a:spAutoFit/>
          </a:bodyPr>
          <a:lstStyle/>
          <a:p>
            <a:pPr algn="l">
              <a:lnSpc>
                <a:spcPct val="100000"/>
              </a:lnSpc>
            </a:pPr>
            <a:r>
              <a:rPr sz="1000" b="1" i="0">
                <a:solidFill>
                  <a:srgbClr val="7C8493"/>
                </a:solidFill>
                <a:latin typeface="Calibri"/>
              </a:rPr>
              <a:t>INSURANCE</a:t>
            </a:r>
          </a:p>
        </p:txBody>
      </p:sp>
      <p:sp>
        <p:nvSpPr>
          <p:cNvPr id="5" name="TextBox 4"/>
          <p:cNvSpPr txBox="1"/>
          <p:nvPr/>
        </p:nvSpPr>
        <p:spPr>
          <a:xfrm>
            <a:off x="914400" y="1965960"/>
            <a:ext cx="9875520" cy="1371600"/>
          </a:xfrm>
          <a:prstGeom prst="rect">
            <a:avLst/>
          </a:prstGeom>
          <a:noFill/>
        </p:spPr>
        <p:txBody>
          <a:bodyPr wrap="square" anchor="t" lIns="0" rIns="0" tIns="0" bIns="0">
            <a:spAutoFit/>
          </a:bodyPr>
          <a:lstStyle/>
          <a:p>
            <a:pPr algn="l">
              <a:lnSpc>
                <a:spcPct val="110000"/>
              </a:lnSpc>
            </a:pPr>
            <a:r>
              <a:rPr sz="3000" b="1" i="0">
                <a:solidFill>
                  <a:srgbClr val="14255C"/>
                </a:solidFill>
                <a:latin typeface="Calibri"/>
              </a:rPr>
              <a:t>One Table, Ten Models:</a:t>
            </a:r>
          </a:p>
          <a:p>
            <a:pPr algn="l">
              <a:lnSpc>
                <a:spcPct val="110000"/>
              </a:lnSpc>
            </a:pPr>
            <a:r>
              <a:rPr sz="3000" b="1" i="0">
                <a:solidFill>
                  <a:srgbClr val="14255C"/>
                </a:solidFill>
                <a:latin typeface="Calibri"/>
              </a:rPr>
              <a:t>Efficient Feature Serving for Today and Tomorrow</a:t>
            </a:r>
          </a:p>
        </p:txBody>
      </p:sp>
      <p:sp>
        <p:nvSpPr>
          <p:cNvPr id="6" name="TextBox 5"/>
          <p:cNvSpPr txBox="1"/>
          <p:nvPr/>
        </p:nvSpPr>
        <p:spPr>
          <a:xfrm>
            <a:off x="914400" y="3364992"/>
            <a:ext cx="9601200" cy="365760"/>
          </a:xfrm>
          <a:prstGeom prst="rect">
            <a:avLst/>
          </a:prstGeom>
          <a:noFill/>
        </p:spPr>
        <p:txBody>
          <a:bodyPr wrap="square" anchor="t" lIns="0" rIns="0" tIns="0" bIns="0">
            <a:spAutoFit/>
          </a:bodyPr>
          <a:lstStyle/>
          <a:p>
            <a:pPr algn="l">
              <a:lnSpc>
                <a:spcPct val="100000"/>
              </a:lnSpc>
            </a:pPr>
            <a:r>
              <a:rPr sz="1450" b="0" i="1">
                <a:solidFill>
                  <a:srgbClr val="B8872E"/>
                </a:solidFill>
                <a:latin typeface="Calibri"/>
              </a:rPr>
              <a:t>A centralized, time-aware feature store for auto insurance policy models</a:t>
            </a:r>
          </a:p>
        </p:txBody>
      </p:sp>
      <p:cxnSp>
        <p:nvCxnSpPr>
          <p:cNvPr id="7" name="Connector 6"/>
          <p:cNvCxnSpPr/>
          <p:nvPr/>
        </p:nvCxnSpPr>
        <p:spPr>
          <a:xfrm>
            <a:off x="914400" y="3977639"/>
            <a:ext cx="10332720" cy="0"/>
          </a:xfrm>
          <a:prstGeom prst="line">
            <a:avLst/>
          </a:prstGeom>
          <a:ln w="28575">
            <a:solidFill>
              <a:srgbClr val="14255C"/>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14400" y="4160520"/>
            <a:ext cx="2743200" cy="365760"/>
          </a:xfrm>
          <a:prstGeom prst="rect">
            <a:avLst/>
          </a:prstGeom>
          <a:noFill/>
        </p:spPr>
        <p:txBody>
          <a:bodyPr wrap="square" anchor="t" lIns="0" rIns="0" tIns="0" bIns="0">
            <a:spAutoFit/>
          </a:bodyPr>
          <a:lstStyle/>
          <a:p>
            <a:pPr algn="l">
              <a:lnSpc>
                <a:spcPct val="100000"/>
              </a:lnSpc>
            </a:pPr>
            <a:r>
              <a:rPr sz="1400" b="1" i="0">
                <a:solidFill>
                  <a:srgbClr val="14255C"/>
                </a:solidFill>
                <a:latin typeface="Calibri"/>
              </a:rPr>
              <a:t>August 2026</a:t>
            </a:r>
          </a:p>
        </p:txBody>
      </p:sp>
      <p:sp>
        <p:nvSpPr>
          <p:cNvPr id="9" name="TextBox 8"/>
          <p:cNvSpPr txBox="1"/>
          <p:nvPr/>
        </p:nvSpPr>
        <p:spPr>
          <a:xfrm>
            <a:off x="3749039" y="4160520"/>
            <a:ext cx="3657600" cy="365760"/>
          </a:xfrm>
          <a:prstGeom prst="rect">
            <a:avLst/>
          </a:prstGeom>
          <a:noFill/>
        </p:spPr>
        <p:txBody>
          <a:bodyPr wrap="square" anchor="t" lIns="0" rIns="0" tIns="0" bIns="0">
            <a:spAutoFit/>
          </a:bodyPr>
          <a:lstStyle/>
          <a:p>
            <a:pPr algn="l">
              <a:lnSpc>
                <a:spcPct val="100000"/>
              </a:lnSpc>
            </a:pPr>
            <a:r>
              <a:rPr sz="1400" b="1" i="0">
                <a:solidFill>
                  <a:srgbClr val="14255C"/>
                </a:solidFill>
                <a:latin typeface="Calibri"/>
              </a:rPr>
              <a:t>Snehal Dhage</a:t>
            </a:r>
          </a:p>
        </p:txBody>
      </p:sp>
      <p:sp>
        <p:nvSpPr>
          <p:cNvPr id="10" name="Rounded Rectangle 9"/>
          <p:cNvSpPr/>
          <p:nvPr/>
        </p:nvSpPr>
        <p:spPr>
          <a:xfrm>
            <a:off x="914400" y="4892040"/>
            <a:ext cx="1645920" cy="329184"/>
          </a:xfrm>
          <a:prstGeom prst="roundRect">
            <a:avLst>
              <a:gd name="adj" fmla="val 50000"/>
            </a:avLst>
          </a:prstGeom>
          <a:solidFill>
            <a:srgbClr val="14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892040"/>
            <a:ext cx="1645920" cy="329184"/>
          </a:xfrm>
          <a:prstGeom prst="rect">
            <a:avLst/>
          </a:prstGeom>
          <a:noFill/>
        </p:spPr>
        <p:txBody>
          <a:bodyPr wrap="square" anchor="ctr" lIns="0" rIns="0" tIns="0" bIns="0">
            <a:spAutoFit/>
          </a:bodyPr>
          <a:lstStyle/>
          <a:p>
            <a:pPr algn="ctr">
              <a:lnSpc>
                <a:spcPct val="100000"/>
              </a:lnSpc>
            </a:pPr>
            <a:r>
              <a:rPr sz="1050" b="1" i="0">
                <a:solidFill>
                  <a:srgbClr val="FFFFFF"/>
                </a:solidFill>
                <a:latin typeface="Calibri"/>
              </a:rPr>
              <a:t>Databricks</a:t>
            </a:r>
          </a:p>
        </p:txBody>
      </p:sp>
      <p:sp>
        <p:nvSpPr>
          <p:cNvPr id="12" name="Rounded Rectangle 11"/>
          <p:cNvSpPr/>
          <p:nvPr/>
        </p:nvSpPr>
        <p:spPr>
          <a:xfrm>
            <a:off x="2724912" y="4892040"/>
            <a:ext cx="1261872" cy="329184"/>
          </a:xfrm>
          <a:prstGeom prst="roundRect">
            <a:avLst>
              <a:gd name="adj" fmla="val 50000"/>
            </a:avLst>
          </a:prstGeom>
          <a:solidFill>
            <a:srgbClr val="14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24912" y="4892040"/>
            <a:ext cx="1261872" cy="329184"/>
          </a:xfrm>
          <a:prstGeom prst="rect">
            <a:avLst/>
          </a:prstGeom>
          <a:noFill/>
        </p:spPr>
        <p:txBody>
          <a:bodyPr wrap="square" anchor="ctr" lIns="0" rIns="0" tIns="0" bIns="0">
            <a:spAutoFit/>
          </a:bodyPr>
          <a:lstStyle/>
          <a:p>
            <a:pPr algn="ctr">
              <a:lnSpc>
                <a:spcPct val="100000"/>
              </a:lnSpc>
            </a:pPr>
            <a:r>
              <a:rPr sz="1050" b="1" i="0">
                <a:solidFill>
                  <a:srgbClr val="FFFFFF"/>
                </a:solidFill>
                <a:latin typeface="Calibri"/>
              </a:rPr>
              <a:t>PySpark</a:t>
            </a:r>
          </a:p>
        </p:txBody>
      </p:sp>
      <p:sp>
        <p:nvSpPr>
          <p:cNvPr id="14" name="Rounded Rectangle 13"/>
          <p:cNvSpPr/>
          <p:nvPr/>
        </p:nvSpPr>
        <p:spPr>
          <a:xfrm>
            <a:off x="4151376" y="4892040"/>
            <a:ext cx="2157984" cy="329184"/>
          </a:xfrm>
          <a:prstGeom prst="roundRect">
            <a:avLst>
              <a:gd name="adj" fmla="val 50000"/>
            </a:avLst>
          </a:prstGeom>
          <a:solidFill>
            <a:srgbClr val="14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51376" y="4892040"/>
            <a:ext cx="2157984" cy="329184"/>
          </a:xfrm>
          <a:prstGeom prst="rect">
            <a:avLst/>
          </a:prstGeom>
          <a:noFill/>
        </p:spPr>
        <p:txBody>
          <a:bodyPr wrap="square" anchor="ctr" lIns="0" rIns="0" tIns="0" bIns="0">
            <a:spAutoFit/>
          </a:bodyPr>
          <a:lstStyle/>
          <a:p>
            <a:pPr algn="ctr">
              <a:lnSpc>
                <a:spcPct val="100000"/>
              </a:lnSpc>
            </a:pPr>
            <a:r>
              <a:rPr sz="1050" b="1" i="0">
                <a:solidFill>
                  <a:srgbClr val="FFFFFF"/>
                </a:solidFill>
                <a:latin typeface="Calibri"/>
              </a:rPr>
              <a:t>Delta Lake CDF</a:t>
            </a:r>
          </a:p>
        </p:txBody>
      </p:sp>
      <p:sp>
        <p:nvSpPr>
          <p:cNvPr id="16" name="Rounded Rectangle 15"/>
          <p:cNvSpPr/>
          <p:nvPr/>
        </p:nvSpPr>
        <p:spPr>
          <a:xfrm>
            <a:off x="6473952" y="4892040"/>
            <a:ext cx="1389888" cy="329184"/>
          </a:xfrm>
          <a:prstGeom prst="roundRect">
            <a:avLst>
              <a:gd name="adj" fmla="val 50000"/>
            </a:avLst>
          </a:prstGeom>
          <a:solidFill>
            <a:srgbClr val="14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73952" y="4892040"/>
            <a:ext cx="1389888" cy="329184"/>
          </a:xfrm>
          <a:prstGeom prst="rect">
            <a:avLst/>
          </a:prstGeom>
          <a:noFill/>
        </p:spPr>
        <p:txBody>
          <a:bodyPr wrap="square" anchor="ctr" lIns="0" rIns="0" tIns="0" bIns="0">
            <a:spAutoFit/>
          </a:bodyPr>
          <a:lstStyle/>
          <a:p>
            <a:pPr algn="ctr">
              <a:lnSpc>
                <a:spcPct val="100000"/>
              </a:lnSpc>
            </a:pPr>
            <a:r>
              <a:rPr sz="1050" b="1" i="0">
                <a:solidFill>
                  <a:srgbClr val="FFFFFF"/>
                </a:solidFill>
                <a:latin typeface="Calibri"/>
              </a:rPr>
              <a:t>Lakebase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438912"/>
            <a:ext cx="10515600" cy="594360"/>
          </a:xfrm>
          <a:prstGeom prst="rect">
            <a:avLst/>
          </a:prstGeom>
          <a:noFill/>
        </p:spPr>
        <p:txBody>
          <a:bodyPr wrap="square" anchor="t" lIns="0" rIns="0" tIns="0" bIns="0">
            <a:spAutoFit/>
          </a:bodyPr>
          <a:lstStyle/>
          <a:p>
            <a:pPr algn="l">
              <a:lnSpc>
                <a:spcPct val="100000"/>
              </a:lnSpc>
            </a:pPr>
            <a:r>
              <a:rPr sz="2600" b="1" i="0">
                <a:solidFill>
                  <a:srgbClr val="14255C"/>
                </a:solidFill>
                <a:latin typeface="Calibri"/>
              </a:rPr>
              <a:t>Agenda</a:t>
            </a:r>
          </a:p>
        </p:txBody>
      </p:sp>
      <p:cxnSp>
        <p:nvCxnSpPr>
          <p:cNvPr id="3" name="Connector 2"/>
          <p:cNvCxnSpPr/>
          <p:nvPr/>
        </p:nvCxnSpPr>
        <p:spPr>
          <a:xfrm>
            <a:off x="502920" y="1042415"/>
            <a:ext cx="11183112" cy="0"/>
          </a:xfrm>
          <a:prstGeom prst="line">
            <a:avLst/>
          </a:prstGeom>
          <a:ln w="28575">
            <a:solidFill>
              <a:srgbClr val="14255C"/>
            </a:solidFill>
          </a:ln>
          <a:effectLst/>
        </p:spPr>
        <p:style>
          <a:lnRef idx="2">
            <a:schemeClr val="accent1"/>
          </a:lnRef>
          <a:fillRef idx="0">
            <a:schemeClr val="accent1"/>
          </a:fillRef>
          <a:effectRef idx="1">
            <a:schemeClr val="accent1"/>
          </a:effectRef>
          <a:fontRef idx="minor">
            <a:schemeClr val="tx1"/>
          </a:fontRef>
        </p:style>
      </p:cxnSp>
      <p:sp>
        <p:nvSpPr>
          <p:cNvPr id="4" name="Chevron 3"/>
          <p:cNvSpPr/>
          <p:nvPr/>
        </p:nvSpPr>
        <p:spPr>
          <a:xfrm>
            <a:off x="655167" y="2743200"/>
            <a:ext cx="1813560" cy="1508760"/>
          </a:xfrm>
          <a:prstGeom prst="chevron">
            <a:avLst/>
          </a:prstGeom>
          <a:solidFill>
            <a:srgbClr val="14255C"/>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18288"/>
          <a:lstStyle/>
          <a:p>
            <a:pPr algn="ctr"/>
            <a:r>
              <a:rPr sz="1250" b="1">
                <a:solidFill>
                  <a:srgbClr val="FFFFFF"/>
                </a:solidFill>
                <a:latin typeface="Calibri"/>
              </a:rPr>
              <a:t>Why This
Matters</a:t>
            </a:r>
          </a:p>
        </p:txBody>
      </p:sp>
      <p:sp>
        <p:nvSpPr>
          <p:cNvPr id="5" name="Chevron 4"/>
          <p:cNvSpPr/>
          <p:nvPr/>
        </p:nvSpPr>
        <p:spPr>
          <a:xfrm>
            <a:off x="2468727" y="2743200"/>
            <a:ext cx="2051303" cy="1508760"/>
          </a:xfrm>
          <a:prstGeom prst="chevron">
            <a:avLst/>
          </a:prstGeom>
          <a:solidFill>
            <a:srgbClr val="0D1B42"/>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109728"/>
          <a:lstStyle/>
          <a:p>
            <a:pPr algn="ctr"/>
            <a:r>
              <a:rPr sz="1250" b="1">
                <a:solidFill>
                  <a:srgbClr val="FFFFFF"/>
                </a:solidFill>
                <a:latin typeface="Calibri"/>
              </a:rPr>
              <a:t>How It's
Built</a:t>
            </a:r>
          </a:p>
        </p:txBody>
      </p:sp>
      <p:sp>
        <p:nvSpPr>
          <p:cNvPr id="6" name="Chevron 5"/>
          <p:cNvSpPr/>
          <p:nvPr/>
        </p:nvSpPr>
        <p:spPr>
          <a:xfrm>
            <a:off x="4282287" y="2743200"/>
            <a:ext cx="2051303" cy="1508760"/>
          </a:xfrm>
          <a:prstGeom prst="chevron">
            <a:avLst/>
          </a:prstGeom>
          <a:solidFill>
            <a:srgbClr val="14255C"/>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109728"/>
          <a:lstStyle/>
          <a:p>
            <a:pPr algn="ctr"/>
            <a:r>
              <a:rPr sz="1250" b="1">
                <a:solidFill>
                  <a:srgbClr val="FFFFFF"/>
                </a:solidFill>
                <a:latin typeface="Calibri"/>
              </a:rPr>
              <a:t>Time-Aware
Design</a:t>
            </a:r>
          </a:p>
        </p:txBody>
      </p:sp>
      <p:sp>
        <p:nvSpPr>
          <p:cNvPr id="7" name="Chevron 6"/>
          <p:cNvSpPr/>
          <p:nvPr/>
        </p:nvSpPr>
        <p:spPr>
          <a:xfrm>
            <a:off x="6095847" y="2743200"/>
            <a:ext cx="2051303" cy="1508760"/>
          </a:xfrm>
          <a:prstGeom prst="chevron">
            <a:avLst/>
          </a:prstGeom>
          <a:solidFill>
            <a:srgbClr val="0D1B42"/>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109728"/>
          <a:lstStyle/>
          <a:p>
            <a:pPr algn="ctr"/>
            <a:r>
              <a:rPr sz="1250" b="1">
                <a:solidFill>
                  <a:srgbClr val="FFFFFF"/>
                </a:solidFill>
                <a:latin typeface="Calibri"/>
              </a:rPr>
              <a:t>Results
&amp; Risk</a:t>
            </a:r>
          </a:p>
        </p:txBody>
      </p:sp>
      <p:sp>
        <p:nvSpPr>
          <p:cNvPr id="8" name="Chevron 7"/>
          <p:cNvSpPr/>
          <p:nvPr/>
        </p:nvSpPr>
        <p:spPr>
          <a:xfrm>
            <a:off x="7909407" y="2743200"/>
            <a:ext cx="2051303" cy="1508760"/>
          </a:xfrm>
          <a:prstGeom prst="chevron">
            <a:avLst/>
          </a:prstGeom>
          <a:solidFill>
            <a:srgbClr val="14255C"/>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109728"/>
          <a:lstStyle/>
          <a:p>
            <a:pPr algn="ctr"/>
            <a:r>
              <a:rPr sz="1250" b="1">
                <a:solidFill>
                  <a:srgbClr val="FFFFFF"/>
                </a:solidFill>
                <a:latin typeface="Calibri"/>
              </a:rPr>
              <a:t>What's
Next</a:t>
            </a:r>
          </a:p>
        </p:txBody>
      </p:sp>
      <p:sp>
        <p:nvSpPr>
          <p:cNvPr id="9" name="Chevron 8"/>
          <p:cNvSpPr/>
          <p:nvPr/>
        </p:nvSpPr>
        <p:spPr>
          <a:xfrm>
            <a:off x="9722967" y="2743200"/>
            <a:ext cx="2051303" cy="1508760"/>
          </a:xfrm>
          <a:prstGeom prst="chevron">
            <a:avLst/>
          </a:prstGeom>
          <a:solidFill>
            <a:srgbClr val="B8872E"/>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109728"/>
          <a:lstStyle/>
          <a:p>
            <a:pPr algn="ctr"/>
            <a:r>
              <a:rPr sz="1250" b="1">
                <a:solidFill>
                  <a:srgbClr val="FFFFFF"/>
                </a:solidFill>
                <a:latin typeface="Calibri"/>
              </a:rPr>
              <a:t>Reflection</a:t>
            </a:r>
          </a:p>
        </p:txBody>
      </p:sp>
      <p:cxnSp>
        <p:nvCxnSpPr>
          <p:cNvPr id="10" name="Connector 9"/>
          <p:cNvCxnSpPr/>
          <p:nvPr/>
        </p:nvCxnSpPr>
        <p:spPr>
          <a:xfrm>
            <a:off x="411480" y="6473952"/>
            <a:ext cx="11384280" cy="0"/>
          </a:xfrm>
          <a:prstGeom prst="line">
            <a:avLst/>
          </a:prstGeom>
          <a:ln w="9525">
            <a:solidFill>
              <a:srgbClr val="E2E0E6"/>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11480" y="6528816"/>
            <a:ext cx="548640" cy="274320"/>
          </a:xfrm>
          <a:prstGeom prst="rect">
            <a:avLst/>
          </a:prstGeom>
          <a:noFill/>
        </p:spPr>
        <p:txBody>
          <a:bodyPr wrap="square" anchor="t" lIns="0" rIns="0" tIns="0" bIns="0">
            <a:spAutoFit/>
          </a:bodyPr>
          <a:lstStyle/>
          <a:p>
            <a:pPr algn="l">
              <a:lnSpc>
                <a:spcPct val="100000"/>
              </a:lnSpc>
            </a:pPr>
            <a:r>
              <a:rPr sz="1050" b="0" i="0">
                <a:solidFill>
                  <a:srgbClr val="7C8493"/>
                </a:solidFill>
                <a:latin typeface="Calibri"/>
              </a:rPr>
              <a:t>1</a:t>
            </a:r>
          </a:p>
        </p:txBody>
      </p:sp>
      <p:sp>
        <p:nvSpPr>
          <p:cNvPr id="12" name="Block Arc 11"/>
          <p:cNvSpPr/>
          <p:nvPr/>
        </p:nvSpPr>
        <p:spPr>
          <a:xfrm>
            <a:off x="9921240" y="6492240"/>
            <a:ext cx="237744" cy="219456"/>
          </a:xfrm>
          <a:prstGeom prst="blockArc">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22992" y="6473952"/>
            <a:ext cx="1554480" cy="201168"/>
          </a:xfrm>
          <a:prstGeom prst="rect">
            <a:avLst/>
          </a:prstGeom>
          <a:noFill/>
        </p:spPr>
        <p:txBody>
          <a:bodyPr wrap="square" anchor="t" lIns="0" rIns="0" tIns="0" bIns="0">
            <a:spAutoFit/>
          </a:bodyPr>
          <a:lstStyle/>
          <a:p>
            <a:pPr algn="l">
              <a:lnSpc>
                <a:spcPct val="100000"/>
              </a:lnSpc>
            </a:pPr>
            <a:r>
              <a:rPr sz="1050" b="1" i="0">
                <a:solidFill>
                  <a:srgbClr val="14255C"/>
                </a:solidFill>
                <a:latin typeface="Calibri"/>
              </a:rPr>
              <a:t>FARMERS</a:t>
            </a:r>
          </a:p>
        </p:txBody>
      </p:sp>
      <p:sp>
        <p:nvSpPr>
          <p:cNvPr id="14" name="TextBox 13"/>
          <p:cNvSpPr txBox="1"/>
          <p:nvPr/>
        </p:nvSpPr>
        <p:spPr>
          <a:xfrm>
            <a:off x="10222992" y="6647688"/>
            <a:ext cx="1554480" cy="182880"/>
          </a:xfrm>
          <a:prstGeom prst="rect">
            <a:avLst/>
          </a:prstGeom>
          <a:noFill/>
        </p:spPr>
        <p:txBody>
          <a:bodyPr wrap="square" anchor="t" lIns="0" rIns="0" tIns="0" bIns="0">
            <a:spAutoFit/>
          </a:bodyPr>
          <a:lstStyle/>
          <a:p>
            <a:pPr algn="l">
              <a:lnSpc>
                <a:spcPct val="100000"/>
              </a:lnSpc>
            </a:pPr>
            <a:r>
              <a:rPr sz="700" b="1" i="0">
                <a:solidFill>
                  <a:srgbClr val="7C8493"/>
                </a:solidFill>
                <a:latin typeface="Calibri"/>
              </a:rPr>
              <a:t>INSURANCE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10515600" cy="274320"/>
          </a:xfrm>
          <a:prstGeom prst="rect">
            <a:avLst/>
          </a:prstGeom>
          <a:noFill/>
        </p:spPr>
        <p:txBody>
          <a:bodyPr wrap="square" anchor="t" lIns="0" rIns="0" tIns="0" bIns="0">
            <a:spAutoFit/>
          </a:bodyPr>
          <a:lstStyle/>
          <a:p>
            <a:pPr algn="l">
              <a:lnSpc>
                <a:spcPct val="100000"/>
              </a:lnSpc>
            </a:pPr>
            <a:r>
              <a:rPr sz="1100" b="1" i="0">
                <a:solidFill>
                  <a:srgbClr val="B8872E"/>
                </a:solidFill>
                <a:latin typeface="Calibri"/>
              </a:rPr>
              <a:t>WHY THIS MATTERS</a:t>
            </a:r>
          </a:p>
        </p:txBody>
      </p:sp>
      <p:sp>
        <p:nvSpPr>
          <p:cNvPr id="3" name="TextBox 2"/>
          <p:cNvSpPr txBox="1"/>
          <p:nvPr/>
        </p:nvSpPr>
        <p:spPr>
          <a:xfrm>
            <a:off x="502920" y="438912"/>
            <a:ext cx="10515600" cy="594360"/>
          </a:xfrm>
          <a:prstGeom prst="rect">
            <a:avLst/>
          </a:prstGeom>
          <a:noFill/>
        </p:spPr>
        <p:txBody>
          <a:bodyPr wrap="square" anchor="t" lIns="0" rIns="0" tIns="0" bIns="0">
            <a:spAutoFit/>
          </a:bodyPr>
          <a:lstStyle/>
          <a:p>
            <a:pPr algn="l">
              <a:lnSpc>
                <a:spcPct val="100000"/>
              </a:lnSpc>
            </a:pPr>
            <a:r>
              <a:rPr sz="2600" b="1" i="0">
                <a:solidFill>
                  <a:srgbClr val="14255C"/>
                </a:solidFill>
                <a:latin typeface="Calibri"/>
              </a:rPr>
              <a:t>Why This Matters</a:t>
            </a:r>
          </a:p>
        </p:txBody>
      </p:sp>
      <p:cxnSp>
        <p:nvCxnSpPr>
          <p:cNvPr id="4" name="Connector 3"/>
          <p:cNvCxnSpPr/>
          <p:nvPr/>
        </p:nvCxnSpPr>
        <p:spPr>
          <a:xfrm>
            <a:off x="502920" y="1042415"/>
            <a:ext cx="11183112" cy="0"/>
          </a:xfrm>
          <a:prstGeom prst="line">
            <a:avLst/>
          </a:prstGeom>
          <a:ln w="28575">
            <a:solidFill>
              <a:srgbClr val="14255C"/>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02920" y="1325880"/>
            <a:ext cx="2788920" cy="4709160"/>
          </a:xfrm>
          <a:prstGeom prst="roundRect">
            <a:avLst>
              <a:gd name="adj" fmla="val 0"/>
            </a:avLst>
          </a:prstGeom>
          <a:solidFill>
            <a:srgbClr val="E3B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377440" y="1325880"/>
            <a:ext cx="914400" cy="4709160"/>
          </a:xfrm>
          <a:prstGeom prst="roundRect">
            <a:avLst>
              <a:gd name="adj" fmla="val 0"/>
            </a:avLst>
          </a:prstGeom>
          <a:solidFill>
            <a:srgbClr val="F0D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600200"/>
            <a:ext cx="1600200" cy="822960"/>
          </a:xfrm>
          <a:prstGeom prst="rect">
            <a:avLst/>
          </a:prstGeom>
          <a:noFill/>
        </p:spPr>
        <p:txBody>
          <a:bodyPr wrap="square" anchor="ctr" lIns="0" rIns="0" tIns="0" bIns="0">
            <a:spAutoFit/>
          </a:bodyPr>
          <a:lstStyle/>
          <a:p>
            <a:pPr algn="l">
              <a:lnSpc>
                <a:spcPct val="100000"/>
              </a:lnSpc>
            </a:pPr>
            <a:r>
              <a:rPr sz="1450" b="1" i="0">
                <a:solidFill>
                  <a:srgbClr val="FFFFFF"/>
                </a:solidFill>
                <a:latin typeface="Calibri"/>
              </a:rPr>
              <a:t>The Problem</a:t>
            </a:r>
          </a:p>
        </p:txBody>
      </p:sp>
      <p:sp>
        <p:nvSpPr>
          <p:cNvPr id="8" name="Oval 7"/>
          <p:cNvSpPr/>
          <p:nvPr/>
        </p:nvSpPr>
        <p:spPr>
          <a:xfrm>
            <a:off x="2606040" y="1600200"/>
            <a:ext cx="749808" cy="749808"/>
          </a:xfrm>
          <a:prstGeom prst="ellipse">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Isosceles Triangle 8"/>
          <p:cNvSpPr/>
          <p:nvPr/>
        </p:nvSpPr>
        <p:spPr>
          <a:xfrm>
            <a:off x="2793492" y="1802648"/>
            <a:ext cx="374904" cy="374904"/>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93492" y="1780153"/>
            <a:ext cx="374904" cy="374904"/>
          </a:xfrm>
          <a:prstGeom prst="rect">
            <a:avLst/>
          </a:prstGeom>
          <a:noFill/>
        </p:spPr>
        <p:txBody>
          <a:bodyPr wrap="square" anchor="ctr" lIns="0" rIns="0" tIns="0" bIns="0">
            <a:spAutoFit/>
          </a:bodyPr>
          <a:lstStyle/>
          <a:p>
            <a:pPr algn="ctr">
              <a:lnSpc>
                <a:spcPct val="100000"/>
              </a:lnSpc>
            </a:pPr>
            <a:r>
              <a:rPr sz="2200" b="1" i="0">
                <a:solidFill>
                  <a:srgbClr val="B02A37"/>
                </a:solidFill>
                <a:latin typeface="Calibri"/>
              </a:rPr>
              <a:t>!</a:t>
            </a:r>
          </a:p>
        </p:txBody>
      </p:sp>
      <p:sp>
        <p:nvSpPr>
          <p:cNvPr id="11" name="TextBox 10"/>
          <p:cNvSpPr txBox="1"/>
          <p:nvPr/>
        </p:nvSpPr>
        <p:spPr>
          <a:xfrm>
            <a:off x="685800" y="2734056"/>
            <a:ext cx="1600200" cy="822960"/>
          </a:xfrm>
          <a:prstGeom prst="rect">
            <a:avLst/>
          </a:prstGeom>
          <a:noFill/>
        </p:spPr>
        <p:txBody>
          <a:bodyPr wrap="square" anchor="ctr" lIns="0" rIns="0" tIns="0" bIns="0">
            <a:spAutoFit/>
          </a:bodyPr>
          <a:lstStyle/>
          <a:p>
            <a:pPr algn="l">
              <a:lnSpc>
                <a:spcPct val="100000"/>
              </a:lnSpc>
            </a:pPr>
            <a:r>
              <a:rPr sz="1450" b="1" i="0">
                <a:solidFill>
                  <a:srgbClr val="FFFFFF"/>
                </a:solidFill>
                <a:latin typeface="Calibri"/>
              </a:rPr>
              <a:t>Our Objective</a:t>
            </a:r>
          </a:p>
        </p:txBody>
      </p:sp>
      <p:sp>
        <p:nvSpPr>
          <p:cNvPr id="12" name="Oval 11"/>
          <p:cNvSpPr/>
          <p:nvPr/>
        </p:nvSpPr>
        <p:spPr>
          <a:xfrm>
            <a:off x="2606040" y="2734056"/>
            <a:ext cx="749808" cy="749808"/>
          </a:xfrm>
          <a:prstGeom prst="ellipse">
            <a:avLst/>
          </a:prstGeom>
          <a:solidFill>
            <a:srgbClr val="14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2711013" y="2839029"/>
            <a:ext cx="539861" cy="539861"/>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2793492" y="2921508"/>
            <a:ext cx="374904" cy="374904"/>
          </a:xfrm>
          <a:prstGeom prst="ellipse">
            <a:avLst/>
          </a:prstGeom>
          <a:solidFill>
            <a:srgbClr val="14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883468" y="3011484"/>
            <a:ext cx="194950" cy="19495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943453" y="3071469"/>
            <a:ext cx="74980" cy="74980"/>
          </a:xfrm>
          <a:prstGeom prst="ellipse">
            <a:avLst/>
          </a:prstGeom>
          <a:solidFill>
            <a:srgbClr val="14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3867912"/>
            <a:ext cx="1600200" cy="822960"/>
          </a:xfrm>
          <a:prstGeom prst="rect">
            <a:avLst/>
          </a:prstGeom>
          <a:noFill/>
        </p:spPr>
        <p:txBody>
          <a:bodyPr wrap="square" anchor="ctr" lIns="0" rIns="0" tIns="0" bIns="0">
            <a:spAutoFit/>
          </a:bodyPr>
          <a:lstStyle/>
          <a:p>
            <a:pPr algn="l">
              <a:lnSpc>
                <a:spcPct val="100000"/>
              </a:lnSpc>
            </a:pPr>
            <a:r>
              <a:rPr sz="1450" b="1" i="0">
                <a:solidFill>
                  <a:srgbClr val="FFFFFF"/>
                </a:solidFill>
                <a:latin typeface="Calibri"/>
              </a:rPr>
              <a:t>The Benefit</a:t>
            </a:r>
          </a:p>
        </p:txBody>
      </p:sp>
      <p:sp>
        <p:nvSpPr>
          <p:cNvPr id="18" name="Oval 17"/>
          <p:cNvSpPr/>
          <p:nvPr/>
        </p:nvSpPr>
        <p:spPr>
          <a:xfrm>
            <a:off x="2606040" y="3867912"/>
            <a:ext cx="749808" cy="749808"/>
          </a:xfrm>
          <a:prstGeom prst="ellipse">
            <a:avLst/>
          </a:prstGeom>
          <a:solidFill>
            <a:srgbClr val="2E6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2744754" y="4284055"/>
            <a:ext cx="89976" cy="123718"/>
          </a:xfrm>
          <a:prstGeom prst="roundRect">
            <a:avLst>
              <a:gd name="adj"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2872221" y="4222196"/>
            <a:ext cx="89976" cy="185577"/>
          </a:xfrm>
          <a:prstGeom prst="roundRect">
            <a:avLst>
              <a:gd name="adj"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999689" y="4160337"/>
            <a:ext cx="89976" cy="247436"/>
          </a:xfrm>
          <a:prstGeom prst="roundRect">
            <a:avLst>
              <a:gd name="adj"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127156" y="4098477"/>
            <a:ext cx="89976" cy="309295"/>
          </a:xfrm>
          <a:prstGeom prst="roundRect">
            <a:avLst>
              <a:gd name="adj"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5001768"/>
            <a:ext cx="1600200" cy="822960"/>
          </a:xfrm>
          <a:prstGeom prst="rect">
            <a:avLst/>
          </a:prstGeom>
          <a:noFill/>
        </p:spPr>
        <p:txBody>
          <a:bodyPr wrap="square" anchor="ctr" lIns="0" rIns="0" tIns="0" bIns="0">
            <a:spAutoFit/>
          </a:bodyPr>
          <a:lstStyle/>
          <a:p>
            <a:pPr algn="l">
              <a:lnSpc>
                <a:spcPct val="100000"/>
              </a:lnSpc>
            </a:pPr>
            <a:r>
              <a:rPr sz="1450" b="1" i="0">
                <a:solidFill>
                  <a:srgbClr val="FFFFFF"/>
                </a:solidFill>
                <a:latin typeface="Calibri"/>
              </a:rPr>
              <a:t>Staying Careful</a:t>
            </a:r>
          </a:p>
        </p:txBody>
      </p:sp>
      <p:sp>
        <p:nvSpPr>
          <p:cNvPr id="24" name="Oval 23"/>
          <p:cNvSpPr/>
          <p:nvPr/>
        </p:nvSpPr>
        <p:spPr>
          <a:xfrm>
            <a:off x="2606040" y="5001768"/>
            <a:ext cx="749808" cy="749808"/>
          </a:xfrm>
          <a:prstGeom prst="ellipse">
            <a:avLst/>
          </a:prstGeom>
          <a:solidFill>
            <a:srgbClr val="6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2774746" y="5226710"/>
            <a:ext cx="412394" cy="344911"/>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2774746" y="5226710"/>
            <a:ext cx="412394" cy="96575"/>
          </a:xfrm>
          <a:prstGeom prst="roundRect">
            <a:avLst>
              <a:gd name="adj" fmla="val 0"/>
            </a:avLst>
          </a:prstGeom>
          <a:solidFill>
            <a:srgbClr val="6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2832482" y="5381920"/>
            <a:ext cx="57735" cy="48287"/>
          </a:xfrm>
          <a:prstGeom prst="roundRect">
            <a:avLst>
              <a:gd name="adj" fmla="val 0"/>
            </a:avLst>
          </a:prstGeom>
          <a:solidFill>
            <a:srgbClr val="6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2947952" y="5381920"/>
            <a:ext cx="57735" cy="48287"/>
          </a:xfrm>
          <a:prstGeom prst="roundRect">
            <a:avLst>
              <a:gd name="adj" fmla="val 0"/>
            </a:avLst>
          </a:prstGeom>
          <a:solidFill>
            <a:srgbClr val="6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3063422" y="5381920"/>
            <a:ext cx="57735" cy="48287"/>
          </a:xfrm>
          <a:prstGeom prst="roundRect">
            <a:avLst>
              <a:gd name="adj" fmla="val 0"/>
            </a:avLst>
          </a:prstGeom>
          <a:solidFill>
            <a:srgbClr val="6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2832482" y="5478495"/>
            <a:ext cx="57735" cy="48287"/>
          </a:xfrm>
          <a:prstGeom prst="roundRect">
            <a:avLst>
              <a:gd name="adj" fmla="val 0"/>
            </a:avLst>
          </a:prstGeom>
          <a:solidFill>
            <a:srgbClr val="6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2947952" y="5478495"/>
            <a:ext cx="57735" cy="48287"/>
          </a:xfrm>
          <a:prstGeom prst="roundRect">
            <a:avLst>
              <a:gd name="adj" fmla="val 0"/>
            </a:avLst>
          </a:prstGeom>
          <a:solidFill>
            <a:srgbClr val="6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3063422" y="5478495"/>
            <a:ext cx="57735" cy="48287"/>
          </a:xfrm>
          <a:prstGeom prst="roundRect">
            <a:avLst>
              <a:gd name="adj" fmla="val 0"/>
            </a:avLst>
          </a:prstGeom>
          <a:solidFill>
            <a:srgbClr val="6F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703320" y="1481328"/>
            <a:ext cx="7863840" cy="914400"/>
          </a:xfrm>
          <a:prstGeom prst="rect">
            <a:avLst/>
          </a:prstGeom>
          <a:noFill/>
        </p:spPr>
        <p:txBody>
          <a:bodyPr wrap="square" anchor="t" lIns="0" rIns="0" tIns="0" bIns="0">
            <a:spAutoFit/>
          </a:bodyPr>
          <a:lstStyle/>
          <a:p>
            <a:pPr algn="l">
              <a:lnSpc>
                <a:spcPct val="115000"/>
              </a:lnSpc>
              <a:spcAft>
                <a:spcPts val="0"/>
              </a:spcAft>
            </a:pPr>
            <a:r>
              <a:rPr sz="1300">
                <a:solidFill>
                  <a:srgbClr val="222733"/>
                </a:solidFill>
                <a:latin typeface="Calibri"/>
              </a:rPr>
              <a:t>Every model recalculates the same policy features from scratch — duplicated logic, inconsistent values, and no visibility into what a model actually saw.</a:t>
            </a:r>
          </a:p>
        </p:txBody>
      </p:sp>
      <p:sp>
        <p:nvSpPr>
          <p:cNvPr id="34" name="TextBox 33"/>
          <p:cNvSpPr txBox="1"/>
          <p:nvPr/>
        </p:nvSpPr>
        <p:spPr>
          <a:xfrm>
            <a:off x="3703320" y="2377440"/>
            <a:ext cx="7863840" cy="822960"/>
          </a:xfrm>
          <a:prstGeom prst="rect">
            <a:avLst/>
          </a:prstGeom>
          <a:noFill/>
        </p:spPr>
        <p:txBody>
          <a:bodyPr wrap="square" anchor="t" lIns="0" rIns="0" tIns="0" bIns="0">
            <a:spAutoFit/>
          </a:bodyPr>
          <a:lstStyle/>
          <a:p>
            <a:pPr algn="l">
              <a:lnSpc>
                <a:spcPct val="115000"/>
              </a:lnSpc>
              <a:spcAft>
                <a:spcPts val="0"/>
              </a:spcAft>
            </a:pPr>
            <a:r>
              <a:rPr sz="1300">
                <a:solidFill>
                  <a:srgbClr val="222733"/>
                </a:solidFill>
                <a:latin typeface="Calibri"/>
              </a:rPr>
              <a:t>One centralized, active feature table computed once and reused by every model — retrievable in roughly 130 ms.</a:t>
            </a:r>
          </a:p>
        </p:txBody>
      </p:sp>
      <p:sp>
        <p:nvSpPr>
          <p:cNvPr id="35" name="TextBox 34"/>
          <p:cNvSpPr txBox="1"/>
          <p:nvPr/>
        </p:nvSpPr>
        <p:spPr>
          <a:xfrm>
            <a:off x="3703320" y="3246120"/>
            <a:ext cx="7863840" cy="1051560"/>
          </a:xfrm>
          <a:prstGeom prst="rect">
            <a:avLst/>
          </a:prstGeom>
          <a:noFill/>
        </p:spPr>
        <p:txBody>
          <a:bodyPr wrap="square" anchor="t" lIns="0" rIns="0" tIns="0" bIns="0">
            <a:spAutoFit/>
          </a:bodyPr>
          <a:lstStyle/>
          <a:p>
            <a:pPr algn="l">
              <a:lnSpc>
                <a:spcPct val="100000"/>
              </a:lnSpc>
              <a:spcAft>
                <a:spcPts val="500"/>
              </a:spcAft>
            </a:pPr>
            <a:r>
              <a:rPr sz="1200">
                <a:solidFill>
                  <a:srgbClr val="222733"/>
                </a:solidFill>
                <a:latin typeface="Calibri"/>
              </a:rPr>
              <a:t>•  No repeated computation, and one governed definition per feature across all models.</a:t>
            </a:r>
          </a:p>
          <a:p>
            <a:pPr algn="l">
              <a:lnSpc>
                <a:spcPct val="100000"/>
              </a:lnSpc>
              <a:spcAft>
                <a:spcPts val="500"/>
              </a:spcAft>
            </a:pPr>
            <a:r>
              <a:rPr sz="1200">
                <a:solidFill>
                  <a:srgbClr val="222733"/>
                </a:solidFill>
                <a:latin typeface="Calibri"/>
              </a:rPr>
              <a:t>•  Full traceability to source transactions, plus SCD Type 2 audit history usable for training.</a:t>
            </a:r>
          </a:p>
          <a:p>
            <a:pPr algn="l">
              <a:lnSpc>
                <a:spcPct val="100000"/>
              </a:lnSpc>
              <a:spcAft>
                <a:spcPts val="500"/>
              </a:spcAft>
            </a:pPr>
            <a:r>
              <a:rPr sz="1200">
                <a:solidFill>
                  <a:srgbClr val="222733"/>
                </a:solidFill>
                <a:latin typeface="Calibri"/>
              </a:rPr>
              <a:t>•  Immediate updates and future-effective policy changes are both handled correctly.</a:t>
            </a:r>
          </a:p>
        </p:txBody>
      </p:sp>
      <p:sp>
        <p:nvSpPr>
          <p:cNvPr id="36" name="TextBox 35"/>
          <p:cNvSpPr txBox="1"/>
          <p:nvPr/>
        </p:nvSpPr>
        <p:spPr>
          <a:xfrm>
            <a:off x="3703320" y="4617720"/>
            <a:ext cx="7863840" cy="1280160"/>
          </a:xfrm>
          <a:prstGeom prst="rect">
            <a:avLst/>
          </a:prstGeom>
          <a:noFill/>
        </p:spPr>
        <p:txBody>
          <a:bodyPr wrap="square" anchor="t" lIns="0" rIns="0" tIns="0" bIns="0">
            <a:spAutoFit/>
          </a:bodyPr>
          <a:lstStyle/>
          <a:p>
            <a:pPr algn="l">
              <a:lnSpc>
                <a:spcPct val="100000"/>
              </a:lnSpc>
              <a:spcAft>
                <a:spcPts val="500"/>
              </a:spcAft>
            </a:pPr>
            <a:r>
              <a:rPr sz="1200">
                <a:solidFill>
                  <a:srgbClr val="222733"/>
                </a:solidFill>
                <a:latin typeface="Calibri"/>
              </a:rPr>
              <a:t>•  Active, Pending, and History must stay synchronized on every single update.</a:t>
            </a:r>
          </a:p>
          <a:p>
            <a:pPr algn="l">
              <a:lnSpc>
                <a:spcPct val="100000"/>
              </a:lnSpc>
              <a:spcAft>
                <a:spcPts val="500"/>
              </a:spcAft>
            </a:pPr>
            <a:r>
              <a:rPr sz="1200">
                <a:solidFill>
                  <a:srgbClr val="222733"/>
                </a:solidFill>
                <a:latin typeface="Calibri"/>
              </a:rPr>
              <a:t>•  Wrong validity timestamps could create overlapping or missing history records.</a:t>
            </a:r>
          </a:p>
          <a:p>
            <a:pPr algn="l">
              <a:lnSpc>
                <a:spcPct val="100000"/>
              </a:lnSpc>
              <a:spcAft>
                <a:spcPts val="500"/>
              </a:spcAft>
            </a:pPr>
            <a:r>
              <a:rPr sz="1200">
                <a:solidFill>
                  <a:srgbClr val="222733"/>
                </a:solidFill>
                <a:latin typeface="Calibri"/>
              </a:rPr>
              <a:t>•  A failed streaming or promotion job could let a model read stale features.</a:t>
            </a:r>
          </a:p>
        </p:txBody>
      </p:sp>
      <p:cxnSp>
        <p:nvCxnSpPr>
          <p:cNvPr id="37" name="Connector 36"/>
          <p:cNvCxnSpPr/>
          <p:nvPr/>
        </p:nvCxnSpPr>
        <p:spPr>
          <a:xfrm>
            <a:off x="411480" y="6473952"/>
            <a:ext cx="11384280" cy="0"/>
          </a:xfrm>
          <a:prstGeom prst="line">
            <a:avLst/>
          </a:prstGeom>
          <a:ln w="9525">
            <a:solidFill>
              <a:srgbClr val="E2E0E6"/>
            </a:solidFill>
          </a:ln>
          <a:effectLst/>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411480" y="6528816"/>
            <a:ext cx="548640" cy="274320"/>
          </a:xfrm>
          <a:prstGeom prst="rect">
            <a:avLst/>
          </a:prstGeom>
          <a:noFill/>
        </p:spPr>
        <p:txBody>
          <a:bodyPr wrap="square" anchor="t" lIns="0" rIns="0" tIns="0" bIns="0">
            <a:spAutoFit/>
          </a:bodyPr>
          <a:lstStyle/>
          <a:p>
            <a:pPr algn="l">
              <a:lnSpc>
                <a:spcPct val="100000"/>
              </a:lnSpc>
            </a:pPr>
            <a:r>
              <a:rPr sz="1050" b="0" i="0">
                <a:solidFill>
                  <a:srgbClr val="7C8493"/>
                </a:solidFill>
                <a:latin typeface="Calibri"/>
              </a:rPr>
              <a:t>2</a:t>
            </a:r>
          </a:p>
        </p:txBody>
      </p:sp>
      <p:sp>
        <p:nvSpPr>
          <p:cNvPr id="39" name="Block Arc 38"/>
          <p:cNvSpPr/>
          <p:nvPr/>
        </p:nvSpPr>
        <p:spPr>
          <a:xfrm>
            <a:off x="9921240" y="6492240"/>
            <a:ext cx="237744" cy="219456"/>
          </a:xfrm>
          <a:prstGeom prst="blockArc">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22992" y="6473952"/>
            <a:ext cx="1554480" cy="201168"/>
          </a:xfrm>
          <a:prstGeom prst="rect">
            <a:avLst/>
          </a:prstGeom>
          <a:noFill/>
        </p:spPr>
        <p:txBody>
          <a:bodyPr wrap="square" anchor="t" lIns="0" rIns="0" tIns="0" bIns="0">
            <a:spAutoFit/>
          </a:bodyPr>
          <a:lstStyle/>
          <a:p>
            <a:pPr algn="l">
              <a:lnSpc>
                <a:spcPct val="100000"/>
              </a:lnSpc>
            </a:pPr>
            <a:r>
              <a:rPr sz="1050" b="1" i="0">
                <a:solidFill>
                  <a:srgbClr val="14255C"/>
                </a:solidFill>
                <a:latin typeface="Calibri"/>
              </a:rPr>
              <a:t>FARMERS</a:t>
            </a:r>
          </a:p>
        </p:txBody>
      </p:sp>
      <p:sp>
        <p:nvSpPr>
          <p:cNvPr id="41" name="TextBox 40"/>
          <p:cNvSpPr txBox="1"/>
          <p:nvPr/>
        </p:nvSpPr>
        <p:spPr>
          <a:xfrm>
            <a:off x="10222992" y="6647688"/>
            <a:ext cx="1554480" cy="182880"/>
          </a:xfrm>
          <a:prstGeom prst="rect">
            <a:avLst/>
          </a:prstGeom>
          <a:noFill/>
        </p:spPr>
        <p:txBody>
          <a:bodyPr wrap="square" anchor="t" lIns="0" rIns="0" tIns="0" bIns="0">
            <a:spAutoFit/>
          </a:bodyPr>
          <a:lstStyle/>
          <a:p>
            <a:pPr algn="l">
              <a:lnSpc>
                <a:spcPct val="100000"/>
              </a:lnSpc>
            </a:pPr>
            <a:r>
              <a:rPr sz="700" b="1" i="0">
                <a:solidFill>
                  <a:srgbClr val="7C8493"/>
                </a:solidFill>
                <a:latin typeface="Calibri"/>
              </a:rPr>
              <a:t>INSURANCE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10515600" cy="274320"/>
          </a:xfrm>
          <a:prstGeom prst="rect">
            <a:avLst/>
          </a:prstGeom>
          <a:noFill/>
        </p:spPr>
        <p:txBody>
          <a:bodyPr wrap="square" anchor="t" lIns="0" rIns="0" tIns="0" bIns="0">
            <a:spAutoFit/>
          </a:bodyPr>
          <a:lstStyle/>
          <a:p>
            <a:pPr algn="l">
              <a:lnSpc>
                <a:spcPct val="100000"/>
              </a:lnSpc>
            </a:pPr>
            <a:r>
              <a:rPr sz="1100" b="1" i="0">
                <a:solidFill>
                  <a:srgbClr val="B8872E"/>
                </a:solidFill>
                <a:latin typeface="Calibri"/>
              </a:rPr>
              <a:t>HOW IT'S BUILT</a:t>
            </a:r>
          </a:p>
        </p:txBody>
      </p:sp>
      <p:sp>
        <p:nvSpPr>
          <p:cNvPr id="3" name="TextBox 2"/>
          <p:cNvSpPr txBox="1"/>
          <p:nvPr/>
        </p:nvSpPr>
        <p:spPr>
          <a:xfrm>
            <a:off x="502920" y="438912"/>
            <a:ext cx="10515600" cy="594360"/>
          </a:xfrm>
          <a:prstGeom prst="rect">
            <a:avLst/>
          </a:prstGeom>
          <a:noFill/>
        </p:spPr>
        <p:txBody>
          <a:bodyPr wrap="square" anchor="t" lIns="0" rIns="0" tIns="0" bIns="0">
            <a:spAutoFit/>
          </a:bodyPr>
          <a:lstStyle/>
          <a:p>
            <a:pPr algn="l">
              <a:lnSpc>
                <a:spcPct val="100000"/>
              </a:lnSpc>
            </a:pPr>
            <a:r>
              <a:rPr sz="2600" b="1" i="0">
                <a:solidFill>
                  <a:srgbClr val="14255C"/>
                </a:solidFill>
                <a:latin typeface="Calibri"/>
              </a:rPr>
              <a:t>Compute Once, Not Once Per Model</a:t>
            </a:r>
          </a:p>
        </p:txBody>
      </p:sp>
      <p:cxnSp>
        <p:nvCxnSpPr>
          <p:cNvPr id="4" name="Connector 3"/>
          <p:cNvCxnSpPr/>
          <p:nvPr/>
        </p:nvCxnSpPr>
        <p:spPr>
          <a:xfrm>
            <a:off x="502920" y="1042415"/>
            <a:ext cx="11183112" cy="0"/>
          </a:xfrm>
          <a:prstGeom prst="line">
            <a:avLst/>
          </a:prstGeom>
          <a:ln w="28575">
            <a:solidFill>
              <a:srgbClr val="14255C"/>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02920" y="1417320"/>
            <a:ext cx="5349240" cy="4617720"/>
          </a:xfrm>
          <a:prstGeom prst="roundRect">
            <a:avLst>
              <a:gd name="adj" fmla="val 5000"/>
            </a:avLst>
          </a:prstGeom>
          <a:solidFill>
            <a:srgbClr val="F3F1EF"/>
          </a:solidFill>
          <a:ln w="9525">
            <a:solidFill>
              <a:srgbClr val="E2E0E6"/>
            </a:solid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618488"/>
            <a:ext cx="4800600" cy="274320"/>
          </a:xfrm>
          <a:prstGeom prst="rect">
            <a:avLst/>
          </a:prstGeom>
          <a:noFill/>
        </p:spPr>
        <p:txBody>
          <a:bodyPr wrap="square" anchor="t" lIns="0" rIns="0" tIns="0" bIns="0">
            <a:spAutoFit/>
          </a:bodyPr>
          <a:lstStyle/>
          <a:p>
            <a:pPr algn="l">
              <a:lnSpc>
                <a:spcPct val="100000"/>
              </a:lnSpc>
            </a:pPr>
            <a:r>
              <a:rPr sz="1100" b="1" i="0">
                <a:solidFill>
                  <a:srgbClr val="7C8493"/>
                </a:solidFill>
                <a:latin typeface="Calibri"/>
              </a:rPr>
              <a:t>BEFORE — DUPLICATED PER MODEL</a:t>
            </a:r>
          </a:p>
        </p:txBody>
      </p:sp>
      <p:sp>
        <p:nvSpPr>
          <p:cNvPr id="7" name="Rounded Rectangle 6"/>
          <p:cNvSpPr/>
          <p:nvPr/>
        </p:nvSpPr>
        <p:spPr>
          <a:xfrm>
            <a:off x="2308860" y="2011680"/>
            <a:ext cx="1737360" cy="548640"/>
          </a:xfrm>
          <a:prstGeom prst="roundRect">
            <a:avLst>
              <a:gd name="adj" fmla="val 10000"/>
            </a:avLst>
          </a:prstGeom>
          <a:solidFill>
            <a:srgbClr val="394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08860" y="2011680"/>
            <a:ext cx="1737360" cy="548640"/>
          </a:xfrm>
          <a:prstGeom prst="rect">
            <a:avLst/>
          </a:prstGeom>
          <a:noFill/>
        </p:spPr>
        <p:txBody>
          <a:bodyPr wrap="square" anchor="ctr" lIns="0" rIns="0" tIns="0" bIns="0">
            <a:spAutoFit/>
          </a:bodyPr>
          <a:lstStyle/>
          <a:p>
            <a:pPr algn="ctr">
              <a:lnSpc>
                <a:spcPct val="100000"/>
              </a:lnSpc>
            </a:pPr>
            <a:r>
              <a:rPr sz="1100" b="1" i="0">
                <a:solidFill>
                  <a:srgbClr val="FFFFFF"/>
                </a:solidFill>
                <a:latin typeface="Calibri"/>
              </a:rPr>
              <a:t>Policy System</a:t>
            </a:r>
          </a:p>
        </p:txBody>
      </p:sp>
      <p:sp>
        <p:nvSpPr>
          <p:cNvPr id="9" name="Rounded Rectangle 8"/>
          <p:cNvSpPr/>
          <p:nvPr/>
        </p:nvSpPr>
        <p:spPr>
          <a:xfrm>
            <a:off x="822959" y="3291839"/>
            <a:ext cx="1417320" cy="868680"/>
          </a:xfrm>
          <a:prstGeom prst="roundRect">
            <a:avLst>
              <a:gd name="adj" fmla="val 10000"/>
            </a:avLst>
          </a:prstGeom>
          <a:solidFill>
            <a:srgbClr val="8A93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3291839"/>
            <a:ext cx="1417320" cy="868680"/>
          </a:xfrm>
          <a:prstGeom prst="rect">
            <a:avLst/>
          </a:prstGeom>
          <a:noFill/>
        </p:spPr>
        <p:txBody>
          <a:bodyPr wrap="square" anchor="ctr" lIns="0" rIns="0" tIns="0" bIns="0">
            <a:spAutoFit/>
          </a:bodyPr>
          <a:lstStyle/>
          <a:p>
            <a:pPr algn="ctr">
              <a:lnSpc>
                <a:spcPct val="100000"/>
              </a:lnSpc>
            </a:pPr>
            <a:r>
              <a:rPr sz="1000" b="1" i="0">
                <a:solidFill>
                  <a:srgbClr val="FFFFFF"/>
                </a:solidFill>
                <a:latin typeface="Calibri"/>
              </a:rPr>
              <a:t>Model A</a:t>
            </a:r>
          </a:p>
          <a:p>
            <a:pPr algn="ctr">
              <a:lnSpc>
                <a:spcPct val="100000"/>
              </a:lnSpc>
            </a:pPr>
            <a:r>
              <a:rPr sz="1000" b="1" i="0">
                <a:solidFill>
                  <a:srgbClr val="FFFFFF"/>
                </a:solidFill>
                <a:latin typeface="Calibri"/>
              </a:rPr>
              <a:t>recomputes</a:t>
            </a:r>
          </a:p>
        </p:txBody>
      </p:sp>
      <p:cxnSp>
        <p:nvCxnSpPr>
          <p:cNvPr id="11" name="Connector 10"/>
          <p:cNvCxnSpPr/>
          <p:nvPr/>
        </p:nvCxnSpPr>
        <p:spPr>
          <a:xfrm flipH="1">
            <a:off x="1531619" y="2560320"/>
            <a:ext cx="1645920" cy="731519"/>
          </a:xfrm>
          <a:prstGeom prst="line">
            <a:avLst/>
          </a:prstGeom>
          <a:ln w="19050">
            <a:solidFill>
              <a:srgbClr val="7C849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468879" y="3291839"/>
            <a:ext cx="1417320" cy="868680"/>
          </a:xfrm>
          <a:prstGeom prst="roundRect">
            <a:avLst>
              <a:gd name="adj" fmla="val 10000"/>
            </a:avLst>
          </a:prstGeom>
          <a:solidFill>
            <a:srgbClr val="8A93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468879" y="3291839"/>
            <a:ext cx="1417320" cy="868680"/>
          </a:xfrm>
          <a:prstGeom prst="rect">
            <a:avLst/>
          </a:prstGeom>
          <a:noFill/>
        </p:spPr>
        <p:txBody>
          <a:bodyPr wrap="square" anchor="ctr" lIns="0" rIns="0" tIns="0" bIns="0">
            <a:spAutoFit/>
          </a:bodyPr>
          <a:lstStyle/>
          <a:p>
            <a:pPr algn="ctr">
              <a:lnSpc>
                <a:spcPct val="100000"/>
              </a:lnSpc>
            </a:pPr>
            <a:r>
              <a:rPr sz="1000" b="1" i="0">
                <a:solidFill>
                  <a:srgbClr val="FFFFFF"/>
                </a:solidFill>
                <a:latin typeface="Calibri"/>
              </a:rPr>
              <a:t>Model B</a:t>
            </a:r>
          </a:p>
          <a:p>
            <a:pPr algn="ctr">
              <a:lnSpc>
                <a:spcPct val="100000"/>
              </a:lnSpc>
            </a:pPr>
            <a:r>
              <a:rPr sz="1000" b="1" i="0">
                <a:solidFill>
                  <a:srgbClr val="FFFFFF"/>
                </a:solidFill>
                <a:latin typeface="Calibri"/>
              </a:rPr>
              <a:t>recomputes</a:t>
            </a:r>
          </a:p>
        </p:txBody>
      </p:sp>
      <p:cxnSp>
        <p:nvCxnSpPr>
          <p:cNvPr id="14" name="Connector 13"/>
          <p:cNvCxnSpPr/>
          <p:nvPr/>
        </p:nvCxnSpPr>
        <p:spPr>
          <a:xfrm>
            <a:off x="3177539" y="2560320"/>
            <a:ext cx="0" cy="731519"/>
          </a:xfrm>
          <a:prstGeom prst="line">
            <a:avLst/>
          </a:prstGeom>
          <a:ln w="19050">
            <a:solidFill>
              <a:srgbClr val="7C849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114800" y="3291839"/>
            <a:ext cx="1417320" cy="868680"/>
          </a:xfrm>
          <a:prstGeom prst="roundRect">
            <a:avLst>
              <a:gd name="adj" fmla="val 10000"/>
            </a:avLst>
          </a:prstGeom>
          <a:solidFill>
            <a:srgbClr val="8A93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14800" y="3291839"/>
            <a:ext cx="1417320" cy="868680"/>
          </a:xfrm>
          <a:prstGeom prst="rect">
            <a:avLst/>
          </a:prstGeom>
          <a:noFill/>
        </p:spPr>
        <p:txBody>
          <a:bodyPr wrap="square" anchor="ctr" lIns="0" rIns="0" tIns="0" bIns="0">
            <a:spAutoFit/>
          </a:bodyPr>
          <a:lstStyle/>
          <a:p>
            <a:pPr algn="ctr">
              <a:lnSpc>
                <a:spcPct val="100000"/>
              </a:lnSpc>
            </a:pPr>
            <a:r>
              <a:rPr sz="1000" b="1" i="0">
                <a:solidFill>
                  <a:srgbClr val="FFFFFF"/>
                </a:solidFill>
                <a:latin typeface="Calibri"/>
              </a:rPr>
              <a:t>Model C</a:t>
            </a:r>
          </a:p>
          <a:p>
            <a:pPr algn="ctr">
              <a:lnSpc>
                <a:spcPct val="100000"/>
              </a:lnSpc>
            </a:pPr>
            <a:r>
              <a:rPr sz="1000" b="1" i="0">
                <a:solidFill>
                  <a:srgbClr val="FFFFFF"/>
                </a:solidFill>
                <a:latin typeface="Calibri"/>
              </a:rPr>
              <a:t>recomputes</a:t>
            </a:r>
          </a:p>
        </p:txBody>
      </p:sp>
      <p:cxnSp>
        <p:nvCxnSpPr>
          <p:cNvPr id="17" name="Connector 16"/>
          <p:cNvCxnSpPr/>
          <p:nvPr/>
        </p:nvCxnSpPr>
        <p:spPr>
          <a:xfrm>
            <a:off x="3177539" y="2560320"/>
            <a:ext cx="1645921" cy="731519"/>
          </a:xfrm>
          <a:prstGeom prst="line">
            <a:avLst/>
          </a:prstGeom>
          <a:ln w="19050">
            <a:solidFill>
              <a:srgbClr val="7C849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77240" y="4434840"/>
            <a:ext cx="4800600" cy="274320"/>
          </a:xfrm>
          <a:prstGeom prst="rect">
            <a:avLst/>
          </a:prstGeom>
          <a:noFill/>
        </p:spPr>
        <p:txBody>
          <a:bodyPr wrap="square" anchor="t" lIns="0" rIns="0" tIns="0" bIns="0">
            <a:spAutoFit/>
          </a:bodyPr>
          <a:lstStyle/>
          <a:p>
            <a:pPr algn="ctr">
              <a:lnSpc>
                <a:spcPct val="100000"/>
              </a:lnSpc>
            </a:pPr>
            <a:r>
              <a:rPr sz="1100" b="0" i="1">
                <a:solidFill>
                  <a:srgbClr val="7C8493"/>
                </a:solidFill>
                <a:latin typeface="Calibri"/>
              </a:rPr>
              <a:t>Three copies of the same business logic</a:t>
            </a:r>
          </a:p>
        </p:txBody>
      </p:sp>
      <p:sp>
        <p:nvSpPr>
          <p:cNvPr id="19" name="TextBox 18"/>
          <p:cNvSpPr txBox="1"/>
          <p:nvPr/>
        </p:nvSpPr>
        <p:spPr>
          <a:xfrm>
            <a:off x="777240" y="4782312"/>
            <a:ext cx="4800600" cy="320040"/>
          </a:xfrm>
          <a:prstGeom prst="rect">
            <a:avLst/>
          </a:prstGeom>
          <a:noFill/>
        </p:spPr>
        <p:txBody>
          <a:bodyPr wrap="square" anchor="t" lIns="0" rIns="0" tIns="0" bIns="0">
            <a:spAutoFit/>
          </a:bodyPr>
          <a:lstStyle/>
          <a:p>
            <a:pPr algn="ctr">
              <a:lnSpc>
                <a:spcPct val="100000"/>
              </a:lnSpc>
            </a:pPr>
            <a:r>
              <a:rPr sz="1300" b="1" i="0">
                <a:solidFill>
                  <a:srgbClr val="5A5A5A"/>
                </a:solidFill>
                <a:latin typeface="Calibri"/>
              </a:rPr>
              <a:t>Slow, inconsistent, unauditable</a:t>
            </a:r>
          </a:p>
        </p:txBody>
      </p:sp>
      <p:sp>
        <p:nvSpPr>
          <p:cNvPr id="20" name="Rounded Rectangle 19"/>
          <p:cNvSpPr/>
          <p:nvPr/>
        </p:nvSpPr>
        <p:spPr>
          <a:xfrm>
            <a:off x="6126479" y="1417320"/>
            <a:ext cx="5562295" cy="4617720"/>
          </a:xfrm>
          <a:prstGeom prst="roundRect">
            <a:avLst>
              <a:gd name="adj" fmla="val 5000"/>
            </a:avLst>
          </a:prstGeom>
          <a:solidFill>
            <a:srgbClr val="14255C"/>
          </a:solidFill>
          <a:ln w="9525">
            <a:solidFill>
              <a:srgbClr val="E2E0E6"/>
            </a:solid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799" y="1618488"/>
            <a:ext cx="4190695" cy="274320"/>
          </a:xfrm>
          <a:prstGeom prst="rect">
            <a:avLst/>
          </a:prstGeom>
          <a:noFill/>
        </p:spPr>
        <p:txBody>
          <a:bodyPr wrap="square" anchor="t" lIns="0" rIns="0" tIns="0" bIns="0">
            <a:spAutoFit/>
          </a:bodyPr>
          <a:lstStyle/>
          <a:p>
            <a:pPr algn="l">
              <a:lnSpc>
                <a:spcPct val="100000"/>
              </a:lnSpc>
            </a:pPr>
            <a:r>
              <a:rPr sz="1100" b="1" i="0">
                <a:solidFill>
                  <a:srgbClr val="FFFFFF"/>
                </a:solidFill>
                <a:latin typeface="Calibri"/>
              </a:rPr>
              <a:t>AFTER — SHARED FEATURE STORE</a:t>
            </a:r>
          </a:p>
        </p:txBody>
      </p:sp>
      <p:sp>
        <p:nvSpPr>
          <p:cNvPr id="22" name="Rounded Rectangle 21"/>
          <p:cNvSpPr/>
          <p:nvPr/>
        </p:nvSpPr>
        <p:spPr>
          <a:xfrm>
            <a:off x="10454335" y="1563624"/>
            <a:ext cx="1005840" cy="310896"/>
          </a:xfrm>
          <a:prstGeom prst="roundRect">
            <a:avLst>
              <a:gd name="adj" fmla="val 50000"/>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454335" y="1563624"/>
            <a:ext cx="1005840" cy="310896"/>
          </a:xfrm>
          <a:prstGeom prst="rect">
            <a:avLst/>
          </a:prstGeom>
          <a:noFill/>
        </p:spPr>
        <p:txBody>
          <a:bodyPr wrap="square" anchor="ctr" lIns="0" rIns="0" tIns="0" bIns="0">
            <a:spAutoFit/>
          </a:bodyPr>
          <a:lstStyle/>
          <a:p>
            <a:pPr algn="ctr">
              <a:lnSpc>
                <a:spcPct val="100000"/>
              </a:lnSpc>
            </a:pPr>
            <a:r>
              <a:rPr sz="1050" b="1" i="0">
                <a:solidFill>
                  <a:srgbClr val="FFFFFF"/>
                </a:solidFill>
                <a:latin typeface="Calibri"/>
              </a:rPr>
              <a:t>~130 ms</a:t>
            </a:r>
          </a:p>
        </p:txBody>
      </p:sp>
      <p:sp>
        <p:nvSpPr>
          <p:cNvPr id="24" name="Rounded Rectangle 23"/>
          <p:cNvSpPr/>
          <p:nvPr/>
        </p:nvSpPr>
        <p:spPr>
          <a:xfrm>
            <a:off x="7993227" y="2011680"/>
            <a:ext cx="1828800" cy="548640"/>
          </a:xfrm>
          <a:prstGeom prst="roundRect">
            <a:avLst>
              <a:gd name="adj" fmla="val 10000"/>
            </a:avLst>
          </a:prstGeom>
          <a:solidFill>
            <a:srgbClr val="2233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93227" y="2011680"/>
            <a:ext cx="1828800" cy="548640"/>
          </a:xfrm>
          <a:prstGeom prst="rect">
            <a:avLst/>
          </a:prstGeom>
          <a:noFill/>
        </p:spPr>
        <p:txBody>
          <a:bodyPr wrap="square" anchor="ctr" lIns="0" rIns="0" tIns="0" bIns="0">
            <a:spAutoFit/>
          </a:bodyPr>
          <a:lstStyle/>
          <a:p>
            <a:pPr algn="ctr">
              <a:lnSpc>
                <a:spcPct val="100000"/>
              </a:lnSpc>
            </a:pPr>
            <a:r>
              <a:rPr sz="1000" b="1" i="0">
                <a:solidFill>
                  <a:srgbClr val="FFFFFF"/>
                </a:solidFill>
                <a:latin typeface="Calibri"/>
              </a:rPr>
              <a:t>AUTO_FEATURES_ACTIVE</a:t>
            </a:r>
          </a:p>
        </p:txBody>
      </p:sp>
      <p:sp>
        <p:nvSpPr>
          <p:cNvPr id="26" name="Rounded Rectangle 25"/>
          <p:cNvSpPr/>
          <p:nvPr/>
        </p:nvSpPr>
        <p:spPr>
          <a:xfrm>
            <a:off x="6553047" y="3291839"/>
            <a:ext cx="1417320" cy="868680"/>
          </a:xfrm>
          <a:prstGeom prst="roundRect">
            <a:avLst>
              <a:gd name="adj" fmla="val 10000"/>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53047" y="3291839"/>
            <a:ext cx="1417320" cy="868680"/>
          </a:xfrm>
          <a:prstGeom prst="rect">
            <a:avLst/>
          </a:prstGeom>
          <a:noFill/>
        </p:spPr>
        <p:txBody>
          <a:bodyPr wrap="square" anchor="ctr" lIns="0" rIns="0" tIns="0" bIns="0">
            <a:spAutoFit/>
          </a:bodyPr>
          <a:lstStyle/>
          <a:p>
            <a:pPr algn="ctr">
              <a:lnSpc>
                <a:spcPct val="100000"/>
              </a:lnSpc>
            </a:pPr>
            <a:r>
              <a:rPr sz="1000" b="1" i="0">
                <a:solidFill>
                  <a:srgbClr val="FFFFFF"/>
                </a:solidFill>
                <a:latin typeface="Calibri"/>
              </a:rPr>
              <a:t>Model A</a:t>
            </a:r>
          </a:p>
          <a:p>
            <a:pPr algn="ctr">
              <a:lnSpc>
                <a:spcPct val="100000"/>
              </a:lnSpc>
            </a:pPr>
            <a:r>
              <a:rPr sz="1000" b="1" i="0">
                <a:solidFill>
                  <a:srgbClr val="FFFFFF"/>
                </a:solidFill>
                <a:latin typeface="Calibri"/>
              </a:rPr>
              <a:t>reads</a:t>
            </a:r>
          </a:p>
        </p:txBody>
      </p:sp>
      <p:cxnSp>
        <p:nvCxnSpPr>
          <p:cNvPr id="28" name="Connector 27"/>
          <p:cNvCxnSpPr/>
          <p:nvPr/>
        </p:nvCxnSpPr>
        <p:spPr>
          <a:xfrm flipH="1">
            <a:off x="7261707" y="2560320"/>
            <a:ext cx="1645920" cy="731519"/>
          </a:xfrm>
          <a:prstGeom prst="line">
            <a:avLst/>
          </a:prstGeom>
          <a:ln w="19050">
            <a:solidFill>
              <a:srgbClr val="C9D8EC"/>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8198967" y="3291839"/>
            <a:ext cx="1417320" cy="868680"/>
          </a:xfrm>
          <a:prstGeom prst="roundRect">
            <a:avLst>
              <a:gd name="adj" fmla="val 10000"/>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98967" y="3291839"/>
            <a:ext cx="1417320" cy="868680"/>
          </a:xfrm>
          <a:prstGeom prst="rect">
            <a:avLst/>
          </a:prstGeom>
          <a:noFill/>
        </p:spPr>
        <p:txBody>
          <a:bodyPr wrap="square" anchor="ctr" lIns="0" rIns="0" tIns="0" bIns="0">
            <a:spAutoFit/>
          </a:bodyPr>
          <a:lstStyle/>
          <a:p>
            <a:pPr algn="ctr">
              <a:lnSpc>
                <a:spcPct val="100000"/>
              </a:lnSpc>
            </a:pPr>
            <a:r>
              <a:rPr sz="1000" b="1" i="0">
                <a:solidFill>
                  <a:srgbClr val="FFFFFF"/>
                </a:solidFill>
                <a:latin typeface="Calibri"/>
              </a:rPr>
              <a:t>Model B</a:t>
            </a:r>
          </a:p>
          <a:p>
            <a:pPr algn="ctr">
              <a:lnSpc>
                <a:spcPct val="100000"/>
              </a:lnSpc>
            </a:pPr>
            <a:r>
              <a:rPr sz="1000" b="1" i="0">
                <a:solidFill>
                  <a:srgbClr val="FFFFFF"/>
                </a:solidFill>
                <a:latin typeface="Calibri"/>
              </a:rPr>
              <a:t>reads</a:t>
            </a:r>
          </a:p>
        </p:txBody>
      </p:sp>
      <p:cxnSp>
        <p:nvCxnSpPr>
          <p:cNvPr id="31" name="Connector 30"/>
          <p:cNvCxnSpPr/>
          <p:nvPr/>
        </p:nvCxnSpPr>
        <p:spPr>
          <a:xfrm>
            <a:off x="8907627" y="2560320"/>
            <a:ext cx="0" cy="731519"/>
          </a:xfrm>
          <a:prstGeom prst="line">
            <a:avLst/>
          </a:prstGeom>
          <a:ln w="19050">
            <a:solidFill>
              <a:srgbClr val="C9D8EC"/>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9844887" y="3291839"/>
            <a:ext cx="1417320" cy="868680"/>
          </a:xfrm>
          <a:prstGeom prst="roundRect">
            <a:avLst>
              <a:gd name="adj" fmla="val 10000"/>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844887" y="3291839"/>
            <a:ext cx="1417320" cy="868680"/>
          </a:xfrm>
          <a:prstGeom prst="rect">
            <a:avLst/>
          </a:prstGeom>
          <a:noFill/>
        </p:spPr>
        <p:txBody>
          <a:bodyPr wrap="square" anchor="ctr" lIns="0" rIns="0" tIns="0" bIns="0">
            <a:spAutoFit/>
          </a:bodyPr>
          <a:lstStyle/>
          <a:p>
            <a:pPr algn="ctr">
              <a:lnSpc>
                <a:spcPct val="100000"/>
              </a:lnSpc>
            </a:pPr>
            <a:r>
              <a:rPr sz="1000" b="1" i="0">
                <a:solidFill>
                  <a:srgbClr val="FFFFFF"/>
                </a:solidFill>
                <a:latin typeface="Calibri"/>
              </a:rPr>
              <a:t>Model C</a:t>
            </a:r>
          </a:p>
          <a:p>
            <a:pPr algn="ctr">
              <a:lnSpc>
                <a:spcPct val="100000"/>
              </a:lnSpc>
            </a:pPr>
            <a:r>
              <a:rPr sz="1000" b="1" i="0">
                <a:solidFill>
                  <a:srgbClr val="FFFFFF"/>
                </a:solidFill>
                <a:latin typeface="Calibri"/>
              </a:rPr>
              <a:t>reads</a:t>
            </a:r>
          </a:p>
        </p:txBody>
      </p:sp>
      <p:cxnSp>
        <p:nvCxnSpPr>
          <p:cNvPr id="34" name="Connector 33"/>
          <p:cNvCxnSpPr/>
          <p:nvPr/>
        </p:nvCxnSpPr>
        <p:spPr>
          <a:xfrm>
            <a:off x="8907627" y="2560320"/>
            <a:ext cx="1645920" cy="731519"/>
          </a:xfrm>
          <a:prstGeom prst="line">
            <a:avLst/>
          </a:prstGeom>
          <a:ln w="19050">
            <a:solidFill>
              <a:srgbClr val="C9D8EC"/>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400799" y="4434840"/>
            <a:ext cx="5013655" cy="274320"/>
          </a:xfrm>
          <a:prstGeom prst="rect">
            <a:avLst/>
          </a:prstGeom>
          <a:noFill/>
        </p:spPr>
        <p:txBody>
          <a:bodyPr wrap="square" anchor="t" lIns="0" rIns="0" tIns="0" bIns="0">
            <a:spAutoFit/>
          </a:bodyPr>
          <a:lstStyle/>
          <a:p>
            <a:pPr algn="ctr">
              <a:lnSpc>
                <a:spcPct val="100000"/>
              </a:lnSpc>
            </a:pPr>
            <a:r>
              <a:rPr sz="1100" b="0" i="1">
                <a:solidFill>
                  <a:srgbClr val="C9D8EC"/>
                </a:solidFill>
                <a:latin typeface="Calibri"/>
              </a:rPr>
              <a:t>Computed once per policy, versioned by effective date</a:t>
            </a:r>
          </a:p>
        </p:txBody>
      </p:sp>
      <p:sp>
        <p:nvSpPr>
          <p:cNvPr id="36" name="TextBox 35"/>
          <p:cNvSpPr txBox="1"/>
          <p:nvPr/>
        </p:nvSpPr>
        <p:spPr>
          <a:xfrm>
            <a:off x="6400799" y="4782312"/>
            <a:ext cx="5013655" cy="320040"/>
          </a:xfrm>
          <a:prstGeom prst="rect">
            <a:avLst/>
          </a:prstGeom>
          <a:noFill/>
        </p:spPr>
        <p:txBody>
          <a:bodyPr wrap="square" anchor="t" lIns="0" rIns="0" tIns="0" bIns="0">
            <a:spAutoFit/>
          </a:bodyPr>
          <a:lstStyle/>
          <a:p>
            <a:pPr algn="ctr">
              <a:lnSpc>
                <a:spcPct val="100000"/>
              </a:lnSpc>
            </a:pPr>
            <a:r>
              <a:rPr sz="1300" b="1" i="0">
                <a:solidFill>
                  <a:srgbClr val="FFFFFF"/>
                </a:solidFill>
                <a:latin typeface="Calibri"/>
              </a:rPr>
              <a:t>Fast, consistent, traceable</a:t>
            </a:r>
          </a:p>
        </p:txBody>
      </p:sp>
      <p:cxnSp>
        <p:nvCxnSpPr>
          <p:cNvPr id="37" name="Connector 36"/>
          <p:cNvCxnSpPr/>
          <p:nvPr/>
        </p:nvCxnSpPr>
        <p:spPr>
          <a:xfrm>
            <a:off x="411480" y="6473952"/>
            <a:ext cx="11384280" cy="0"/>
          </a:xfrm>
          <a:prstGeom prst="line">
            <a:avLst/>
          </a:prstGeom>
          <a:ln w="9525">
            <a:solidFill>
              <a:srgbClr val="E2E0E6"/>
            </a:solidFill>
          </a:ln>
          <a:effectLst/>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411480" y="6528816"/>
            <a:ext cx="548640" cy="274320"/>
          </a:xfrm>
          <a:prstGeom prst="rect">
            <a:avLst/>
          </a:prstGeom>
          <a:noFill/>
        </p:spPr>
        <p:txBody>
          <a:bodyPr wrap="square" anchor="t" lIns="0" rIns="0" tIns="0" bIns="0">
            <a:spAutoFit/>
          </a:bodyPr>
          <a:lstStyle/>
          <a:p>
            <a:pPr algn="l">
              <a:lnSpc>
                <a:spcPct val="100000"/>
              </a:lnSpc>
            </a:pPr>
            <a:r>
              <a:rPr sz="1050" b="0" i="0">
                <a:solidFill>
                  <a:srgbClr val="7C8493"/>
                </a:solidFill>
                <a:latin typeface="Calibri"/>
              </a:rPr>
              <a:t>3</a:t>
            </a:r>
          </a:p>
        </p:txBody>
      </p:sp>
      <p:sp>
        <p:nvSpPr>
          <p:cNvPr id="39" name="Block Arc 38"/>
          <p:cNvSpPr/>
          <p:nvPr/>
        </p:nvSpPr>
        <p:spPr>
          <a:xfrm>
            <a:off x="9921240" y="6492240"/>
            <a:ext cx="237744" cy="219456"/>
          </a:xfrm>
          <a:prstGeom prst="blockArc">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22992" y="6473952"/>
            <a:ext cx="1554480" cy="201168"/>
          </a:xfrm>
          <a:prstGeom prst="rect">
            <a:avLst/>
          </a:prstGeom>
          <a:noFill/>
        </p:spPr>
        <p:txBody>
          <a:bodyPr wrap="square" anchor="t" lIns="0" rIns="0" tIns="0" bIns="0">
            <a:spAutoFit/>
          </a:bodyPr>
          <a:lstStyle/>
          <a:p>
            <a:pPr algn="l">
              <a:lnSpc>
                <a:spcPct val="100000"/>
              </a:lnSpc>
            </a:pPr>
            <a:r>
              <a:rPr sz="1050" b="1" i="0">
                <a:solidFill>
                  <a:srgbClr val="14255C"/>
                </a:solidFill>
                <a:latin typeface="Calibri"/>
              </a:rPr>
              <a:t>FARMERS</a:t>
            </a:r>
          </a:p>
        </p:txBody>
      </p:sp>
      <p:sp>
        <p:nvSpPr>
          <p:cNvPr id="41" name="TextBox 40"/>
          <p:cNvSpPr txBox="1"/>
          <p:nvPr/>
        </p:nvSpPr>
        <p:spPr>
          <a:xfrm>
            <a:off x="10222992" y="6647688"/>
            <a:ext cx="1554480" cy="182880"/>
          </a:xfrm>
          <a:prstGeom prst="rect">
            <a:avLst/>
          </a:prstGeom>
          <a:noFill/>
        </p:spPr>
        <p:txBody>
          <a:bodyPr wrap="square" anchor="t" lIns="0" rIns="0" tIns="0" bIns="0">
            <a:spAutoFit/>
          </a:bodyPr>
          <a:lstStyle/>
          <a:p>
            <a:pPr algn="l">
              <a:lnSpc>
                <a:spcPct val="100000"/>
              </a:lnSpc>
            </a:pPr>
            <a:r>
              <a:rPr sz="700" b="1" i="0">
                <a:solidFill>
                  <a:srgbClr val="7C8493"/>
                </a:solidFill>
                <a:latin typeface="Calibri"/>
              </a:rPr>
              <a:t>INSURANCE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10515600" cy="274320"/>
          </a:xfrm>
          <a:prstGeom prst="rect">
            <a:avLst/>
          </a:prstGeom>
          <a:noFill/>
        </p:spPr>
        <p:txBody>
          <a:bodyPr wrap="square" anchor="t" lIns="0" rIns="0" tIns="0" bIns="0">
            <a:spAutoFit/>
          </a:bodyPr>
          <a:lstStyle/>
          <a:p>
            <a:pPr algn="l">
              <a:lnSpc>
                <a:spcPct val="100000"/>
              </a:lnSpc>
            </a:pPr>
            <a:r>
              <a:rPr sz="1100" b="1" i="0">
                <a:solidFill>
                  <a:srgbClr val="B8872E"/>
                </a:solidFill>
                <a:latin typeface="Calibri"/>
              </a:rPr>
              <a:t>HOW IT'S BUILT</a:t>
            </a:r>
          </a:p>
        </p:txBody>
      </p:sp>
      <p:sp>
        <p:nvSpPr>
          <p:cNvPr id="3" name="TextBox 2"/>
          <p:cNvSpPr txBox="1"/>
          <p:nvPr/>
        </p:nvSpPr>
        <p:spPr>
          <a:xfrm>
            <a:off x="502920" y="438912"/>
            <a:ext cx="10515600" cy="594360"/>
          </a:xfrm>
          <a:prstGeom prst="rect">
            <a:avLst/>
          </a:prstGeom>
          <a:noFill/>
        </p:spPr>
        <p:txBody>
          <a:bodyPr wrap="square" anchor="t" lIns="0" rIns="0" tIns="0" bIns="0">
            <a:spAutoFit/>
          </a:bodyPr>
          <a:lstStyle/>
          <a:p>
            <a:pPr algn="l">
              <a:lnSpc>
                <a:spcPct val="100000"/>
              </a:lnSpc>
            </a:pPr>
            <a:r>
              <a:rPr sz="2600" b="1" i="0">
                <a:solidFill>
                  <a:srgbClr val="14255C"/>
                </a:solidFill>
                <a:latin typeface="Calibri"/>
              </a:rPr>
              <a:t>Five Stages, One Pipeline</a:t>
            </a:r>
          </a:p>
        </p:txBody>
      </p:sp>
      <p:cxnSp>
        <p:nvCxnSpPr>
          <p:cNvPr id="4" name="Connector 3"/>
          <p:cNvCxnSpPr/>
          <p:nvPr/>
        </p:nvCxnSpPr>
        <p:spPr>
          <a:xfrm>
            <a:off x="502920" y="1042415"/>
            <a:ext cx="11183112" cy="0"/>
          </a:xfrm>
          <a:prstGeom prst="line">
            <a:avLst/>
          </a:prstGeom>
          <a:ln w="28575">
            <a:solidFill>
              <a:srgbClr val="14255C"/>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86003" y="3063240"/>
            <a:ext cx="1965960" cy="1188720"/>
          </a:xfrm>
          <a:prstGeom prst="roundRect">
            <a:avLst>
              <a:gd name="adj" fmla="val 14000"/>
            </a:avLst>
          </a:prstGeom>
          <a:solidFill>
            <a:srgbClr val="14255C"/>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pPr>
            <a:r>
              <a:rPr sz="1400" b="1">
                <a:solidFill>
                  <a:srgbClr val="FFFFFF"/>
                </a:solidFill>
                <a:latin typeface="Calibri"/>
              </a:rPr>
              <a:t>Policy
Transaction</a:t>
            </a:r>
          </a:p>
          <a:p>
            <a:pPr algn="ctr">
              <a:lnSpc>
                <a:spcPct val="100000"/>
              </a:lnSpc>
              <a:spcBef>
                <a:spcPts val="600"/>
              </a:spcBef>
            </a:pPr>
            <a:r>
              <a:rPr sz="950">
                <a:solidFill>
                  <a:srgbClr val="C9D8EC"/>
                </a:solidFill>
                <a:latin typeface="Calibri"/>
              </a:rPr>
              <a:t>JSON file lands</a:t>
            </a:r>
          </a:p>
        </p:txBody>
      </p:sp>
      <p:sp>
        <p:nvSpPr>
          <p:cNvPr id="6" name="Rounded Rectangle 5"/>
          <p:cNvSpPr/>
          <p:nvPr/>
        </p:nvSpPr>
        <p:spPr>
          <a:xfrm>
            <a:off x="2799435" y="3063240"/>
            <a:ext cx="1965960" cy="1188720"/>
          </a:xfrm>
          <a:prstGeom prst="roundRect">
            <a:avLst>
              <a:gd name="adj" fmla="val 14000"/>
            </a:avLst>
          </a:prstGeom>
          <a:solidFill>
            <a:srgbClr val="14255C"/>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pPr>
            <a:r>
              <a:rPr sz="1400" b="1">
                <a:solidFill>
                  <a:srgbClr val="FFFFFF"/>
                </a:solidFill>
                <a:latin typeface="Calibri"/>
              </a:rPr>
              <a:t>Compute
Features</a:t>
            </a:r>
          </a:p>
          <a:p>
            <a:pPr algn="ctr">
              <a:lnSpc>
                <a:spcPct val="100000"/>
              </a:lnSpc>
              <a:spcBef>
                <a:spcPts val="600"/>
              </a:spcBef>
            </a:pPr>
            <a:r>
              <a:rPr sz="950">
                <a:solidFill>
                  <a:srgbClr val="C9D8EC"/>
                </a:solidFill>
                <a:latin typeface="Calibri"/>
              </a:rPr>
              <a:t>PySpark derives policy
features</a:t>
            </a:r>
          </a:p>
        </p:txBody>
      </p:sp>
      <p:sp>
        <p:nvSpPr>
          <p:cNvPr id="7" name="Rounded Rectangle 6"/>
          <p:cNvSpPr/>
          <p:nvPr/>
        </p:nvSpPr>
        <p:spPr>
          <a:xfrm>
            <a:off x="5112867" y="3063240"/>
            <a:ext cx="1965960" cy="1188720"/>
          </a:xfrm>
          <a:prstGeom prst="roundRect">
            <a:avLst>
              <a:gd name="adj" fmla="val 14000"/>
            </a:avLst>
          </a:prstGeom>
          <a:solidFill>
            <a:srgbClr val="14255C"/>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pPr>
            <a:r>
              <a:rPr sz="1400" b="1">
                <a:solidFill>
                  <a:srgbClr val="FFFFFF"/>
                </a:solidFill>
                <a:latin typeface="Calibri"/>
              </a:rPr>
              <a:t>Registry
Control</a:t>
            </a:r>
          </a:p>
          <a:p>
            <a:pPr algn="ctr">
              <a:lnSpc>
                <a:spcPct val="100000"/>
              </a:lnSpc>
              <a:spcBef>
                <a:spcPts val="600"/>
              </a:spcBef>
            </a:pPr>
            <a:r>
              <a:rPr sz="950">
                <a:solidFill>
                  <a:srgbClr val="C9D8EC"/>
                </a:solidFill>
                <a:latin typeface="Calibri"/>
              </a:rPr>
              <a:t>Immediate or effective-
date routing</a:t>
            </a:r>
          </a:p>
        </p:txBody>
      </p:sp>
      <p:sp>
        <p:nvSpPr>
          <p:cNvPr id="8" name="Rounded Rectangle 7"/>
          <p:cNvSpPr/>
          <p:nvPr/>
        </p:nvSpPr>
        <p:spPr>
          <a:xfrm>
            <a:off x="7426299" y="3063240"/>
            <a:ext cx="1965960" cy="1188720"/>
          </a:xfrm>
          <a:prstGeom prst="roundRect">
            <a:avLst>
              <a:gd name="adj" fmla="val 14000"/>
            </a:avLst>
          </a:prstGeom>
          <a:solidFill>
            <a:srgbClr val="14255C"/>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pPr>
            <a:r>
              <a:rPr sz="1400" b="1">
                <a:solidFill>
                  <a:srgbClr val="FFFFFF"/>
                </a:solidFill>
                <a:latin typeface="Calibri"/>
              </a:rPr>
              <a:t>Online
Feature Store</a:t>
            </a:r>
          </a:p>
          <a:p>
            <a:pPr algn="ctr">
              <a:lnSpc>
                <a:spcPct val="100000"/>
              </a:lnSpc>
              <a:spcBef>
                <a:spcPts val="600"/>
              </a:spcBef>
            </a:pPr>
            <a:r>
              <a:rPr sz="950">
                <a:solidFill>
                  <a:srgbClr val="C9D8EC"/>
                </a:solidFill>
                <a:latin typeface="Calibri"/>
              </a:rPr>
              <a:t>Active table syncs to
Lakebase</a:t>
            </a:r>
          </a:p>
        </p:txBody>
      </p:sp>
      <p:sp>
        <p:nvSpPr>
          <p:cNvPr id="9" name="Rounded Rectangle 8"/>
          <p:cNvSpPr/>
          <p:nvPr/>
        </p:nvSpPr>
        <p:spPr>
          <a:xfrm>
            <a:off x="9739731" y="3063240"/>
            <a:ext cx="1965960" cy="1188720"/>
          </a:xfrm>
          <a:prstGeom prst="roundRect">
            <a:avLst>
              <a:gd name="adj" fmla="val 14000"/>
            </a:avLst>
          </a:prstGeom>
          <a:solidFill>
            <a:srgbClr val="14255C"/>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pPr>
            <a:r>
              <a:rPr sz="1400" b="1">
                <a:solidFill>
                  <a:srgbClr val="FFFFFF"/>
                </a:solidFill>
                <a:latin typeface="Calibri"/>
              </a:rPr>
              <a:t>End point</a:t>
            </a:r>
          </a:p>
          <a:p>
            <a:pPr algn="ctr">
              <a:lnSpc>
                <a:spcPct val="100000"/>
              </a:lnSpc>
              <a:spcBef>
                <a:spcPts val="600"/>
              </a:spcBef>
            </a:pPr>
            <a:r>
              <a:rPr sz="950">
                <a:solidFill>
                  <a:srgbClr val="C9D8EC"/>
                </a:solidFill>
                <a:latin typeface="Calibri"/>
              </a:rPr>
              <a:t>Lookup by
policyId/number</a:t>
            </a:r>
          </a:p>
        </p:txBody>
      </p:sp>
      <p:cxnSp>
        <p:nvCxnSpPr>
          <p:cNvPr id="10" name="Connector 9"/>
          <p:cNvCxnSpPr/>
          <p:nvPr/>
        </p:nvCxnSpPr>
        <p:spPr>
          <a:xfrm>
            <a:off x="2451963" y="3657600"/>
            <a:ext cx="347472" cy="0"/>
          </a:xfrm>
          <a:prstGeom prst="line">
            <a:avLst/>
          </a:prstGeom>
          <a:ln w="31750">
            <a:solidFill>
              <a:srgbClr val="14255C"/>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765395" y="3657600"/>
            <a:ext cx="347472" cy="0"/>
          </a:xfrm>
          <a:prstGeom prst="line">
            <a:avLst/>
          </a:prstGeom>
          <a:ln w="31750">
            <a:solidFill>
              <a:srgbClr val="14255C"/>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078827" y="3657600"/>
            <a:ext cx="347472" cy="0"/>
          </a:xfrm>
          <a:prstGeom prst="line">
            <a:avLst/>
          </a:prstGeom>
          <a:ln w="31750">
            <a:solidFill>
              <a:srgbClr val="14255C"/>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392259" y="3657600"/>
            <a:ext cx="347472" cy="0"/>
          </a:xfrm>
          <a:prstGeom prst="line">
            <a:avLst/>
          </a:prstGeom>
          <a:ln w="31750">
            <a:solidFill>
              <a:srgbClr val="14255C"/>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0" y="1463040"/>
            <a:ext cx="12191695" cy="1280160"/>
          </a:xfrm>
          <a:prstGeom prst="rect">
            <a:avLst/>
          </a:prstGeom>
          <a:noFill/>
        </p:spPr>
        <p:txBody>
          <a:bodyPr wrap="square" anchor="t" lIns="0" rIns="0" tIns="0" bIns="0">
            <a:spAutoFit/>
          </a:bodyPr>
          <a:lstStyle/>
          <a:p>
            <a:pPr algn="ctr">
              <a:lnSpc>
                <a:spcPct val="120000"/>
              </a:lnSpc>
            </a:pPr>
            <a:r>
              <a:rPr sz="1500" b="0" i="1">
                <a:solidFill>
                  <a:srgbClr val="7C8493"/>
                </a:solidFill>
                <a:latin typeface="Calibri"/>
              </a:rPr>
              <a:t>One JSON transaction becomes one row of governed, versioned features — computed once, routed correctly, and served fast.</a:t>
            </a:r>
          </a:p>
        </p:txBody>
      </p:sp>
      <p:cxnSp>
        <p:nvCxnSpPr>
          <p:cNvPr id="15" name="Connector 14"/>
          <p:cNvCxnSpPr/>
          <p:nvPr/>
        </p:nvCxnSpPr>
        <p:spPr>
          <a:xfrm>
            <a:off x="411480" y="6473952"/>
            <a:ext cx="11384280" cy="0"/>
          </a:xfrm>
          <a:prstGeom prst="line">
            <a:avLst/>
          </a:prstGeom>
          <a:ln w="9525">
            <a:solidFill>
              <a:srgbClr val="E2E0E6"/>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11480" y="6528816"/>
            <a:ext cx="548640" cy="274320"/>
          </a:xfrm>
          <a:prstGeom prst="rect">
            <a:avLst/>
          </a:prstGeom>
          <a:noFill/>
        </p:spPr>
        <p:txBody>
          <a:bodyPr wrap="square" anchor="t" lIns="0" rIns="0" tIns="0" bIns="0">
            <a:spAutoFit/>
          </a:bodyPr>
          <a:lstStyle/>
          <a:p>
            <a:pPr algn="l">
              <a:lnSpc>
                <a:spcPct val="100000"/>
              </a:lnSpc>
            </a:pPr>
            <a:r>
              <a:rPr sz="1050" b="0" i="0">
                <a:solidFill>
                  <a:srgbClr val="7C8493"/>
                </a:solidFill>
                <a:latin typeface="Calibri"/>
              </a:rPr>
              <a:t>4</a:t>
            </a:r>
          </a:p>
        </p:txBody>
      </p:sp>
      <p:sp>
        <p:nvSpPr>
          <p:cNvPr id="17" name="Block Arc 16"/>
          <p:cNvSpPr/>
          <p:nvPr/>
        </p:nvSpPr>
        <p:spPr>
          <a:xfrm>
            <a:off x="9921240" y="6492240"/>
            <a:ext cx="237744" cy="219456"/>
          </a:xfrm>
          <a:prstGeom prst="blockArc">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22992" y="6473952"/>
            <a:ext cx="1554480" cy="201168"/>
          </a:xfrm>
          <a:prstGeom prst="rect">
            <a:avLst/>
          </a:prstGeom>
          <a:noFill/>
        </p:spPr>
        <p:txBody>
          <a:bodyPr wrap="square" anchor="t" lIns="0" rIns="0" tIns="0" bIns="0">
            <a:spAutoFit/>
          </a:bodyPr>
          <a:lstStyle/>
          <a:p>
            <a:pPr algn="l">
              <a:lnSpc>
                <a:spcPct val="100000"/>
              </a:lnSpc>
            </a:pPr>
            <a:r>
              <a:rPr sz="1050" b="1" i="0">
                <a:solidFill>
                  <a:srgbClr val="14255C"/>
                </a:solidFill>
                <a:latin typeface="Calibri"/>
              </a:rPr>
              <a:t>FARMERS</a:t>
            </a:r>
          </a:p>
        </p:txBody>
      </p:sp>
      <p:sp>
        <p:nvSpPr>
          <p:cNvPr id="19" name="TextBox 18"/>
          <p:cNvSpPr txBox="1"/>
          <p:nvPr/>
        </p:nvSpPr>
        <p:spPr>
          <a:xfrm>
            <a:off x="10222992" y="6647688"/>
            <a:ext cx="1554480" cy="182880"/>
          </a:xfrm>
          <a:prstGeom prst="rect">
            <a:avLst/>
          </a:prstGeom>
          <a:noFill/>
        </p:spPr>
        <p:txBody>
          <a:bodyPr wrap="square" anchor="t" lIns="0" rIns="0" tIns="0" bIns="0">
            <a:spAutoFit/>
          </a:bodyPr>
          <a:lstStyle/>
          <a:p>
            <a:pPr algn="l">
              <a:lnSpc>
                <a:spcPct val="100000"/>
              </a:lnSpc>
            </a:pPr>
            <a:r>
              <a:rPr sz="700" b="1" i="0">
                <a:solidFill>
                  <a:srgbClr val="7C8493"/>
                </a:solidFill>
                <a:latin typeface="Calibri"/>
              </a:rPr>
              <a:t>INSURANCE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10515600" cy="274320"/>
          </a:xfrm>
          <a:prstGeom prst="rect">
            <a:avLst/>
          </a:prstGeom>
          <a:noFill/>
        </p:spPr>
        <p:txBody>
          <a:bodyPr wrap="square" anchor="t" lIns="0" rIns="0" tIns="0" bIns="0">
            <a:spAutoFit/>
          </a:bodyPr>
          <a:lstStyle/>
          <a:p>
            <a:pPr algn="l">
              <a:lnSpc>
                <a:spcPct val="100000"/>
              </a:lnSpc>
            </a:pPr>
            <a:r>
              <a:rPr sz="1100" b="1" i="0">
                <a:solidFill>
                  <a:srgbClr val="B8872E"/>
                </a:solidFill>
                <a:latin typeface="Calibri"/>
              </a:rPr>
              <a:t>HOW IT'S BUILT</a:t>
            </a:r>
          </a:p>
        </p:txBody>
      </p:sp>
      <p:sp>
        <p:nvSpPr>
          <p:cNvPr id="3" name="TextBox 2"/>
          <p:cNvSpPr txBox="1"/>
          <p:nvPr/>
        </p:nvSpPr>
        <p:spPr>
          <a:xfrm>
            <a:off x="502920" y="438912"/>
            <a:ext cx="10515600" cy="594360"/>
          </a:xfrm>
          <a:prstGeom prst="rect">
            <a:avLst/>
          </a:prstGeom>
          <a:noFill/>
        </p:spPr>
        <p:txBody>
          <a:bodyPr wrap="square" anchor="t" lIns="0" rIns="0" tIns="0" bIns="0">
            <a:spAutoFit/>
          </a:bodyPr>
          <a:lstStyle/>
          <a:p>
            <a:pPr algn="l">
              <a:lnSpc>
                <a:spcPct val="100000"/>
              </a:lnSpc>
            </a:pPr>
            <a:r>
              <a:rPr sz="2600" b="1" i="0">
                <a:solidFill>
                  <a:srgbClr val="14255C"/>
                </a:solidFill>
                <a:latin typeface="Calibri"/>
              </a:rPr>
              <a:t>Under the Hood</a:t>
            </a:r>
          </a:p>
        </p:txBody>
      </p:sp>
      <p:cxnSp>
        <p:nvCxnSpPr>
          <p:cNvPr id="4" name="Connector 3"/>
          <p:cNvCxnSpPr/>
          <p:nvPr/>
        </p:nvCxnSpPr>
        <p:spPr>
          <a:xfrm>
            <a:off x="502920" y="1042415"/>
            <a:ext cx="11183112" cy="0"/>
          </a:xfrm>
          <a:prstGeom prst="line">
            <a:avLst/>
          </a:prstGeom>
          <a:ln w="28575">
            <a:solidFill>
              <a:srgbClr val="14255C"/>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02920" y="1325880"/>
            <a:ext cx="4709160" cy="566928"/>
          </a:xfrm>
          <a:prstGeom prst="roundRect">
            <a:avLst>
              <a:gd name="adj" fmla="val 10000"/>
            </a:avLst>
          </a:prstGeom>
          <a:solidFill>
            <a:srgbClr val="14255C"/>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95000"/>
              </a:lnSpc>
            </a:pPr>
            <a:r>
              <a:rPr sz="1050" b="1">
                <a:solidFill>
                  <a:srgbClr val="FFFFFF"/>
                </a:solidFill>
                <a:latin typeface="Calibri"/>
              </a:rPr>
              <a:t>Transaction JSON
(Auto Loader)</a:t>
            </a:r>
          </a:p>
        </p:txBody>
      </p:sp>
      <p:sp>
        <p:nvSpPr>
          <p:cNvPr id="6" name="Rounded Rectangle 5"/>
          <p:cNvSpPr/>
          <p:nvPr/>
        </p:nvSpPr>
        <p:spPr>
          <a:xfrm>
            <a:off x="502920" y="2093976"/>
            <a:ext cx="4709160" cy="566928"/>
          </a:xfrm>
          <a:prstGeom prst="roundRect">
            <a:avLst>
              <a:gd name="adj" fmla="val 10000"/>
            </a:avLst>
          </a:prstGeom>
          <a:solidFill>
            <a:srgbClr val="0D1B42"/>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95000"/>
              </a:lnSpc>
            </a:pPr>
            <a:r>
              <a:rPr sz="1050" b="1">
                <a:solidFill>
                  <a:srgbClr val="FFFFFF"/>
                </a:solidFill>
                <a:latin typeface="Calibri"/>
              </a:rPr>
              <a:t>RAW_POLICY_EVENTS
(Bronze)</a:t>
            </a:r>
          </a:p>
        </p:txBody>
      </p:sp>
      <p:sp>
        <p:nvSpPr>
          <p:cNvPr id="7" name="Rounded Rectangle 6"/>
          <p:cNvSpPr/>
          <p:nvPr/>
        </p:nvSpPr>
        <p:spPr>
          <a:xfrm>
            <a:off x="502920" y="2862072"/>
            <a:ext cx="4709160" cy="566928"/>
          </a:xfrm>
          <a:prstGeom prst="roundRect">
            <a:avLst>
              <a:gd name="adj" fmla="val 10000"/>
            </a:avLst>
          </a:prstGeom>
          <a:solidFill>
            <a:srgbClr val="14255C"/>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95000"/>
              </a:lnSpc>
            </a:pPr>
            <a:r>
              <a:rPr sz="1050" b="1">
                <a:solidFill>
                  <a:srgbClr val="FFFFFF"/>
                </a:solidFill>
                <a:latin typeface="Calibri"/>
              </a:rPr>
              <a:t>PySpark Feature
Computation</a:t>
            </a:r>
          </a:p>
        </p:txBody>
      </p:sp>
      <p:sp>
        <p:nvSpPr>
          <p:cNvPr id="8" name="Rounded Rectangle 7"/>
          <p:cNvSpPr/>
          <p:nvPr/>
        </p:nvSpPr>
        <p:spPr>
          <a:xfrm>
            <a:off x="502920" y="3630168"/>
            <a:ext cx="4709160" cy="566928"/>
          </a:xfrm>
          <a:prstGeom prst="roundRect">
            <a:avLst>
              <a:gd name="adj" fmla="val 10000"/>
            </a:avLst>
          </a:prstGeom>
          <a:solidFill>
            <a:srgbClr val="0D1B42"/>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95000"/>
              </a:lnSpc>
            </a:pPr>
            <a:r>
              <a:rPr sz="1050" b="1">
                <a:solidFill>
                  <a:srgbClr val="FFFFFF"/>
                </a:solidFill>
                <a:latin typeface="Calibri"/>
              </a:rPr>
              <a:t>COMPUTED_FEATURE_
EVENTS (Silver)</a:t>
            </a:r>
          </a:p>
        </p:txBody>
      </p:sp>
      <p:sp>
        <p:nvSpPr>
          <p:cNvPr id="9" name="Rounded Rectangle 8"/>
          <p:cNvSpPr/>
          <p:nvPr/>
        </p:nvSpPr>
        <p:spPr>
          <a:xfrm>
            <a:off x="502920" y="4398264"/>
            <a:ext cx="4709160" cy="566928"/>
          </a:xfrm>
          <a:prstGeom prst="roundRect">
            <a:avLst>
              <a:gd name="adj" fmla="val 10000"/>
            </a:avLst>
          </a:prstGeom>
          <a:solidFill>
            <a:srgbClr val="14255C"/>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95000"/>
              </a:lnSpc>
            </a:pPr>
            <a:r>
              <a:rPr sz="1050" b="1">
                <a:solidFill>
                  <a:srgbClr val="FFFFFF"/>
                </a:solidFill>
                <a:latin typeface="Calibri"/>
              </a:rPr>
              <a:t>Registry-Driven
Routing</a:t>
            </a:r>
          </a:p>
        </p:txBody>
      </p:sp>
      <p:cxnSp>
        <p:nvCxnSpPr>
          <p:cNvPr id="10" name="Connector 9"/>
          <p:cNvCxnSpPr/>
          <p:nvPr/>
        </p:nvCxnSpPr>
        <p:spPr>
          <a:xfrm>
            <a:off x="2857500" y="1892807"/>
            <a:ext cx="0" cy="201169"/>
          </a:xfrm>
          <a:prstGeom prst="line">
            <a:avLst/>
          </a:prstGeom>
          <a:ln w="25400">
            <a:solidFill>
              <a:srgbClr val="14255C"/>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857500" y="2660904"/>
            <a:ext cx="0" cy="201168"/>
          </a:xfrm>
          <a:prstGeom prst="line">
            <a:avLst/>
          </a:prstGeom>
          <a:ln w="25400">
            <a:solidFill>
              <a:srgbClr val="14255C"/>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857500" y="3429000"/>
            <a:ext cx="0" cy="201168"/>
          </a:xfrm>
          <a:prstGeom prst="line">
            <a:avLst/>
          </a:prstGeom>
          <a:ln w="25400">
            <a:solidFill>
              <a:srgbClr val="14255C"/>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857500" y="4197096"/>
            <a:ext cx="0" cy="201168"/>
          </a:xfrm>
          <a:prstGeom prst="line">
            <a:avLst/>
          </a:prstGeom>
          <a:ln w="25400">
            <a:solidFill>
              <a:srgbClr val="14255C"/>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394960" y="2093976"/>
            <a:ext cx="1600199" cy="566928"/>
          </a:xfrm>
          <a:prstGeom prst="roundRect">
            <a:avLst>
              <a:gd name="adj" fmla="val 10000"/>
            </a:avLst>
          </a:prstGeom>
          <a:solidFill>
            <a:srgbClr val="B02A37"/>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90000"/>
              </a:lnSpc>
            </a:pPr>
            <a:r>
              <a:rPr sz="900" b="1">
                <a:solidFill>
                  <a:srgbClr val="FFFFFF"/>
                </a:solidFill>
                <a:latin typeface="Calibri"/>
              </a:rPr>
              <a:t>RAW_EVENTS_DLQ
(malformed)</a:t>
            </a:r>
          </a:p>
        </p:txBody>
      </p:sp>
      <p:cxnSp>
        <p:nvCxnSpPr>
          <p:cNvPr id="15" name="Connector 14"/>
          <p:cNvCxnSpPr/>
          <p:nvPr/>
        </p:nvCxnSpPr>
        <p:spPr>
          <a:xfrm>
            <a:off x="5212080" y="2377440"/>
            <a:ext cx="182880" cy="0"/>
          </a:xfrm>
          <a:prstGeom prst="line">
            <a:avLst/>
          </a:prstGeom>
          <a:ln w="19050">
            <a:solidFill>
              <a:srgbClr val="B02A37"/>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2668" y="5221224"/>
            <a:ext cx="1874519" cy="566928"/>
          </a:xfrm>
          <a:prstGeom prst="roundRect">
            <a:avLst>
              <a:gd name="adj" fmla="val 10000"/>
            </a:avLst>
          </a:prstGeom>
          <a:solidFill>
            <a:srgbClr val="14255C"/>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90000"/>
              </a:lnSpc>
            </a:pPr>
            <a:r>
              <a:rPr sz="850" b="1">
                <a:solidFill>
                  <a:srgbClr val="FFFFFF"/>
                </a:solidFill>
                <a:latin typeface="Calibri"/>
              </a:rPr>
              <a:t>AUTO_FEATURES_
ACTIVE</a:t>
            </a:r>
          </a:p>
        </p:txBody>
      </p:sp>
      <p:cxnSp>
        <p:nvCxnSpPr>
          <p:cNvPr id="17" name="Connector 16"/>
          <p:cNvCxnSpPr/>
          <p:nvPr/>
        </p:nvCxnSpPr>
        <p:spPr>
          <a:xfrm flipH="1">
            <a:off x="1709928" y="4965192"/>
            <a:ext cx="1147572" cy="256032"/>
          </a:xfrm>
          <a:prstGeom prst="line">
            <a:avLst/>
          </a:prstGeom>
          <a:ln w="19050">
            <a:solidFill>
              <a:srgbClr val="14255C"/>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2811780" y="5221224"/>
            <a:ext cx="1874519" cy="566928"/>
          </a:xfrm>
          <a:prstGeom prst="roundRect">
            <a:avLst>
              <a:gd name="adj" fmla="val 10000"/>
            </a:avLst>
          </a:prstGeom>
          <a:solidFill>
            <a:srgbClr val="B8872E"/>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90000"/>
              </a:lnSpc>
            </a:pPr>
            <a:r>
              <a:rPr sz="850" b="1">
                <a:solidFill>
                  <a:srgbClr val="FFFFFF"/>
                </a:solidFill>
                <a:latin typeface="Calibri"/>
              </a:rPr>
              <a:t>AUTO_FEATURES_
PENDING</a:t>
            </a:r>
          </a:p>
        </p:txBody>
      </p:sp>
      <p:cxnSp>
        <p:nvCxnSpPr>
          <p:cNvPr id="19" name="Connector 18"/>
          <p:cNvCxnSpPr/>
          <p:nvPr/>
        </p:nvCxnSpPr>
        <p:spPr>
          <a:xfrm>
            <a:off x="2857500" y="4965192"/>
            <a:ext cx="891539" cy="256032"/>
          </a:xfrm>
          <a:prstGeom prst="line">
            <a:avLst/>
          </a:prstGeom>
          <a:ln w="19050">
            <a:solidFill>
              <a:srgbClr val="14255C"/>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850892" y="5221224"/>
            <a:ext cx="1874519" cy="566928"/>
          </a:xfrm>
          <a:prstGeom prst="roundRect">
            <a:avLst>
              <a:gd name="adj" fmla="val 10000"/>
            </a:avLst>
          </a:prstGeom>
          <a:solidFill>
            <a:srgbClr val="7C8493"/>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90000"/>
              </a:lnSpc>
            </a:pPr>
            <a:r>
              <a:rPr sz="850" b="1">
                <a:solidFill>
                  <a:srgbClr val="FFFFFF"/>
                </a:solidFill>
                <a:latin typeface="Calibri"/>
              </a:rPr>
              <a:t>AUTO_FEATURES_
HISTORY</a:t>
            </a:r>
          </a:p>
        </p:txBody>
      </p:sp>
      <p:cxnSp>
        <p:nvCxnSpPr>
          <p:cNvPr id="21" name="Connector 20"/>
          <p:cNvCxnSpPr/>
          <p:nvPr/>
        </p:nvCxnSpPr>
        <p:spPr>
          <a:xfrm>
            <a:off x="2857500" y="4965192"/>
            <a:ext cx="2930652" cy="256032"/>
          </a:xfrm>
          <a:prstGeom prst="line">
            <a:avLst/>
          </a:prstGeom>
          <a:ln w="19050">
            <a:solidFill>
              <a:srgbClr val="14255C"/>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02920" y="5952744"/>
            <a:ext cx="6492240" cy="274320"/>
          </a:xfrm>
          <a:prstGeom prst="rect">
            <a:avLst/>
          </a:prstGeom>
          <a:noFill/>
        </p:spPr>
        <p:txBody>
          <a:bodyPr wrap="square" anchor="t" lIns="0" rIns="0" tIns="0" bIns="0">
            <a:spAutoFit/>
          </a:bodyPr>
          <a:lstStyle/>
          <a:p>
            <a:pPr algn="ctr">
              <a:lnSpc>
                <a:spcPct val="100000"/>
              </a:lnSpc>
            </a:pPr>
            <a:r>
              <a:rPr sz="900" b="0" i="1">
                <a:solidFill>
                  <a:srgbClr val="7C8493"/>
                </a:solidFill>
                <a:latin typeface="Calibri"/>
              </a:rPr>
              <a:t>Hourly: Pending→Active   ·   Daily: GROUP_A refresh→Active</a:t>
            </a:r>
          </a:p>
        </p:txBody>
      </p:sp>
      <p:sp>
        <p:nvSpPr>
          <p:cNvPr id="23" name="Rounded Rectangle 22"/>
          <p:cNvSpPr/>
          <p:nvPr/>
        </p:nvSpPr>
        <p:spPr>
          <a:xfrm>
            <a:off x="7178040" y="1325880"/>
            <a:ext cx="4510735" cy="4160520"/>
          </a:xfrm>
          <a:prstGeom prst="roundRect">
            <a:avLst>
              <a:gd name="adj" fmla="val 5000"/>
            </a:avLst>
          </a:prstGeom>
          <a:solidFill>
            <a:srgbClr val="E3B6D6"/>
          </a:solidFill>
          <a:ln w="9525">
            <a:solidFill>
              <a:srgbClr val="E2E0E6"/>
            </a:solid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8079" y="1645919"/>
            <a:ext cx="3870655" cy="3063239"/>
          </a:xfrm>
          <a:prstGeom prst="rect">
            <a:avLst/>
          </a:prstGeom>
          <a:noFill/>
        </p:spPr>
        <p:txBody>
          <a:bodyPr wrap="square" anchor="t" lIns="0" rIns="0" tIns="0" bIns="0">
            <a:spAutoFit/>
          </a:bodyPr>
          <a:lstStyle/>
          <a:p>
            <a:pPr algn="l">
              <a:lnSpc>
                <a:spcPct val="105000"/>
              </a:lnSpc>
              <a:spcAft>
                <a:spcPts val="1400"/>
              </a:spcAft>
            </a:pPr>
            <a:r>
              <a:rPr sz="1250">
                <a:solidFill>
                  <a:srgbClr val="14255C"/>
                </a:solidFill>
                <a:latin typeface="Calibri"/>
              </a:rPr>
              <a:t>•  Auto Loader lands JSON events into Bronze; malformed ones go to a dead-letter queue.</a:t>
            </a:r>
          </a:p>
          <a:p>
            <a:pPr algn="l">
              <a:lnSpc>
                <a:spcPct val="105000"/>
              </a:lnSpc>
              <a:spcAft>
                <a:spcPts val="1400"/>
              </a:spcAft>
            </a:pPr>
            <a:r>
              <a:rPr sz="1250">
                <a:solidFill>
                  <a:srgbClr val="14255C"/>
                </a:solidFill>
                <a:latin typeface="Calibri"/>
              </a:rPr>
              <a:t>•  Change Data Feed on Bronze triggers PySpark feature computation into Silver.</a:t>
            </a:r>
          </a:p>
          <a:p>
            <a:pPr algn="l">
              <a:lnSpc>
                <a:spcPct val="105000"/>
              </a:lnSpc>
              <a:spcAft>
                <a:spcPts val="1400"/>
              </a:spcAft>
            </a:pPr>
            <a:r>
              <a:rPr sz="1250">
                <a:solidFill>
                  <a:srgbClr val="14255C"/>
                </a:solidFill>
                <a:latin typeface="Calibri"/>
              </a:rPr>
              <a:t>•  Change Data Feed on Silver triggers registry-driven routing.</a:t>
            </a:r>
          </a:p>
          <a:p>
            <a:pPr algn="l">
              <a:lnSpc>
                <a:spcPct val="105000"/>
              </a:lnSpc>
              <a:spcAft>
                <a:spcPts val="1400"/>
              </a:spcAft>
            </a:pPr>
            <a:r>
              <a:rPr sz="1250">
                <a:solidFill>
                  <a:srgbClr val="14255C"/>
                </a:solidFill>
                <a:latin typeface="Calibri"/>
              </a:rPr>
              <a:t>•  Routing fans out to Active, Pending, or History per feature group.</a:t>
            </a:r>
          </a:p>
          <a:p>
            <a:pPr algn="l">
              <a:lnSpc>
                <a:spcPct val="105000"/>
              </a:lnSpc>
              <a:spcAft>
                <a:spcPts val="1400"/>
              </a:spcAft>
            </a:pPr>
            <a:r>
              <a:rPr sz="1250">
                <a:solidFill>
                  <a:srgbClr val="14255C"/>
                </a:solidFill>
                <a:latin typeface="Calibri"/>
              </a:rPr>
              <a:t>•  Active publishes continuously to the Lakebase Online Store.</a:t>
            </a:r>
          </a:p>
        </p:txBody>
      </p:sp>
      <p:sp>
        <p:nvSpPr>
          <p:cNvPr id="25" name="Rounded Rectangle 24"/>
          <p:cNvSpPr/>
          <p:nvPr/>
        </p:nvSpPr>
        <p:spPr>
          <a:xfrm>
            <a:off x="7498079" y="4709160"/>
            <a:ext cx="3870655" cy="566928"/>
          </a:xfrm>
          <a:prstGeom prst="roundRect">
            <a:avLst>
              <a:gd name="adj" fmla="val 12000"/>
            </a:avLst>
          </a:prstGeom>
          <a:solidFill>
            <a:srgbClr val="14255C"/>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35240" y="4709160"/>
            <a:ext cx="3596335" cy="566928"/>
          </a:xfrm>
          <a:prstGeom prst="rect">
            <a:avLst/>
          </a:prstGeom>
          <a:noFill/>
        </p:spPr>
        <p:txBody>
          <a:bodyPr wrap="square" anchor="ctr" lIns="0" rIns="0" tIns="0" bIns="0">
            <a:spAutoFit/>
          </a:bodyPr>
          <a:lstStyle/>
          <a:p>
            <a:pPr algn="ctr">
              <a:lnSpc>
                <a:spcPct val="100000"/>
              </a:lnSpc>
            </a:pPr>
            <a:r>
              <a:rPr sz="1250" b="1" i="0">
                <a:solidFill>
                  <a:srgbClr val="FFFFFF"/>
                </a:solidFill>
                <a:latin typeface="Calibri"/>
              </a:rPr>
              <a:t>End State: fast policy ID/number</a:t>
            </a:r>
          </a:p>
          <a:p>
            <a:pPr algn="ctr">
              <a:lnSpc>
                <a:spcPct val="100000"/>
              </a:lnSpc>
            </a:pPr>
            <a:r>
              <a:rPr sz="1250" b="1" i="0">
                <a:solidFill>
                  <a:srgbClr val="FFFFFF"/>
                </a:solidFill>
                <a:latin typeface="Calibri"/>
              </a:rPr>
              <a:t>lookup for model serving</a:t>
            </a:r>
          </a:p>
        </p:txBody>
      </p:sp>
      <p:cxnSp>
        <p:nvCxnSpPr>
          <p:cNvPr id="27" name="Connector 26"/>
          <p:cNvCxnSpPr/>
          <p:nvPr/>
        </p:nvCxnSpPr>
        <p:spPr>
          <a:xfrm>
            <a:off x="411480" y="6473952"/>
            <a:ext cx="11384280" cy="0"/>
          </a:xfrm>
          <a:prstGeom prst="line">
            <a:avLst/>
          </a:prstGeom>
          <a:ln w="9525">
            <a:solidFill>
              <a:srgbClr val="E2E0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11480" y="6528816"/>
            <a:ext cx="548640" cy="274320"/>
          </a:xfrm>
          <a:prstGeom prst="rect">
            <a:avLst/>
          </a:prstGeom>
          <a:noFill/>
        </p:spPr>
        <p:txBody>
          <a:bodyPr wrap="square" anchor="t" lIns="0" rIns="0" tIns="0" bIns="0">
            <a:spAutoFit/>
          </a:bodyPr>
          <a:lstStyle/>
          <a:p>
            <a:pPr algn="l">
              <a:lnSpc>
                <a:spcPct val="100000"/>
              </a:lnSpc>
            </a:pPr>
            <a:r>
              <a:rPr sz="1050" b="0" i="0">
                <a:solidFill>
                  <a:srgbClr val="7C8493"/>
                </a:solidFill>
                <a:latin typeface="Calibri"/>
              </a:rPr>
              <a:t>5</a:t>
            </a:r>
          </a:p>
        </p:txBody>
      </p:sp>
      <p:sp>
        <p:nvSpPr>
          <p:cNvPr id="29" name="Block Arc 28"/>
          <p:cNvSpPr/>
          <p:nvPr/>
        </p:nvSpPr>
        <p:spPr>
          <a:xfrm>
            <a:off x="9921240" y="6492240"/>
            <a:ext cx="237744" cy="219456"/>
          </a:xfrm>
          <a:prstGeom prst="blockArc">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222992" y="6473952"/>
            <a:ext cx="1554480" cy="201168"/>
          </a:xfrm>
          <a:prstGeom prst="rect">
            <a:avLst/>
          </a:prstGeom>
          <a:noFill/>
        </p:spPr>
        <p:txBody>
          <a:bodyPr wrap="square" anchor="t" lIns="0" rIns="0" tIns="0" bIns="0">
            <a:spAutoFit/>
          </a:bodyPr>
          <a:lstStyle/>
          <a:p>
            <a:pPr algn="l">
              <a:lnSpc>
                <a:spcPct val="100000"/>
              </a:lnSpc>
            </a:pPr>
            <a:r>
              <a:rPr sz="1050" b="1" i="0">
                <a:solidFill>
                  <a:srgbClr val="14255C"/>
                </a:solidFill>
                <a:latin typeface="Calibri"/>
              </a:rPr>
              <a:t>FARMERS</a:t>
            </a:r>
          </a:p>
        </p:txBody>
      </p:sp>
      <p:sp>
        <p:nvSpPr>
          <p:cNvPr id="31" name="TextBox 30"/>
          <p:cNvSpPr txBox="1"/>
          <p:nvPr/>
        </p:nvSpPr>
        <p:spPr>
          <a:xfrm>
            <a:off x="10222992" y="6647688"/>
            <a:ext cx="1554480" cy="182880"/>
          </a:xfrm>
          <a:prstGeom prst="rect">
            <a:avLst/>
          </a:prstGeom>
          <a:noFill/>
        </p:spPr>
        <p:txBody>
          <a:bodyPr wrap="square" anchor="t" lIns="0" rIns="0" tIns="0" bIns="0">
            <a:spAutoFit/>
          </a:bodyPr>
          <a:lstStyle/>
          <a:p>
            <a:pPr algn="l">
              <a:lnSpc>
                <a:spcPct val="100000"/>
              </a:lnSpc>
            </a:pPr>
            <a:r>
              <a:rPr sz="700" b="1" i="0">
                <a:solidFill>
                  <a:srgbClr val="7C8493"/>
                </a:solidFill>
                <a:latin typeface="Calibri"/>
              </a:rPr>
              <a:t>INSURANCE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10515600" cy="274320"/>
          </a:xfrm>
          <a:prstGeom prst="rect">
            <a:avLst/>
          </a:prstGeom>
          <a:noFill/>
        </p:spPr>
        <p:txBody>
          <a:bodyPr wrap="square" anchor="t" lIns="0" rIns="0" tIns="0" bIns="0">
            <a:spAutoFit/>
          </a:bodyPr>
          <a:lstStyle/>
          <a:p>
            <a:pPr algn="l">
              <a:lnSpc>
                <a:spcPct val="100000"/>
              </a:lnSpc>
            </a:pPr>
            <a:r>
              <a:rPr sz="1100" b="1" i="0">
                <a:solidFill>
                  <a:srgbClr val="B8872E"/>
                </a:solidFill>
                <a:latin typeface="Calibri"/>
              </a:rPr>
              <a:t>HOW IT'S BUILT</a:t>
            </a:r>
          </a:p>
        </p:txBody>
      </p:sp>
      <p:sp>
        <p:nvSpPr>
          <p:cNvPr id="3" name="TextBox 2"/>
          <p:cNvSpPr txBox="1"/>
          <p:nvPr/>
        </p:nvSpPr>
        <p:spPr>
          <a:xfrm>
            <a:off x="502920" y="438912"/>
            <a:ext cx="10515600" cy="594360"/>
          </a:xfrm>
          <a:prstGeom prst="rect">
            <a:avLst/>
          </a:prstGeom>
          <a:noFill/>
        </p:spPr>
        <p:txBody>
          <a:bodyPr wrap="square" anchor="t" lIns="0" rIns="0" tIns="0" bIns="0">
            <a:spAutoFit/>
          </a:bodyPr>
          <a:lstStyle/>
          <a:p>
            <a:pPr algn="l">
              <a:lnSpc>
                <a:spcPct val="100000"/>
              </a:lnSpc>
            </a:pPr>
            <a:r>
              <a:rPr sz="2600" b="1" i="0">
                <a:solidFill>
                  <a:srgbClr val="14255C"/>
                </a:solidFill>
                <a:latin typeface="Calibri"/>
              </a:rPr>
              <a:t>29 Features, Computed Once</a:t>
            </a:r>
          </a:p>
        </p:txBody>
      </p:sp>
      <p:cxnSp>
        <p:nvCxnSpPr>
          <p:cNvPr id="4" name="Connector 3"/>
          <p:cNvCxnSpPr/>
          <p:nvPr/>
        </p:nvCxnSpPr>
        <p:spPr>
          <a:xfrm>
            <a:off x="502920" y="1042415"/>
            <a:ext cx="11183112" cy="0"/>
          </a:xfrm>
          <a:prstGeom prst="line">
            <a:avLst/>
          </a:prstGeom>
          <a:ln w="28575">
            <a:solidFill>
              <a:srgbClr val="14255C"/>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02920" y="1325880"/>
            <a:ext cx="3246120" cy="4709160"/>
          </a:xfrm>
          <a:prstGeom prst="roundRect">
            <a:avLst>
              <a:gd name="adj" fmla="val 6000"/>
            </a:avLst>
          </a:prstGeom>
          <a:solidFill>
            <a:srgbClr val="14255C"/>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600200"/>
            <a:ext cx="2697479" cy="320040"/>
          </a:xfrm>
          <a:prstGeom prst="rect">
            <a:avLst/>
          </a:prstGeom>
          <a:noFill/>
        </p:spPr>
        <p:txBody>
          <a:bodyPr wrap="square" anchor="t" lIns="0" rIns="0" tIns="0" bIns="0">
            <a:spAutoFit/>
          </a:bodyPr>
          <a:lstStyle/>
          <a:p>
            <a:pPr algn="l">
              <a:lnSpc>
                <a:spcPct val="100000"/>
              </a:lnSpc>
            </a:pPr>
            <a:r>
              <a:rPr sz="1500" b="1" i="0">
                <a:solidFill>
                  <a:srgbClr val="FFFFFF"/>
                </a:solidFill>
                <a:latin typeface="Calibri"/>
              </a:rPr>
              <a:t>GROUP A</a:t>
            </a:r>
          </a:p>
        </p:txBody>
      </p:sp>
      <p:sp>
        <p:nvSpPr>
          <p:cNvPr id="7" name="TextBox 6"/>
          <p:cNvSpPr txBox="1"/>
          <p:nvPr/>
        </p:nvSpPr>
        <p:spPr>
          <a:xfrm>
            <a:off x="777240" y="1947672"/>
            <a:ext cx="2697479" cy="274320"/>
          </a:xfrm>
          <a:prstGeom prst="rect">
            <a:avLst/>
          </a:prstGeom>
          <a:noFill/>
        </p:spPr>
        <p:txBody>
          <a:bodyPr wrap="square" anchor="t" lIns="0" rIns="0" tIns="0" bIns="0">
            <a:spAutoFit/>
          </a:bodyPr>
          <a:lstStyle/>
          <a:p>
            <a:pPr algn="l">
              <a:lnSpc>
                <a:spcPct val="100000"/>
              </a:lnSpc>
            </a:pPr>
            <a:r>
              <a:rPr sz="1050" b="0" i="1">
                <a:solidFill>
                  <a:srgbClr val="C9D8EC"/>
                </a:solidFill>
                <a:latin typeface="Calibri"/>
              </a:rPr>
              <a:t>Transaction Feature Store · 5 features</a:t>
            </a:r>
          </a:p>
        </p:txBody>
      </p:sp>
      <p:sp>
        <p:nvSpPr>
          <p:cNvPr id="8" name="TextBox 7"/>
          <p:cNvSpPr txBox="1"/>
          <p:nvPr/>
        </p:nvSpPr>
        <p:spPr>
          <a:xfrm>
            <a:off x="777240" y="2377439"/>
            <a:ext cx="2697479" cy="1737360"/>
          </a:xfrm>
          <a:prstGeom prst="rect">
            <a:avLst/>
          </a:prstGeom>
          <a:noFill/>
        </p:spPr>
        <p:txBody>
          <a:bodyPr wrap="square" anchor="t" lIns="0" rIns="0" tIns="0" bIns="0">
            <a:spAutoFit/>
          </a:bodyPr>
          <a:lstStyle/>
          <a:p>
            <a:pPr algn="l">
              <a:lnSpc>
                <a:spcPct val="105000"/>
              </a:lnSpc>
              <a:spcAft>
                <a:spcPts val="900"/>
              </a:spcAft>
            </a:pPr>
            <a:r>
              <a:rPr sz="1250">
                <a:solidFill>
                  <a:srgbClr val="FFFFFF"/>
                </a:solidFill>
                <a:latin typeface="Calibri"/>
              </a:rPr>
              <a:t>•  TXN_CNT_1D</a:t>
            </a:r>
          </a:p>
          <a:p>
            <a:pPr algn="l">
              <a:lnSpc>
                <a:spcPct val="105000"/>
              </a:lnSpc>
              <a:spcAft>
                <a:spcPts val="900"/>
              </a:spcAft>
            </a:pPr>
            <a:r>
              <a:rPr sz="1250">
                <a:solidFill>
                  <a:srgbClr val="FFFFFF"/>
                </a:solidFill>
                <a:latin typeface="Calibri"/>
              </a:rPr>
              <a:t>•  TXN_CNT_1W</a:t>
            </a:r>
          </a:p>
          <a:p>
            <a:pPr algn="l">
              <a:lnSpc>
                <a:spcPct val="105000"/>
              </a:lnSpc>
              <a:spcAft>
                <a:spcPts val="900"/>
              </a:spcAft>
            </a:pPr>
            <a:r>
              <a:rPr sz="1250">
                <a:solidFill>
                  <a:srgbClr val="FFFFFF"/>
                </a:solidFill>
                <a:latin typeface="Calibri"/>
              </a:rPr>
              <a:t>•  TXN_CNT_1M</a:t>
            </a:r>
          </a:p>
          <a:p>
            <a:pPr algn="l">
              <a:lnSpc>
                <a:spcPct val="105000"/>
              </a:lnSpc>
              <a:spcAft>
                <a:spcPts val="900"/>
              </a:spcAft>
            </a:pPr>
            <a:r>
              <a:rPr sz="1250">
                <a:solidFill>
                  <a:srgbClr val="FFFFFF"/>
                </a:solidFill>
                <a:latin typeface="Calibri"/>
              </a:rPr>
              <a:t>•  OUTSTANDING_TXN_IND</a:t>
            </a:r>
          </a:p>
          <a:p>
            <a:pPr algn="l">
              <a:lnSpc>
                <a:spcPct val="105000"/>
              </a:lnSpc>
              <a:spcAft>
                <a:spcPts val="900"/>
              </a:spcAft>
            </a:pPr>
            <a:r>
              <a:rPr sz="1250">
                <a:solidFill>
                  <a:srgbClr val="FFFFFF"/>
                </a:solidFill>
                <a:latin typeface="Calibri"/>
              </a:rPr>
              <a:t>•  TENURE_YRS</a:t>
            </a:r>
          </a:p>
        </p:txBody>
      </p:sp>
      <p:sp>
        <p:nvSpPr>
          <p:cNvPr id="9" name="TextBox 8"/>
          <p:cNvSpPr txBox="1"/>
          <p:nvPr/>
        </p:nvSpPr>
        <p:spPr>
          <a:xfrm>
            <a:off x="777240" y="4983480"/>
            <a:ext cx="2697479" cy="914400"/>
          </a:xfrm>
          <a:prstGeom prst="rect">
            <a:avLst/>
          </a:prstGeom>
          <a:noFill/>
        </p:spPr>
        <p:txBody>
          <a:bodyPr wrap="square" anchor="t" lIns="0" rIns="0" tIns="0" bIns="0">
            <a:spAutoFit/>
          </a:bodyPr>
          <a:lstStyle/>
          <a:p>
            <a:pPr algn="l">
              <a:lnSpc>
                <a:spcPct val="110000"/>
              </a:lnSpc>
            </a:pPr>
            <a:r>
              <a:rPr sz="950" b="0" i="1">
                <a:solidFill>
                  <a:srgbClr val="C9D8EC"/>
                </a:solidFill>
                <a:latin typeface="Calibri"/>
              </a:rPr>
              <a:t>HOW: driven by wall-clock time (current_timestamp()), not events — recomputed against full RAW_POLICY_EVENTS history every day.</a:t>
            </a:r>
          </a:p>
        </p:txBody>
      </p:sp>
      <p:sp>
        <p:nvSpPr>
          <p:cNvPr id="10" name="TextBox 9"/>
          <p:cNvSpPr txBox="1"/>
          <p:nvPr/>
        </p:nvSpPr>
        <p:spPr>
          <a:xfrm>
            <a:off x="4114800" y="1344168"/>
            <a:ext cx="7315200" cy="320040"/>
          </a:xfrm>
          <a:prstGeom prst="rect">
            <a:avLst/>
          </a:prstGeom>
          <a:noFill/>
        </p:spPr>
        <p:txBody>
          <a:bodyPr wrap="square" anchor="t" lIns="0" rIns="0" tIns="0" bIns="0">
            <a:spAutoFit/>
          </a:bodyPr>
          <a:lstStyle/>
          <a:p>
            <a:pPr algn="l">
              <a:lnSpc>
                <a:spcPct val="100000"/>
              </a:lnSpc>
            </a:pPr>
            <a:r>
              <a:rPr sz="1500" b="1" i="0">
                <a:solidFill>
                  <a:srgbClr val="14255C"/>
                </a:solidFill>
                <a:latin typeface="Calibri"/>
              </a:rPr>
              <a:t>GROUP B</a:t>
            </a:r>
          </a:p>
        </p:txBody>
      </p:sp>
      <p:sp>
        <p:nvSpPr>
          <p:cNvPr id="11" name="TextBox 10"/>
          <p:cNvSpPr txBox="1"/>
          <p:nvPr/>
        </p:nvSpPr>
        <p:spPr>
          <a:xfrm>
            <a:off x="4114800" y="1691640"/>
            <a:ext cx="7315200" cy="274320"/>
          </a:xfrm>
          <a:prstGeom prst="rect">
            <a:avLst/>
          </a:prstGeom>
          <a:noFill/>
        </p:spPr>
        <p:txBody>
          <a:bodyPr wrap="square" anchor="t" lIns="0" rIns="0" tIns="0" bIns="0">
            <a:spAutoFit/>
          </a:bodyPr>
          <a:lstStyle/>
          <a:p>
            <a:pPr algn="l">
              <a:lnSpc>
                <a:spcPct val="100000"/>
              </a:lnSpc>
            </a:pPr>
            <a:r>
              <a:rPr sz="1050" b="0" i="1">
                <a:solidFill>
                  <a:srgbClr val="7C8493"/>
                </a:solidFill>
                <a:latin typeface="Calibri"/>
              </a:rPr>
              <a:t>Vehicle / Driver / Coverage Feature Store · 24 features</a:t>
            </a:r>
          </a:p>
        </p:txBody>
      </p:sp>
      <p:sp>
        <p:nvSpPr>
          <p:cNvPr id="12" name="TextBox 11"/>
          <p:cNvSpPr txBox="1"/>
          <p:nvPr/>
        </p:nvSpPr>
        <p:spPr>
          <a:xfrm>
            <a:off x="4114800" y="2103120"/>
            <a:ext cx="2514600" cy="274320"/>
          </a:xfrm>
          <a:prstGeom prst="rect">
            <a:avLst/>
          </a:prstGeom>
          <a:noFill/>
        </p:spPr>
        <p:txBody>
          <a:bodyPr wrap="square" anchor="t" lIns="0" rIns="0" tIns="0" bIns="0">
            <a:spAutoFit/>
          </a:bodyPr>
          <a:lstStyle/>
          <a:p>
            <a:pPr algn="l">
              <a:lnSpc>
                <a:spcPct val="100000"/>
              </a:lnSpc>
            </a:pPr>
            <a:r>
              <a:rPr sz="1200" b="1" i="0">
                <a:solidFill>
                  <a:srgbClr val="14255C"/>
                </a:solidFill>
                <a:latin typeface="Calibri"/>
              </a:rPr>
              <a:t>Snapshot</a:t>
            </a:r>
          </a:p>
        </p:txBody>
      </p:sp>
      <p:sp>
        <p:nvSpPr>
          <p:cNvPr id="13" name="TextBox 12"/>
          <p:cNvSpPr txBox="1"/>
          <p:nvPr/>
        </p:nvSpPr>
        <p:spPr>
          <a:xfrm>
            <a:off x="4114800" y="2441448"/>
            <a:ext cx="2514600" cy="3383280"/>
          </a:xfrm>
          <a:prstGeom prst="rect">
            <a:avLst/>
          </a:prstGeom>
          <a:noFill/>
        </p:spPr>
        <p:txBody>
          <a:bodyPr wrap="square" anchor="t" lIns="0" rIns="0" tIns="0" bIns="0">
            <a:spAutoFit/>
          </a:bodyPr>
          <a:lstStyle/>
          <a:p>
            <a:pPr algn="l">
              <a:lnSpc>
                <a:spcPct val="100000"/>
              </a:lnSpc>
              <a:spcAft>
                <a:spcPts val="900"/>
              </a:spcAft>
            </a:pPr>
            <a:r>
              <a:rPr sz="1050">
                <a:solidFill>
                  <a:srgbClr val="222733"/>
                </a:solidFill>
                <a:latin typeface="Calibri"/>
              </a:rPr>
              <a:t>•  VEH_CNT</a:t>
            </a:r>
          </a:p>
          <a:p>
            <a:pPr algn="l">
              <a:lnSpc>
                <a:spcPct val="100000"/>
              </a:lnSpc>
              <a:spcAft>
                <a:spcPts val="900"/>
              </a:spcAft>
            </a:pPr>
            <a:r>
              <a:rPr sz="1050">
                <a:solidFill>
                  <a:srgbClr val="222733"/>
                </a:solidFill>
                <a:latin typeface="Calibri"/>
              </a:rPr>
              <a:t>•  AVG_VEH_AGE</a:t>
            </a:r>
          </a:p>
          <a:p>
            <a:pPr algn="l">
              <a:lnSpc>
                <a:spcPct val="100000"/>
              </a:lnSpc>
              <a:spcAft>
                <a:spcPts val="900"/>
              </a:spcAft>
            </a:pPr>
            <a:r>
              <a:rPr sz="1050">
                <a:solidFill>
                  <a:srgbClr val="222733"/>
                </a:solidFill>
                <a:latin typeface="Calibri"/>
              </a:rPr>
              <a:t>•  VEH_ADDED_LATEST_TXN</a:t>
            </a:r>
          </a:p>
          <a:p>
            <a:pPr algn="l">
              <a:lnSpc>
                <a:spcPct val="100000"/>
              </a:lnSpc>
              <a:spcAft>
                <a:spcPts val="900"/>
              </a:spcAft>
            </a:pPr>
            <a:r>
              <a:rPr sz="1050">
                <a:solidFill>
                  <a:srgbClr val="222733"/>
                </a:solidFill>
                <a:latin typeface="Calibri"/>
              </a:rPr>
              <a:t>•  DRVR_CNT</a:t>
            </a:r>
          </a:p>
          <a:p>
            <a:pPr algn="l">
              <a:lnSpc>
                <a:spcPct val="100000"/>
              </a:lnSpc>
              <a:spcAft>
                <a:spcPts val="900"/>
              </a:spcAft>
            </a:pPr>
            <a:r>
              <a:rPr sz="1050">
                <a:solidFill>
                  <a:srgbClr val="222733"/>
                </a:solidFill>
                <a:latin typeface="Calibri"/>
              </a:rPr>
              <a:t>•  MAX_DRVR_AGE</a:t>
            </a:r>
          </a:p>
          <a:p>
            <a:pPr algn="l">
              <a:lnSpc>
                <a:spcPct val="100000"/>
              </a:lnSpc>
              <a:spcAft>
                <a:spcPts val="900"/>
              </a:spcAft>
            </a:pPr>
            <a:r>
              <a:rPr sz="1050">
                <a:solidFill>
                  <a:srgbClr val="222733"/>
                </a:solidFill>
                <a:latin typeface="Calibri"/>
              </a:rPr>
              <a:t>•  MIN_DRVR_AGE</a:t>
            </a:r>
          </a:p>
          <a:p>
            <a:pPr algn="l">
              <a:lnSpc>
                <a:spcPct val="100000"/>
              </a:lnSpc>
              <a:spcAft>
                <a:spcPts val="900"/>
              </a:spcAft>
            </a:pPr>
            <a:r>
              <a:rPr sz="1050">
                <a:solidFill>
                  <a:srgbClr val="222733"/>
                </a:solidFill>
                <a:latin typeface="Calibri"/>
              </a:rPr>
              <a:t>•  AVG_DRVR_AGE</a:t>
            </a:r>
          </a:p>
          <a:p>
            <a:pPr algn="l">
              <a:lnSpc>
                <a:spcPct val="100000"/>
              </a:lnSpc>
              <a:spcAft>
                <a:spcPts val="900"/>
              </a:spcAft>
            </a:pPr>
            <a:r>
              <a:rPr sz="1050">
                <a:solidFill>
                  <a:srgbClr val="222733"/>
                </a:solidFill>
                <a:latin typeface="Calibri"/>
              </a:rPr>
              <a:t>•  DRVRS_ADDED_LATEST_TXN</a:t>
            </a:r>
          </a:p>
        </p:txBody>
      </p:sp>
      <p:sp>
        <p:nvSpPr>
          <p:cNvPr id="14" name="TextBox 13"/>
          <p:cNvSpPr txBox="1"/>
          <p:nvPr/>
        </p:nvSpPr>
        <p:spPr>
          <a:xfrm>
            <a:off x="6766560" y="2103120"/>
            <a:ext cx="2514600" cy="274320"/>
          </a:xfrm>
          <a:prstGeom prst="rect">
            <a:avLst/>
          </a:prstGeom>
          <a:noFill/>
        </p:spPr>
        <p:txBody>
          <a:bodyPr wrap="square" anchor="t" lIns="0" rIns="0" tIns="0" bIns="0">
            <a:spAutoFit/>
          </a:bodyPr>
          <a:lstStyle/>
          <a:p>
            <a:pPr algn="l">
              <a:lnSpc>
                <a:spcPct val="100000"/>
              </a:lnSpc>
            </a:pPr>
            <a:r>
              <a:rPr sz="1200" b="1" i="0">
                <a:solidFill>
                  <a:srgbClr val="14255C"/>
                </a:solidFill>
                <a:latin typeface="Calibri"/>
              </a:rPr>
              <a:t>Coverage Lag</a:t>
            </a:r>
          </a:p>
        </p:txBody>
      </p:sp>
      <p:sp>
        <p:nvSpPr>
          <p:cNvPr id="15" name="TextBox 14"/>
          <p:cNvSpPr txBox="1"/>
          <p:nvPr/>
        </p:nvSpPr>
        <p:spPr>
          <a:xfrm>
            <a:off x="6766560" y="2441448"/>
            <a:ext cx="2514600" cy="3383280"/>
          </a:xfrm>
          <a:prstGeom prst="rect">
            <a:avLst/>
          </a:prstGeom>
          <a:noFill/>
        </p:spPr>
        <p:txBody>
          <a:bodyPr wrap="square" anchor="t" lIns="0" rIns="0" tIns="0" bIns="0">
            <a:spAutoFit/>
          </a:bodyPr>
          <a:lstStyle/>
          <a:p>
            <a:pPr algn="l">
              <a:lnSpc>
                <a:spcPct val="100000"/>
              </a:lnSpc>
              <a:spcAft>
                <a:spcPts val="900"/>
              </a:spcAft>
            </a:pPr>
            <a:r>
              <a:rPr sz="1050">
                <a:solidFill>
                  <a:srgbClr val="222733"/>
                </a:solidFill>
                <a:latin typeface="Calibri"/>
              </a:rPr>
              <a:t>•  PREM_CHANGE_AMT</a:t>
            </a:r>
          </a:p>
          <a:p>
            <a:pPr algn="l">
              <a:lnSpc>
                <a:spcPct val="100000"/>
              </a:lnSpc>
              <a:spcAft>
                <a:spcPts val="900"/>
              </a:spcAft>
            </a:pPr>
            <a:r>
              <a:rPr sz="1050">
                <a:solidFill>
                  <a:srgbClr val="222733"/>
                </a:solidFill>
                <a:latin typeface="Calibri"/>
              </a:rPr>
              <a:t>•  BI/PD/MD_COVERAGE_ADDED/REMOVED</a:t>
            </a:r>
          </a:p>
          <a:p>
            <a:pPr algn="l">
              <a:lnSpc>
                <a:spcPct val="100000"/>
              </a:lnSpc>
              <a:spcAft>
                <a:spcPts val="900"/>
              </a:spcAft>
            </a:pPr>
            <a:r>
              <a:rPr sz="1050">
                <a:solidFill>
                  <a:srgbClr val="222733"/>
                </a:solidFill>
                <a:latin typeface="Calibri"/>
              </a:rPr>
              <a:t>•  COLL/COMP/PIP_COVERAGE_ADDED/REMOVED</a:t>
            </a:r>
          </a:p>
          <a:p>
            <a:pPr algn="l">
              <a:lnSpc>
                <a:spcPct val="100000"/>
              </a:lnSpc>
              <a:spcAft>
                <a:spcPts val="900"/>
              </a:spcAft>
            </a:pPr>
            <a:r>
              <a:rPr sz="1050">
                <a:solidFill>
                  <a:srgbClr val="222733"/>
                </a:solidFill>
                <a:latin typeface="Calibri"/>
              </a:rPr>
              <a:t>•  (12 coverage columns total)</a:t>
            </a:r>
          </a:p>
        </p:txBody>
      </p:sp>
      <p:sp>
        <p:nvSpPr>
          <p:cNvPr id="16" name="TextBox 15"/>
          <p:cNvSpPr txBox="1"/>
          <p:nvPr/>
        </p:nvSpPr>
        <p:spPr>
          <a:xfrm>
            <a:off x="9418320" y="2103120"/>
            <a:ext cx="2514600" cy="274320"/>
          </a:xfrm>
          <a:prstGeom prst="rect">
            <a:avLst/>
          </a:prstGeom>
          <a:noFill/>
        </p:spPr>
        <p:txBody>
          <a:bodyPr wrap="square" anchor="t" lIns="0" rIns="0" tIns="0" bIns="0">
            <a:spAutoFit/>
          </a:bodyPr>
          <a:lstStyle/>
          <a:p>
            <a:pPr algn="l">
              <a:lnSpc>
                <a:spcPct val="100000"/>
              </a:lnSpc>
            </a:pPr>
            <a:r>
              <a:rPr sz="1200" b="1" i="0">
                <a:solidFill>
                  <a:srgbClr val="14255C"/>
                </a:solidFill>
                <a:latin typeface="Calibri"/>
              </a:rPr>
              <a:t>Change Indicators</a:t>
            </a:r>
          </a:p>
        </p:txBody>
      </p:sp>
      <p:sp>
        <p:nvSpPr>
          <p:cNvPr id="17" name="TextBox 16"/>
          <p:cNvSpPr txBox="1"/>
          <p:nvPr/>
        </p:nvSpPr>
        <p:spPr>
          <a:xfrm>
            <a:off x="9418320" y="2441448"/>
            <a:ext cx="2514600" cy="3383280"/>
          </a:xfrm>
          <a:prstGeom prst="rect">
            <a:avLst/>
          </a:prstGeom>
          <a:noFill/>
        </p:spPr>
        <p:txBody>
          <a:bodyPr wrap="square" anchor="t" lIns="0" rIns="0" tIns="0" bIns="0">
            <a:spAutoFit/>
          </a:bodyPr>
          <a:lstStyle/>
          <a:p>
            <a:pPr algn="l">
              <a:lnSpc>
                <a:spcPct val="100000"/>
              </a:lnSpc>
              <a:spcAft>
                <a:spcPts val="900"/>
              </a:spcAft>
            </a:pPr>
            <a:r>
              <a:rPr sz="1050">
                <a:solidFill>
                  <a:srgbClr val="222733"/>
                </a:solidFill>
                <a:latin typeface="Calibri"/>
              </a:rPr>
              <a:t>•  COMP_DED_CHANGE_IND</a:t>
            </a:r>
          </a:p>
          <a:p>
            <a:pPr algn="l">
              <a:lnSpc>
                <a:spcPct val="100000"/>
              </a:lnSpc>
              <a:spcAft>
                <a:spcPts val="900"/>
              </a:spcAft>
            </a:pPr>
            <a:r>
              <a:rPr sz="1050">
                <a:solidFill>
                  <a:srgbClr val="222733"/>
                </a:solidFill>
                <a:latin typeface="Calibri"/>
              </a:rPr>
              <a:t>•  GNDR_CHANGE_IND</a:t>
            </a:r>
          </a:p>
          <a:p>
            <a:pPr algn="l">
              <a:lnSpc>
                <a:spcPct val="100000"/>
              </a:lnSpc>
              <a:spcAft>
                <a:spcPts val="900"/>
              </a:spcAft>
            </a:pPr>
            <a:r>
              <a:rPr sz="1050">
                <a:solidFill>
                  <a:srgbClr val="222733"/>
                </a:solidFill>
                <a:latin typeface="Calibri"/>
              </a:rPr>
              <a:t>•  MRTL_CHANGE_IND</a:t>
            </a:r>
          </a:p>
        </p:txBody>
      </p:sp>
      <p:cxnSp>
        <p:nvCxnSpPr>
          <p:cNvPr id="18" name="Connector 17"/>
          <p:cNvCxnSpPr/>
          <p:nvPr/>
        </p:nvCxnSpPr>
        <p:spPr>
          <a:xfrm>
            <a:off x="411480" y="6473952"/>
            <a:ext cx="11384280" cy="0"/>
          </a:xfrm>
          <a:prstGeom prst="line">
            <a:avLst/>
          </a:prstGeom>
          <a:ln w="9525">
            <a:solidFill>
              <a:srgbClr val="E2E0E6"/>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11480" y="6528816"/>
            <a:ext cx="548640" cy="274320"/>
          </a:xfrm>
          <a:prstGeom prst="rect">
            <a:avLst/>
          </a:prstGeom>
          <a:noFill/>
        </p:spPr>
        <p:txBody>
          <a:bodyPr wrap="square" anchor="t" lIns="0" rIns="0" tIns="0" bIns="0">
            <a:spAutoFit/>
          </a:bodyPr>
          <a:lstStyle/>
          <a:p>
            <a:pPr algn="l">
              <a:lnSpc>
                <a:spcPct val="100000"/>
              </a:lnSpc>
            </a:pPr>
            <a:r>
              <a:rPr sz="1050" b="0" i="0">
                <a:solidFill>
                  <a:srgbClr val="7C8493"/>
                </a:solidFill>
                <a:latin typeface="Calibri"/>
              </a:rPr>
              <a:t>6</a:t>
            </a:r>
          </a:p>
        </p:txBody>
      </p:sp>
      <p:sp>
        <p:nvSpPr>
          <p:cNvPr id="20" name="Block Arc 19"/>
          <p:cNvSpPr/>
          <p:nvPr/>
        </p:nvSpPr>
        <p:spPr>
          <a:xfrm>
            <a:off x="9921240" y="6492240"/>
            <a:ext cx="237744" cy="219456"/>
          </a:xfrm>
          <a:prstGeom prst="blockArc">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222992" y="6473952"/>
            <a:ext cx="1554480" cy="201168"/>
          </a:xfrm>
          <a:prstGeom prst="rect">
            <a:avLst/>
          </a:prstGeom>
          <a:noFill/>
        </p:spPr>
        <p:txBody>
          <a:bodyPr wrap="square" anchor="t" lIns="0" rIns="0" tIns="0" bIns="0">
            <a:spAutoFit/>
          </a:bodyPr>
          <a:lstStyle/>
          <a:p>
            <a:pPr algn="l">
              <a:lnSpc>
                <a:spcPct val="100000"/>
              </a:lnSpc>
            </a:pPr>
            <a:r>
              <a:rPr sz="1050" b="1" i="0">
                <a:solidFill>
                  <a:srgbClr val="14255C"/>
                </a:solidFill>
                <a:latin typeface="Calibri"/>
              </a:rPr>
              <a:t>FARMERS</a:t>
            </a:r>
          </a:p>
        </p:txBody>
      </p:sp>
      <p:sp>
        <p:nvSpPr>
          <p:cNvPr id="22" name="TextBox 21"/>
          <p:cNvSpPr txBox="1"/>
          <p:nvPr/>
        </p:nvSpPr>
        <p:spPr>
          <a:xfrm>
            <a:off x="10222992" y="6647688"/>
            <a:ext cx="1554480" cy="182880"/>
          </a:xfrm>
          <a:prstGeom prst="rect">
            <a:avLst/>
          </a:prstGeom>
          <a:noFill/>
        </p:spPr>
        <p:txBody>
          <a:bodyPr wrap="square" anchor="t" lIns="0" rIns="0" tIns="0" bIns="0">
            <a:spAutoFit/>
          </a:bodyPr>
          <a:lstStyle/>
          <a:p>
            <a:pPr algn="l">
              <a:lnSpc>
                <a:spcPct val="100000"/>
              </a:lnSpc>
            </a:pPr>
            <a:r>
              <a:rPr sz="700" b="1" i="0">
                <a:solidFill>
                  <a:srgbClr val="7C8493"/>
                </a:solidFill>
                <a:latin typeface="Calibri"/>
              </a:rPr>
              <a:t>INSURANCE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10515600" cy="274320"/>
          </a:xfrm>
          <a:prstGeom prst="rect">
            <a:avLst/>
          </a:prstGeom>
          <a:noFill/>
        </p:spPr>
        <p:txBody>
          <a:bodyPr wrap="square" anchor="t" lIns="0" rIns="0" tIns="0" bIns="0">
            <a:spAutoFit/>
          </a:bodyPr>
          <a:lstStyle/>
          <a:p>
            <a:pPr algn="l">
              <a:lnSpc>
                <a:spcPct val="100000"/>
              </a:lnSpc>
            </a:pPr>
            <a:r>
              <a:rPr sz="1100" b="1" i="0">
                <a:solidFill>
                  <a:srgbClr val="B8872E"/>
                </a:solidFill>
                <a:latin typeface="Calibri"/>
              </a:rPr>
              <a:t>TIME-AWARE DESIGN</a:t>
            </a:r>
          </a:p>
        </p:txBody>
      </p:sp>
      <p:sp>
        <p:nvSpPr>
          <p:cNvPr id="3" name="TextBox 2"/>
          <p:cNvSpPr txBox="1"/>
          <p:nvPr/>
        </p:nvSpPr>
        <p:spPr>
          <a:xfrm>
            <a:off x="502920" y="438912"/>
            <a:ext cx="10515600" cy="594360"/>
          </a:xfrm>
          <a:prstGeom prst="rect">
            <a:avLst/>
          </a:prstGeom>
          <a:noFill/>
        </p:spPr>
        <p:txBody>
          <a:bodyPr wrap="square" anchor="t" lIns="0" rIns="0" tIns="0" bIns="0">
            <a:spAutoFit/>
          </a:bodyPr>
          <a:lstStyle/>
          <a:p>
            <a:pPr algn="l">
              <a:lnSpc>
                <a:spcPct val="100000"/>
              </a:lnSpc>
            </a:pPr>
            <a:r>
              <a:rPr sz="2600" b="1" i="0">
                <a:solidFill>
                  <a:srgbClr val="14255C"/>
                </a:solidFill>
                <a:latin typeface="Calibri"/>
              </a:rPr>
              <a:t>One Event, Two Clocks</a:t>
            </a:r>
          </a:p>
        </p:txBody>
      </p:sp>
      <p:cxnSp>
        <p:nvCxnSpPr>
          <p:cNvPr id="4" name="Connector 3"/>
          <p:cNvCxnSpPr/>
          <p:nvPr/>
        </p:nvCxnSpPr>
        <p:spPr>
          <a:xfrm>
            <a:off x="502920" y="1042415"/>
            <a:ext cx="11183112" cy="0"/>
          </a:xfrm>
          <a:prstGeom prst="line">
            <a:avLst/>
          </a:prstGeom>
          <a:ln w="28575">
            <a:solidFill>
              <a:srgbClr val="14255C"/>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614019" y="1371600"/>
            <a:ext cx="3520440" cy="3063240"/>
          </a:xfrm>
          <a:prstGeom prst="roundRect">
            <a:avLst>
              <a:gd name="adj" fmla="val 5000"/>
            </a:avLst>
          </a:prstGeom>
          <a:solidFill>
            <a:srgbClr val="FFFFFF"/>
          </a:solidFill>
          <a:ln w="9525">
            <a:solidFill>
              <a:srgbClr val="E2E0E6"/>
            </a:solid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14019" y="1371600"/>
            <a:ext cx="3520440" cy="502920"/>
          </a:xfrm>
          <a:prstGeom prst="roundRect">
            <a:avLst>
              <a:gd name="adj" fmla="val 0"/>
            </a:avLst>
          </a:prstGeom>
          <a:solidFill>
            <a:srgbClr val="7C8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6899" y="1444752"/>
            <a:ext cx="3154680" cy="365760"/>
          </a:xfrm>
          <a:prstGeom prst="rect">
            <a:avLst/>
          </a:prstGeom>
          <a:noFill/>
        </p:spPr>
        <p:txBody>
          <a:bodyPr wrap="square" anchor="ctr" lIns="0" rIns="0" tIns="0" bIns="0">
            <a:spAutoFit/>
          </a:bodyPr>
          <a:lstStyle/>
          <a:p>
            <a:pPr algn="l">
              <a:lnSpc>
                <a:spcPct val="100000"/>
              </a:lnSpc>
            </a:pPr>
            <a:r>
              <a:rPr sz="1300" b="1" i="0">
                <a:solidFill>
                  <a:srgbClr val="FFFFFF"/>
                </a:solidFill>
                <a:latin typeface="Calibri"/>
              </a:rPr>
              <a:t>PAST — HISTORY</a:t>
            </a:r>
          </a:p>
        </p:txBody>
      </p:sp>
      <p:sp>
        <p:nvSpPr>
          <p:cNvPr id="8" name="TextBox 7"/>
          <p:cNvSpPr txBox="1"/>
          <p:nvPr/>
        </p:nvSpPr>
        <p:spPr>
          <a:xfrm>
            <a:off x="870051" y="2029967"/>
            <a:ext cx="3017520" cy="2148840"/>
          </a:xfrm>
          <a:prstGeom prst="rect">
            <a:avLst/>
          </a:prstGeom>
          <a:noFill/>
        </p:spPr>
        <p:txBody>
          <a:bodyPr wrap="square" anchor="t" lIns="0" rIns="0" tIns="0" bIns="0">
            <a:spAutoFit/>
          </a:bodyPr>
          <a:lstStyle/>
          <a:p>
            <a:pPr algn="l">
              <a:lnSpc>
                <a:spcPct val="105000"/>
              </a:lnSpc>
              <a:spcAft>
                <a:spcPts val="1200"/>
              </a:spcAft>
            </a:pPr>
            <a:r>
              <a:rPr sz="1200">
                <a:solidFill>
                  <a:srgbClr val="14255C"/>
                </a:solidFill>
                <a:latin typeface="Calibri"/>
              </a:rPr>
              <a:t>•  SCD Type 2 snapshots</a:t>
            </a:r>
          </a:p>
          <a:p>
            <a:pPr algn="l">
              <a:lnSpc>
                <a:spcPct val="105000"/>
              </a:lnSpc>
              <a:spcAft>
                <a:spcPts val="1200"/>
              </a:spcAft>
            </a:pPr>
            <a:r>
              <a:rPr sz="1200">
                <a:solidFill>
                  <a:srgbClr val="14255C"/>
                </a:solidFill>
                <a:latin typeface="Calibri"/>
              </a:rPr>
              <a:t>•  Non-overlapping validity windows</a:t>
            </a:r>
          </a:p>
          <a:p>
            <a:pPr algn="l">
              <a:lnSpc>
                <a:spcPct val="105000"/>
              </a:lnSpc>
              <a:spcAft>
                <a:spcPts val="1200"/>
              </a:spcAft>
            </a:pPr>
            <a:r>
              <a:rPr sz="1200">
                <a:solidFill>
                  <a:srgbClr val="14255C"/>
                </a:solidFill>
                <a:latin typeface="Calibri"/>
              </a:rPr>
              <a:t>•  Point-in-time audit</a:t>
            </a:r>
          </a:p>
        </p:txBody>
      </p:sp>
      <p:sp>
        <p:nvSpPr>
          <p:cNvPr id="9" name="Rounded Rectangle 8"/>
          <p:cNvSpPr/>
          <p:nvPr/>
        </p:nvSpPr>
        <p:spPr>
          <a:xfrm>
            <a:off x="4335627" y="1371600"/>
            <a:ext cx="3520440" cy="3063240"/>
          </a:xfrm>
          <a:prstGeom prst="roundRect">
            <a:avLst>
              <a:gd name="adj" fmla="val 5000"/>
            </a:avLst>
          </a:prstGeom>
          <a:solidFill>
            <a:srgbClr val="FFFFFF"/>
          </a:solidFill>
          <a:ln w="9525">
            <a:solidFill>
              <a:srgbClr val="E2E0E6"/>
            </a:solid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35627" y="1371600"/>
            <a:ext cx="3520440" cy="502920"/>
          </a:xfrm>
          <a:prstGeom prst="roundRect">
            <a:avLst>
              <a:gd name="adj" fmla="val 0"/>
            </a:avLst>
          </a:prstGeom>
          <a:solidFill>
            <a:srgbClr val="14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8507" y="1444752"/>
            <a:ext cx="3154680" cy="365760"/>
          </a:xfrm>
          <a:prstGeom prst="rect">
            <a:avLst/>
          </a:prstGeom>
          <a:noFill/>
        </p:spPr>
        <p:txBody>
          <a:bodyPr wrap="square" anchor="ctr" lIns="0" rIns="0" tIns="0" bIns="0">
            <a:spAutoFit/>
          </a:bodyPr>
          <a:lstStyle/>
          <a:p>
            <a:pPr algn="l">
              <a:lnSpc>
                <a:spcPct val="100000"/>
              </a:lnSpc>
            </a:pPr>
            <a:r>
              <a:rPr sz="1300" b="1" i="0">
                <a:solidFill>
                  <a:srgbClr val="FFFFFF"/>
                </a:solidFill>
                <a:latin typeface="Calibri"/>
              </a:rPr>
              <a:t>PRESENT — ACTIVE</a:t>
            </a:r>
          </a:p>
        </p:txBody>
      </p:sp>
      <p:sp>
        <p:nvSpPr>
          <p:cNvPr id="12" name="TextBox 11"/>
          <p:cNvSpPr txBox="1"/>
          <p:nvPr/>
        </p:nvSpPr>
        <p:spPr>
          <a:xfrm>
            <a:off x="4591659" y="2029967"/>
            <a:ext cx="3017520" cy="2148840"/>
          </a:xfrm>
          <a:prstGeom prst="rect">
            <a:avLst/>
          </a:prstGeom>
          <a:noFill/>
        </p:spPr>
        <p:txBody>
          <a:bodyPr wrap="square" anchor="t" lIns="0" rIns="0" tIns="0" bIns="0">
            <a:spAutoFit/>
          </a:bodyPr>
          <a:lstStyle/>
          <a:p>
            <a:pPr algn="l">
              <a:lnSpc>
                <a:spcPct val="105000"/>
              </a:lnSpc>
              <a:spcAft>
                <a:spcPts val="1200"/>
              </a:spcAft>
            </a:pPr>
            <a:r>
              <a:rPr sz="1200">
                <a:solidFill>
                  <a:srgbClr val="14255C"/>
                </a:solidFill>
                <a:latin typeface="Calibri"/>
              </a:rPr>
              <a:t>•  One row per policy</a:t>
            </a:r>
          </a:p>
          <a:p>
            <a:pPr algn="l">
              <a:lnSpc>
                <a:spcPct val="105000"/>
              </a:lnSpc>
              <a:spcAft>
                <a:spcPts val="1200"/>
              </a:spcAft>
            </a:pPr>
            <a:r>
              <a:rPr sz="1200">
                <a:solidFill>
                  <a:srgbClr val="14255C"/>
                </a:solidFill>
                <a:latin typeface="Calibri"/>
              </a:rPr>
              <a:t>•  Served to models now</a:t>
            </a:r>
          </a:p>
          <a:p>
            <a:pPr algn="l">
              <a:lnSpc>
                <a:spcPct val="105000"/>
              </a:lnSpc>
              <a:spcAft>
                <a:spcPts val="1200"/>
              </a:spcAft>
            </a:pPr>
            <a:r>
              <a:rPr sz="1200">
                <a:solidFill>
                  <a:srgbClr val="14255C"/>
                </a:solidFill>
                <a:latin typeface="Calibri"/>
              </a:rPr>
              <a:t>•  Synced to the online store</a:t>
            </a:r>
          </a:p>
        </p:txBody>
      </p:sp>
      <p:sp>
        <p:nvSpPr>
          <p:cNvPr id="13" name="Rounded Rectangle 12"/>
          <p:cNvSpPr/>
          <p:nvPr/>
        </p:nvSpPr>
        <p:spPr>
          <a:xfrm>
            <a:off x="8057235" y="1371600"/>
            <a:ext cx="3520440" cy="3063240"/>
          </a:xfrm>
          <a:prstGeom prst="roundRect">
            <a:avLst>
              <a:gd name="adj" fmla="val 5000"/>
            </a:avLst>
          </a:prstGeom>
          <a:solidFill>
            <a:srgbClr val="FFFFFF"/>
          </a:solidFill>
          <a:ln w="9525">
            <a:solidFill>
              <a:srgbClr val="E2E0E6"/>
            </a:solid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57235" y="1371600"/>
            <a:ext cx="3520440" cy="502920"/>
          </a:xfrm>
          <a:prstGeom prst="roundRect">
            <a:avLst>
              <a:gd name="adj" fmla="val 0"/>
            </a:avLst>
          </a:prstGeom>
          <a:solidFill>
            <a:srgbClr val="B88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40115" y="1444752"/>
            <a:ext cx="3154680" cy="365760"/>
          </a:xfrm>
          <a:prstGeom prst="rect">
            <a:avLst/>
          </a:prstGeom>
          <a:noFill/>
        </p:spPr>
        <p:txBody>
          <a:bodyPr wrap="square" anchor="ctr" lIns="0" rIns="0" tIns="0" bIns="0">
            <a:spAutoFit/>
          </a:bodyPr>
          <a:lstStyle/>
          <a:p>
            <a:pPr algn="l">
              <a:lnSpc>
                <a:spcPct val="100000"/>
              </a:lnSpc>
            </a:pPr>
            <a:r>
              <a:rPr sz="1300" b="1" i="0">
                <a:solidFill>
                  <a:srgbClr val="FFFFFF"/>
                </a:solidFill>
                <a:latin typeface="Calibri"/>
              </a:rPr>
              <a:t>FUTURE — PENDING</a:t>
            </a:r>
          </a:p>
        </p:txBody>
      </p:sp>
      <p:sp>
        <p:nvSpPr>
          <p:cNvPr id="16" name="TextBox 15"/>
          <p:cNvSpPr txBox="1"/>
          <p:nvPr/>
        </p:nvSpPr>
        <p:spPr>
          <a:xfrm>
            <a:off x="8313267" y="2029967"/>
            <a:ext cx="3017520" cy="2148840"/>
          </a:xfrm>
          <a:prstGeom prst="rect">
            <a:avLst/>
          </a:prstGeom>
          <a:noFill/>
        </p:spPr>
        <p:txBody>
          <a:bodyPr wrap="square" anchor="t" lIns="0" rIns="0" tIns="0" bIns="0">
            <a:spAutoFit/>
          </a:bodyPr>
          <a:lstStyle/>
          <a:p>
            <a:pPr algn="l">
              <a:lnSpc>
                <a:spcPct val="105000"/>
              </a:lnSpc>
              <a:spcAft>
                <a:spcPts val="1200"/>
              </a:spcAft>
            </a:pPr>
            <a:r>
              <a:rPr sz="1200">
                <a:solidFill>
                  <a:srgbClr val="14255C"/>
                </a:solidFill>
                <a:latin typeface="Calibri"/>
              </a:rPr>
              <a:t>•  Future-effective GROUP_B</a:t>
            </a:r>
          </a:p>
          <a:p>
            <a:pPr algn="l">
              <a:lnSpc>
                <a:spcPct val="105000"/>
              </a:lnSpc>
              <a:spcAft>
                <a:spcPts val="1200"/>
              </a:spcAft>
            </a:pPr>
            <a:r>
              <a:rPr sz="1200">
                <a:solidFill>
                  <a:srgbClr val="14255C"/>
                </a:solidFill>
                <a:latin typeface="Calibri"/>
              </a:rPr>
              <a:t>•  Held back until due</a:t>
            </a:r>
          </a:p>
          <a:p>
            <a:pPr algn="l">
              <a:lnSpc>
                <a:spcPct val="105000"/>
              </a:lnSpc>
              <a:spcAft>
                <a:spcPts val="1200"/>
              </a:spcAft>
            </a:pPr>
            <a:r>
              <a:rPr sz="1200">
                <a:solidFill>
                  <a:srgbClr val="14255C"/>
                </a:solidFill>
                <a:latin typeface="Calibri"/>
              </a:rPr>
              <a:t>•  Promoted hourly, automatically</a:t>
            </a:r>
          </a:p>
        </p:txBody>
      </p:sp>
      <p:cxnSp>
        <p:nvCxnSpPr>
          <p:cNvPr id="17" name="Connector 16"/>
          <p:cNvCxnSpPr/>
          <p:nvPr/>
        </p:nvCxnSpPr>
        <p:spPr>
          <a:xfrm>
            <a:off x="4134459" y="2903220"/>
            <a:ext cx="201168" cy="0"/>
          </a:xfrm>
          <a:prstGeom prst="line">
            <a:avLst/>
          </a:prstGeom>
          <a:ln w="25400">
            <a:solidFill>
              <a:srgbClr val="7C8493"/>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856067" y="2903220"/>
            <a:ext cx="201168" cy="0"/>
          </a:xfrm>
          <a:prstGeom prst="line">
            <a:avLst/>
          </a:prstGeom>
          <a:ln w="25400">
            <a:solidFill>
              <a:srgbClr val="B8872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02920" y="4690872"/>
            <a:ext cx="5486400" cy="274320"/>
          </a:xfrm>
          <a:prstGeom prst="rect">
            <a:avLst/>
          </a:prstGeom>
          <a:noFill/>
        </p:spPr>
        <p:txBody>
          <a:bodyPr wrap="square" anchor="t" lIns="0" rIns="0" tIns="0" bIns="0">
            <a:spAutoFit/>
          </a:bodyPr>
          <a:lstStyle/>
          <a:p>
            <a:pPr algn="l">
              <a:lnSpc>
                <a:spcPct val="100000"/>
              </a:lnSpc>
            </a:pPr>
            <a:r>
              <a:rPr sz="1200" b="1" i="0">
                <a:solidFill>
                  <a:srgbClr val="14255C"/>
                </a:solidFill>
                <a:latin typeface="Calibri"/>
              </a:rPr>
              <a:t>EXAMPLE — POLICY-1001</a:t>
            </a:r>
          </a:p>
        </p:txBody>
      </p:sp>
      <p:sp>
        <p:nvSpPr>
          <p:cNvPr id="20" name="Rounded Rectangle 19"/>
          <p:cNvSpPr/>
          <p:nvPr/>
        </p:nvSpPr>
        <p:spPr>
          <a:xfrm>
            <a:off x="502920" y="4983480"/>
            <a:ext cx="1783080" cy="548640"/>
          </a:xfrm>
          <a:prstGeom prst="roundRect">
            <a:avLst>
              <a:gd name="adj" fmla="val 12000"/>
            </a:avLst>
          </a:prstGeom>
          <a:solidFill>
            <a:srgbClr val="14255C"/>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90000"/>
              </a:lnSpc>
            </a:pPr>
            <a:r>
              <a:rPr sz="900" b="1">
                <a:solidFill>
                  <a:srgbClr val="FFFFFF"/>
                </a:solidFill>
                <a:latin typeface="Calibri"/>
              </a:rPr>
              <a:t>Transaction
received today</a:t>
            </a:r>
          </a:p>
        </p:txBody>
      </p:sp>
      <p:sp>
        <p:nvSpPr>
          <p:cNvPr id="21" name="Rounded Rectangle 20"/>
          <p:cNvSpPr/>
          <p:nvPr/>
        </p:nvSpPr>
        <p:spPr>
          <a:xfrm>
            <a:off x="2418587" y="4983480"/>
            <a:ext cx="1783080" cy="548640"/>
          </a:xfrm>
          <a:prstGeom prst="roundRect">
            <a:avLst>
              <a:gd name="adj" fmla="val 12000"/>
            </a:avLst>
          </a:prstGeom>
          <a:solidFill>
            <a:srgbClr val="14255C"/>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90000"/>
              </a:lnSpc>
            </a:pPr>
            <a:r>
              <a:rPr sz="900" b="1">
                <a:solidFill>
                  <a:srgbClr val="FFFFFF"/>
                </a:solidFill>
                <a:latin typeface="Calibri"/>
              </a:rPr>
              <a:t>GROUP_A active
immediately</a:t>
            </a:r>
          </a:p>
        </p:txBody>
      </p:sp>
      <p:sp>
        <p:nvSpPr>
          <p:cNvPr id="22" name="Rounded Rectangle 21"/>
          <p:cNvSpPr/>
          <p:nvPr/>
        </p:nvSpPr>
        <p:spPr>
          <a:xfrm>
            <a:off x="4334255" y="4983480"/>
            <a:ext cx="1783080" cy="548640"/>
          </a:xfrm>
          <a:prstGeom prst="roundRect">
            <a:avLst>
              <a:gd name="adj" fmla="val 12000"/>
            </a:avLst>
          </a:prstGeom>
          <a:solidFill>
            <a:srgbClr val="B8872E"/>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90000"/>
              </a:lnSpc>
            </a:pPr>
            <a:r>
              <a:rPr sz="900" b="1">
                <a:solidFill>
                  <a:srgbClr val="FFFFFF"/>
                </a:solidFill>
                <a:latin typeface="Calibri"/>
              </a:rPr>
              <a:t>GROUP_B has a
future EFF_DT</a:t>
            </a:r>
          </a:p>
        </p:txBody>
      </p:sp>
      <p:sp>
        <p:nvSpPr>
          <p:cNvPr id="23" name="Rounded Rectangle 22"/>
          <p:cNvSpPr/>
          <p:nvPr/>
        </p:nvSpPr>
        <p:spPr>
          <a:xfrm>
            <a:off x="6249923" y="4983480"/>
            <a:ext cx="1783080" cy="548640"/>
          </a:xfrm>
          <a:prstGeom prst="roundRect">
            <a:avLst>
              <a:gd name="adj" fmla="val 12000"/>
            </a:avLst>
          </a:prstGeom>
          <a:solidFill>
            <a:srgbClr val="B8872E"/>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90000"/>
              </a:lnSpc>
            </a:pPr>
            <a:r>
              <a:rPr sz="900" b="1">
                <a:solidFill>
                  <a:srgbClr val="FFFFFF"/>
                </a:solidFill>
                <a:latin typeface="Calibri"/>
              </a:rPr>
              <a:t>GROUP_B waits
in PENDING</a:t>
            </a:r>
          </a:p>
        </p:txBody>
      </p:sp>
      <p:sp>
        <p:nvSpPr>
          <p:cNvPr id="24" name="Rounded Rectangle 23"/>
          <p:cNvSpPr/>
          <p:nvPr/>
        </p:nvSpPr>
        <p:spPr>
          <a:xfrm>
            <a:off x="8165592" y="4983480"/>
            <a:ext cx="1783080" cy="548640"/>
          </a:xfrm>
          <a:prstGeom prst="roundRect">
            <a:avLst>
              <a:gd name="adj" fmla="val 12000"/>
            </a:avLst>
          </a:prstGeom>
          <a:solidFill>
            <a:srgbClr val="B8872E"/>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90000"/>
              </a:lnSpc>
            </a:pPr>
            <a:r>
              <a:rPr sz="900" b="1">
                <a:solidFill>
                  <a:srgbClr val="FFFFFF"/>
                </a:solidFill>
                <a:latin typeface="Calibri"/>
              </a:rPr>
              <a:t>Hourly job
promotes when due</a:t>
            </a:r>
          </a:p>
        </p:txBody>
      </p:sp>
      <p:sp>
        <p:nvSpPr>
          <p:cNvPr id="25" name="Rounded Rectangle 24"/>
          <p:cNvSpPr/>
          <p:nvPr/>
        </p:nvSpPr>
        <p:spPr>
          <a:xfrm>
            <a:off x="10081259" y="4983480"/>
            <a:ext cx="1783080" cy="548640"/>
          </a:xfrm>
          <a:prstGeom prst="roundRect">
            <a:avLst>
              <a:gd name="adj" fmla="val 12000"/>
            </a:avLst>
          </a:prstGeom>
          <a:solidFill>
            <a:srgbClr val="7C8493"/>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90000"/>
              </a:lnSpc>
            </a:pPr>
            <a:r>
              <a:rPr sz="900" b="1">
                <a:solidFill>
                  <a:srgbClr val="FFFFFF"/>
                </a:solidFill>
                <a:latin typeface="Calibri"/>
              </a:rPr>
              <a:t>Prior ACTIVE
closed to HISTORY</a:t>
            </a:r>
          </a:p>
        </p:txBody>
      </p:sp>
      <p:cxnSp>
        <p:nvCxnSpPr>
          <p:cNvPr id="26" name="Connector 25"/>
          <p:cNvCxnSpPr/>
          <p:nvPr/>
        </p:nvCxnSpPr>
        <p:spPr>
          <a:xfrm>
            <a:off x="2286000" y="5257800"/>
            <a:ext cx="132587" cy="0"/>
          </a:xfrm>
          <a:prstGeom prst="line">
            <a:avLst/>
          </a:prstGeom>
          <a:ln w="19050">
            <a:solidFill>
              <a:srgbClr val="7C8493"/>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201668" y="5257800"/>
            <a:ext cx="132587" cy="0"/>
          </a:xfrm>
          <a:prstGeom prst="line">
            <a:avLst/>
          </a:prstGeom>
          <a:ln w="19050">
            <a:solidFill>
              <a:srgbClr val="7C8493"/>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117336" y="5257800"/>
            <a:ext cx="132587" cy="0"/>
          </a:xfrm>
          <a:prstGeom prst="line">
            <a:avLst/>
          </a:prstGeom>
          <a:ln w="19050">
            <a:solidFill>
              <a:srgbClr val="7C8493"/>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033003" y="5257800"/>
            <a:ext cx="132589" cy="0"/>
          </a:xfrm>
          <a:prstGeom prst="line">
            <a:avLst/>
          </a:prstGeom>
          <a:ln w="19050">
            <a:solidFill>
              <a:srgbClr val="7C8493"/>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948672" y="5257800"/>
            <a:ext cx="132587" cy="0"/>
          </a:xfrm>
          <a:prstGeom prst="line">
            <a:avLst/>
          </a:prstGeom>
          <a:ln w="19050">
            <a:solidFill>
              <a:srgbClr val="7C8493"/>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11480" y="6473952"/>
            <a:ext cx="11384280" cy="0"/>
          </a:xfrm>
          <a:prstGeom prst="line">
            <a:avLst/>
          </a:prstGeom>
          <a:ln w="9525">
            <a:solidFill>
              <a:srgbClr val="E2E0E6"/>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411480" y="6528816"/>
            <a:ext cx="548640" cy="274320"/>
          </a:xfrm>
          <a:prstGeom prst="rect">
            <a:avLst/>
          </a:prstGeom>
          <a:noFill/>
        </p:spPr>
        <p:txBody>
          <a:bodyPr wrap="square" anchor="t" lIns="0" rIns="0" tIns="0" bIns="0">
            <a:spAutoFit/>
          </a:bodyPr>
          <a:lstStyle/>
          <a:p>
            <a:pPr algn="l">
              <a:lnSpc>
                <a:spcPct val="100000"/>
              </a:lnSpc>
            </a:pPr>
            <a:r>
              <a:rPr sz="1050" b="0" i="0">
                <a:solidFill>
                  <a:srgbClr val="7C8493"/>
                </a:solidFill>
                <a:latin typeface="Calibri"/>
              </a:rPr>
              <a:t>7</a:t>
            </a:r>
          </a:p>
        </p:txBody>
      </p:sp>
      <p:sp>
        <p:nvSpPr>
          <p:cNvPr id="33" name="Block Arc 32"/>
          <p:cNvSpPr/>
          <p:nvPr/>
        </p:nvSpPr>
        <p:spPr>
          <a:xfrm>
            <a:off x="9921240" y="6492240"/>
            <a:ext cx="237744" cy="219456"/>
          </a:xfrm>
          <a:prstGeom prst="blockArc">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222992" y="6473952"/>
            <a:ext cx="1554480" cy="201168"/>
          </a:xfrm>
          <a:prstGeom prst="rect">
            <a:avLst/>
          </a:prstGeom>
          <a:noFill/>
        </p:spPr>
        <p:txBody>
          <a:bodyPr wrap="square" anchor="t" lIns="0" rIns="0" tIns="0" bIns="0">
            <a:spAutoFit/>
          </a:bodyPr>
          <a:lstStyle/>
          <a:p>
            <a:pPr algn="l">
              <a:lnSpc>
                <a:spcPct val="100000"/>
              </a:lnSpc>
            </a:pPr>
            <a:r>
              <a:rPr sz="1050" b="1" i="0">
                <a:solidFill>
                  <a:srgbClr val="14255C"/>
                </a:solidFill>
                <a:latin typeface="Calibri"/>
              </a:rPr>
              <a:t>FARMERS</a:t>
            </a:r>
          </a:p>
        </p:txBody>
      </p:sp>
      <p:sp>
        <p:nvSpPr>
          <p:cNvPr id="35" name="TextBox 34"/>
          <p:cNvSpPr txBox="1"/>
          <p:nvPr/>
        </p:nvSpPr>
        <p:spPr>
          <a:xfrm>
            <a:off x="10222992" y="6647688"/>
            <a:ext cx="1554480" cy="182880"/>
          </a:xfrm>
          <a:prstGeom prst="rect">
            <a:avLst/>
          </a:prstGeom>
          <a:noFill/>
        </p:spPr>
        <p:txBody>
          <a:bodyPr wrap="square" anchor="t" lIns="0" rIns="0" tIns="0" bIns="0">
            <a:spAutoFit/>
          </a:bodyPr>
          <a:lstStyle/>
          <a:p>
            <a:pPr algn="l">
              <a:lnSpc>
                <a:spcPct val="100000"/>
              </a:lnSpc>
            </a:pPr>
            <a:r>
              <a:rPr sz="700" b="1" i="0">
                <a:solidFill>
                  <a:srgbClr val="7C8493"/>
                </a:solidFill>
                <a:latin typeface="Calibri"/>
              </a:rPr>
              <a:t>INSURANCE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10515600" cy="274320"/>
          </a:xfrm>
          <a:prstGeom prst="rect">
            <a:avLst/>
          </a:prstGeom>
          <a:noFill/>
        </p:spPr>
        <p:txBody>
          <a:bodyPr wrap="square" anchor="t" lIns="0" rIns="0" tIns="0" bIns="0">
            <a:spAutoFit/>
          </a:bodyPr>
          <a:lstStyle/>
          <a:p>
            <a:pPr algn="l">
              <a:lnSpc>
                <a:spcPct val="100000"/>
              </a:lnSpc>
            </a:pPr>
            <a:r>
              <a:rPr sz="1100" b="1" i="0">
                <a:solidFill>
                  <a:srgbClr val="B8872E"/>
                </a:solidFill>
                <a:latin typeface="Calibri"/>
              </a:rPr>
              <a:t>TIME-AWARE DESIGN</a:t>
            </a:r>
          </a:p>
        </p:txBody>
      </p:sp>
      <p:sp>
        <p:nvSpPr>
          <p:cNvPr id="3" name="TextBox 2"/>
          <p:cNvSpPr txBox="1"/>
          <p:nvPr/>
        </p:nvSpPr>
        <p:spPr>
          <a:xfrm>
            <a:off x="502920" y="438912"/>
            <a:ext cx="10515600" cy="594360"/>
          </a:xfrm>
          <a:prstGeom prst="rect">
            <a:avLst/>
          </a:prstGeom>
          <a:noFill/>
        </p:spPr>
        <p:txBody>
          <a:bodyPr wrap="square" anchor="t" lIns="0" rIns="0" tIns="0" bIns="0">
            <a:spAutoFit/>
          </a:bodyPr>
          <a:lstStyle/>
          <a:p>
            <a:pPr algn="l">
              <a:lnSpc>
                <a:spcPct val="100000"/>
              </a:lnSpc>
            </a:pPr>
            <a:r>
              <a:rPr sz="2600" b="1" i="0">
                <a:solidFill>
                  <a:srgbClr val="14255C"/>
                </a:solidFill>
                <a:latin typeface="Calibri"/>
              </a:rPr>
              <a:t>Metadata Decides, Code Doesn't</a:t>
            </a:r>
          </a:p>
        </p:txBody>
      </p:sp>
      <p:cxnSp>
        <p:nvCxnSpPr>
          <p:cNvPr id="4" name="Connector 3"/>
          <p:cNvCxnSpPr/>
          <p:nvPr/>
        </p:nvCxnSpPr>
        <p:spPr>
          <a:xfrm>
            <a:off x="502920" y="1042415"/>
            <a:ext cx="11183112" cy="0"/>
          </a:xfrm>
          <a:prstGeom prst="line">
            <a:avLst/>
          </a:prstGeom>
          <a:ln w="28575">
            <a:solidFill>
              <a:srgbClr val="142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502920" y="1371600"/>
          <a:ext cx="6583680" cy="1554480"/>
        </p:xfrm>
        <a:graphic>
          <a:graphicData uri="http://schemas.openxmlformats.org/drawingml/2006/table">
            <a:tbl>
              <a:tblPr firstRow="1" bandRow="1">
                <a:tableStyleId>{5C22544A-7EE6-4342-B048-85BDC9FD1C3A}</a:tableStyleId>
              </a:tblPr>
              <a:tblGrid>
                <a:gridCol w="1371600"/>
                <a:gridCol w="1554480"/>
                <a:gridCol w="1554480"/>
                <a:gridCol w="2103120"/>
              </a:tblGrid>
              <a:tr h="518160">
                <a:tc>
                  <a:txBody>
                    <a:bodyPr/>
                    <a:lstStyle/>
                    <a:p>
                      <a:r>
                        <a:rPr sz="1150" b="1">
                          <a:solidFill>
                            <a:srgbClr val="FFFFFF"/>
                          </a:solidFill>
                          <a:latin typeface="Calibri"/>
                        </a:rPr>
                        <a:t>Feature Group</a:t>
                      </a:r>
                    </a:p>
                  </a:txBody>
                  <a:tcPr anchor="ctr">
                    <a:solidFill>
                      <a:srgbClr val="14255C"/>
                    </a:solidFill>
                  </a:tcPr>
                </a:tc>
                <a:tc>
                  <a:txBody>
                    <a:bodyPr/>
                    <a:lstStyle/>
                    <a:p>
                      <a:r>
                        <a:rPr sz="1150" b="1">
                          <a:solidFill>
                            <a:srgbClr val="FFFFFF"/>
                          </a:solidFill>
                          <a:latin typeface="Calibri"/>
                        </a:rPr>
                        <a:t>Owned Columns</a:t>
                      </a:r>
                    </a:p>
                  </a:txBody>
                  <a:tcPr anchor="ctr">
                    <a:solidFill>
                      <a:srgbClr val="14255C"/>
                    </a:solidFill>
                  </a:tcPr>
                </a:tc>
                <a:tc>
                  <a:txBody>
                    <a:bodyPr/>
                    <a:lstStyle/>
                    <a:p>
                      <a:r>
                        <a:rPr sz="1150" b="1">
                          <a:solidFill>
                            <a:srgbClr val="FFFFFF"/>
                          </a:solidFill>
                          <a:latin typeface="Calibri"/>
                        </a:rPr>
                        <a:t>Routing Type</a:t>
                      </a:r>
                    </a:p>
                  </a:txBody>
                  <a:tcPr anchor="ctr">
                    <a:solidFill>
                      <a:srgbClr val="14255C"/>
                    </a:solidFill>
                  </a:tcPr>
                </a:tc>
                <a:tc>
                  <a:txBody>
                    <a:bodyPr/>
                    <a:lstStyle/>
                    <a:p>
                      <a:r>
                        <a:rPr sz="1150" b="1">
                          <a:solidFill>
                            <a:srgbClr val="FFFFFF"/>
                          </a:solidFill>
                          <a:latin typeface="Calibri"/>
                        </a:rPr>
                        <a:t>Effective-Time Source</a:t>
                      </a:r>
                    </a:p>
                  </a:txBody>
                  <a:tcPr anchor="ctr">
                    <a:solidFill>
                      <a:srgbClr val="14255C"/>
                    </a:solidFill>
                  </a:tcPr>
                </a:tc>
              </a:tr>
              <a:tr h="518160">
                <a:tc>
                  <a:txBody>
                    <a:bodyPr/>
                    <a:lstStyle/>
                    <a:p>
                      <a:r>
                        <a:rPr sz="1150">
                          <a:solidFill>
                            <a:srgbClr val="14255C"/>
                          </a:solidFill>
                          <a:latin typeface="Calibri"/>
                        </a:rPr>
                        <a:t>GROUP_A</a:t>
                      </a:r>
                    </a:p>
                  </a:txBody>
                  <a:tcPr anchor="ctr">
                    <a:solidFill>
                      <a:srgbClr val="F0DDEC"/>
                    </a:solidFill>
                  </a:tcPr>
                </a:tc>
                <a:tc>
                  <a:txBody>
                    <a:bodyPr/>
                    <a:lstStyle/>
                    <a:p>
                      <a:r>
                        <a:rPr sz="1150">
                          <a:solidFill>
                            <a:srgbClr val="14255C"/>
                          </a:solidFill>
                          <a:latin typeface="Calibri"/>
                        </a:rPr>
                        <a:t>5 columns</a:t>
                      </a:r>
                    </a:p>
                  </a:txBody>
                  <a:tcPr anchor="ctr">
                    <a:solidFill>
                      <a:srgbClr val="F0DDEC"/>
                    </a:solidFill>
                  </a:tcPr>
                </a:tc>
                <a:tc>
                  <a:txBody>
                    <a:bodyPr/>
                    <a:lstStyle/>
                    <a:p>
                      <a:r>
                        <a:rPr sz="1150">
                          <a:solidFill>
                            <a:srgbClr val="14255C"/>
                          </a:solidFill>
                          <a:latin typeface="Calibri"/>
                        </a:rPr>
                        <a:t>Immediate</a:t>
                      </a:r>
                    </a:p>
                  </a:txBody>
                  <a:tcPr anchor="ctr">
                    <a:solidFill>
                      <a:srgbClr val="F0DDEC"/>
                    </a:solidFill>
                  </a:tcPr>
                </a:tc>
                <a:tc>
                  <a:txBody>
                    <a:bodyPr/>
                    <a:lstStyle/>
                    <a:p>
                      <a:r>
                        <a:rPr sz="1150">
                          <a:solidFill>
                            <a:srgbClr val="14255C"/>
                          </a:solidFill>
                          <a:latin typeface="Calibri"/>
                        </a:rPr>
                        <a:t>SRC_TRANS_TMSP</a:t>
                      </a:r>
                    </a:p>
                  </a:txBody>
                  <a:tcPr anchor="ctr">
                    <a:solidFill>
                      <a:srgbClr val="F0DDEC"/>
                    </a:solidFill>
                  </a:tcPr>
                </a:tc>
              </a:tr>
              <a:tr h="518160">
                <a:tc>
                  <a:txBody>
                    <a:bodyPr/>
                    <a:lstStyle/>
                    <a:p>
                      <a:r>
                        <a:rPr sz="1150">
                          <a:solidFill>
                            <a:srgbClr val="14255C"/>
                          </a:solidFill>
                          <a:latin typeface="Calibri"/>
                        </a:rPr>
                        <a:t>GROUP_B</a:t>
                      </a:r>
                    </a:p>
                  </a:txBody>
                  <a:tcPr anchor="ctr">
                    <a:solidFill>
                      <a:srgbClr val="FFFFFF"/>
                    </a:solidFill>
                  </a:tcPr>
                </a:tc>
                <a:tc>
                  <a:txBody>
                    <a:bodyPr/>
                    <a:lstStyle/>
                    <a:p>
                      <a:r>
                        <a:rPr sz="1150">
                          <a:solidFill>
                            <a:srgbClr val="14255C"/>
                          </a:solidFill>
                          <a:latin typeface="Calibri"/>
                        </a:rPr>
                        <a:t>24 columns</a:t>
                      </a:r>
                    </a:p>
                  </a:txBody>
                  <a:tcPr anchor="ctr">
                    <a:solidFill>
                      <a:srgbClr val="FFFFFF"/>
                    </a:solidFill>
                  </a:tcPr>
                </a:tc>
                <a:tc>
                  <a:txBody>
                    <a:bodyPr/>
                    <a:lstStyle/>
                    <a:p>
                      <a:r>
                        <a:rPr sz="1150">
                          <a:solidFill>
                            <a:srgbClr val="14255C"/>
                          </a:solidFill>
                          <a:latin typeface="Calibri"/>
                        </a:rPr>
                        <a:t>Effective date</a:t>
                      </a:r>
                    </a:p>
                  </a:txBody>
                  <a:tcPr anchor="ctr">
                    <a:solidFill>
                      <a:srgbClr val="FFFFFF"/>
                    </a:solidFill>
                  </a:tcPr>
                </a:tc>
                <a:tc>
                  <a:txBody>
                    <a:bodyPr/>
                    <a:lstStyle/>
                    <a:p>
                      <a:r>
                        <a:rPr sz="1150">
                          <a:solidFill>
                            <a:srgbClr val="14255C"/>
                          </a:solidFill>
                          <a:latin typeface="Calibri"/>
                        </a:rPr>
                        <a:t>EFF_DT</a:t>
                      </a:r>
                    </a:p>
                  </a:txBody>
                  <a:tcPr anchor="ctr">
                    <a:solidFill>
                      <a:srgbClr val="FFFFFF"/>
                    </a:solidFill>
                  </a:tcPr>
                </a:tc>
              </a:tr>
            </a:tbl>
          </a:graphicData>
        </a:graphic>
      </p:graphicFrame>
      <p:sp>
        <p:nvSpPr>
          <p:cNvPr id="6" name="TextBox 5"/>
          <p:cNvSpPr txBox="1"/>
          <p:nvPr/>
        </p:nvSpPr>
        <p:spPr>
          <a:xfrm>
            <a:off x="502920" y="3291840"/>
            <a:ext cx="6400800" cy="274320"/>
          </a:xfrm>
          <a:prstGeom prst="rect">
            <a:avLst/>
          </a:prstGeom>
          <a:noFill/>
        </p:spPr>
        <p:txBody>
          <a:bodyPr wrap="square" anchor="t" lIns="0" rIns="0" tIns="0" bIns="0">
            <a:spAutoFit/>
          </a:bodyPr>
          <a:lstStyle/>
          <a:p>
            <a:pPr algn="l">
              <a:lnSpc>
                <a:spcPct val="100000"/>
              </a:lnSpc>
            </a:pPr>
            <a:r>
              <a:rPr sz="1200" b="1" i="0">
                <a:solidFill>
                  <a:srgbClr val="14255C"/>
                </a:solidFill>
                <a:latin typeface="Calibri"/>
              </a:rPr>
              <a:t>ROUTING DECISION</a:t>
            </a:r>
          </a:p>
        </p:txBody>
      </p:sp>
      <p:sp>
        <p:nvSpPr>
          <p:cNvPr id="7" name="Rounded Rectangle 6"/>
          <p:cNvSpPr/>
          <p:nvPr/>
        </p:nvSpPr>
        <p:spPr>
          <a:xfrm>
            <a:off x="502920" y="3611880"/>
            <a:ext cx="2103120" cy="749808"/>
          </a:xfrm>
          <a:prstGeom prst="roundRect">
            <a:avLst>
              <a:gd name="adj" fmla="val 10000"/>
            </a:avLst>
          </a:prstGeom>
          <a:solidFill>
            <a:srgbClr val="FFFFFF"/>
          </a:solidFill>
          <a:ln w="12700">
            <a:solidFill>
              <a:srgbClr val="E2E0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14255C"/>
                </a:solidFill>
                <a:latin typeface="Calibri"/>
              </a:rPr>
              <a:t>Immediate group</a:t>
            </a:r>
          </a:p>
        </p:txBody>
      </p:sp>
      <p:sp>
        <p:nvSpPr>
          <p:cNvPr id="8" name="TextBox 7"/>
          <p:cNvSpPr txBox="1"/>
          <p:nvPr/>
        </p:nvSpPr>
        <p:spPr>
          <a:xfrm>
            <a:off x="502920" y="4425696"/>
            <a:ext cx="2103120" cy="274320"/>
          </a:xfrm>
          <a:prstGeom prst="rect">
            <a:avLst/>
          </a:prstGeom>
          <a:noFill/>
        </p:spPr>
        <p:txBody>
          <a:bodyPr wrap="square" anchor="t" lIns="0" rIns="0" tIns="0" bIns="0">
            <a:spAutoFit/>
          </a:bodyPr>
          <a:lstStyle/>
          <a:p>
            <a:pPr algn="ctr">
              <a:lnSpc>
                <a:spcPct val="100000"/>
              </a:lnSpc>
            </a:pPr>
            <a:r>
              <a:rPr sz="1200" b="1" i="0">
                <a:solidFill>
                  <a:srgbClr val="14255C"/>
                </a:solidFill>
                <a:latin typeface="Calibri"/>
              </a:rPr>
              <a:t>→ ACTIVE</a:t>
            </a:r>
          </a:p>
        </p:txBody>
      </p:sp>
      <p:sp>
        <p:nvSpPr>
          <p:cNvPr id="9" name="Rounded Rectangle 8"/>
          <p:cNvSpPr/>
          <p:nvPr/>
        </p:nvSpPr>
        <p:spPr>
          <a:xfrm>
            <a:off x="2770632" y="3611880"/>
            <a:ext cx="2103120" cy="749808"/>
          </a:xfrm>
          <a:prstGeom prst="roundRect">
            <a:avLst>
              <a:gd name="adj" fmla="val 10000"/>
            </a:avLst>
          </a:prstGeom>
          <a:solidFill>
            <a:srgbClr val="FFFFFF"/>
          </a:solidFill>
          <a:ln w="12700">
            <a:solidFill>
              <a:srgbClr val="E2E0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14255C"/>
                </a:solidFill>
                <a:latin typeface="Calibri"/>
              </a:rPr>
              <a:t>Due effective-date
(EFF_DT ≤ now)</a:t>
            </a:r>
          </a:p>
        </p:txBody>
      </p:sp>
      <p:sp>
        <p:nvSpPr>
          <p:cNvPr id="10" name="TextBox 9"/>
          <p:cNvSpPr txBox="1"/>
          <p:nvPr/>
        </p:nvSpPr>
        <p:spPr>
          <a:xfrm>
            <a:off x="2770632" y="4425696"/>
            <a:ext cx="2103120" cy="274320"/>
          </a:xfrm>
          <a:prstGeom prst="rect">
            <a:avLst/>
          </a:prstGeom>
          <a:noFill/>
        </p:spPr>
        <p:txBody>
          <a:bodyPr wrap="square" anchor="t" lIns="0" rIns="0" tIns="0" bIns="0">
            <a:spAutoFit/>
          </a:bodyPr>
          <a:lstStyle/>
          <a:p>
            <a:pPr algn="ctr">
              <a:lnSpc>
                <a:spcPct val="100000"/>
              </a:lnSpc>
            </a:pPr>
            <a:r>
              <a:rPr sz="1200" b="1" i="0">
                <a:solidFill>
                  <a:srgbClr val="14255C"/>
                </a:solidFill>
                <a:latin typeface="Calibri"/>
              </a:rPr>
              <a:t>→ ACTIVE</a:t>
            </a:r>
          </a:p>
        </p:txBody>
      </p:sp>
      <p:sp>
        <p:nvSpPr>
          <p:cNvPr id="11" name="Rounded Rectangle 10"/>
          <p:cNvSpPr/>
          <p:nvPr/>
        </p:nvSpPr>
        <p:spPr>
          <a:xfrm>
            <a:off x="5038344" y="3611880"/>
            <a:ext cx="2103120" cy="749808"/>
          </a:xfrm>
          <a:prstGeom prst="roundRect">
            <a:avLst>
              <a:gd name="adj" fmla="val 10000"/>
            </a:avLst>
          </a:prstGeom>
          <a:solidFill>
            <a:srgbClr val="FFFFFF"/>
          </a:solidFill>
          <a:ln w="12700">
            <a:solidFill>
              <a:srgbClr val="E2E0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14255C"/>
                </a:solidFill>
                <a:latin typeface="Calibri"/>
              </a:rPr>
              <a:t>Future effective-date
(EFF_DT &gt; now)</a:t>
            </a:r>
          </a:p>
        </p:txBody>
      </p:sp>
      <p:sp>
        <p:nvSpPr>
          <p:cNvPr id="12" name="TextBox 11"/>
          <p:cNvSpPr txBox="1"/>
          <p:nvPr/>
        </p:nvSpPr>
        <p:spPr>
          <a:xfrm>
            <a:off x="5038344" y="4425696"/>
            <a:ext cx="2103120" cy="274320"/>
          </a:xfrm>
          <a:prstGeom prst="rect">
            <a:avLst/>
          </a:prstGeom>
          <a:noFill/>
        </p:spPr>
        <p:txBody>
          <a:bodyPr wrap="square" anchor="t" lIns="0" rIns="0" tIns="0" bIns="0">
            <a:spAutoFit/>
          </a:bodyPr>
          <a:lstStyle/>
          <a:p>
            <a:pPr algn="ctr">
              <a:lnSpc>
                <a:spcPct val="100000"/>
              </a:lnSpc>
            </a:pPr>
            <a:r>
              <a:rPr sz="1200" b="1" i="0">
                <a:solidFill>
                  <a:srgbClr val="14255C"/>
                </a:solidFill>
                <a:latin typeface="Calibri"/>
              </a:rPr>
              <a:t>→ PENDING</a:t>
            </a:r>
          </a:p>
        </p:txBody>
      </p:sp>
      <p:sp>
        <p:nvSpPr>
          <p:cNvPr id="13" name="Rounded Rectangle 12"/>
          <p:cNvSpPr/>
          <p:nvPr/>
        </p:nvSpPr>
        <p:spPr>
          <a:xfrm>
            <a:off x="7452360" y="1371600"/>
            <a:ext cx="4251960" cy="3611880"/>
          </a:xfrm>
          <a:prstGeom prst="roundRect">
            <a:avLst>
              <a:gd name="adj" fmla="val 5000"/>
            </a:avLst>
          </a:prstGeom>
          <a:solidFill>
            <a:srgbClr val="FFFFFF"/>
          </a:solidFill>
          <a:ln w="9525">
            <a:solidFill>
              <a:srgbClr val="E2E0E6"/>
            </a:solid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0" y="1554480"/>
            <a:ext cx="3794760" cy="320040"/>
          </a:xfrm>
          <a:prstGeom prst="rect">
            <a:avLst/>
          </a:prstGeom>
          <a:noFill/>
        </p:spPr>
        <p:txBody>
          <a:bodyPr wrap="square" anchor="t" lIns="0" rIns="0" tIns="0" bIns="0">
            <a:spAutoFit/>
          </a:bodyPr>
          <a:lstStyle/>
          <a:p>
            <a:pPr algn="l">
              <a:lnSpc>
                <a:spcPct val="100000"/>
              </a:lnSpc>
            </a:pPr>
            <a:r>
              <a:rPr sz="1300" b="1" i="0">
                <a:solidFill>
                  <a:srgbClr val="14255C"/>
                </a:solidFill>
                <a:latin typeface="Calibri"/>
              </a:rPr>
              <a:t>WHY IT MATTERS</a:t>
            </a:r>
          </a:p>
        </p:txBody>
      </p:sp>
      <p:sp>
        <p:nvSpPr>
          <p:cNvPr id="15" name="TextBox 14"/>
          <p:cNvSpPr txBox="1"/>
          <p:nvPr/>
        </p:nvSpPr>
        <p:spPr>
          <a:xfrm>
            <a:off x="7680960" y="2011680"/>
            <a:ext cx="3794760" cy="2743200"/>
          </a:xfrm>
          <a:prstGeom prst="rect">
            <a:avLst/>
          </a:prstGeom>
          <a:noFill/>
        </p:spPr>
        <p:txBody>
          <a:bodyPr wrap="square" anchor="t" lIns="0" rIns="0" tIns="0" bIns="0">
            <a:spAutoFit/>
          </a:bodyPr>
          <a:lstStyle/>
          <a:p>
            <a:pPr algn="l">
              <a:lnSpc>
                <a:spcPct val="105000"/>
              </a:lnSpc>
              <a:spcAft>
                <a:spcPts val="1300"/>
              </a:spcAft>
            </a:pPr>
            <a:r>
              <a:rPr sz="1250">
                <a:solidFill>
                  <a:srgbClr val="222733"/>
                </a:solidFill>
                <a:latin typeface="Calibri"/>
              </a:rPr>
              <a:t>•  Feature ownership defined once in the registry</a:t>
            </a:r>
          </a:p>
          <a:p>
            <a:pPr algn="l">
              <a:lnSpc>
                <a:spcPct val="105000"/>
              </a:lnSpc>
              <a:spcAft>
                <a:spcPts val="1300"/>
              </a:spcAft>
            </a:pPr>
            <a:r>
              <a:rPr sz="1250">
                <a:solidFill>
                  <a:srgbClr val="222733"/>
                </a:solidFill>
                <a:latin typeface="Calibri"/>
              </a:rPr>
              <a:t>•  Routing behavior controlled through metadata, not code</a:t>
            </a:r>
          </a:p>
          <a:p>
            <a:pPr algn="l">
              <a:lnSpc>
                <a:spcPct val="105000"/>
              </a:lnSpc>
              <a:spcAft>
                <a:spcPts val="1300"/>
              </a:spcAft>
            </a:pPr>
            <a:r>
              <a:rPr sz="1250">
                <a:solidFill>
                  <a:srgbClr val="222733"/>
                </a:solidFill>
                <a:latin typeface="Calibri"/>
              </a:rPr>
              <a:t>•  New feature groups added with fewer pipeline changes</a:t>
            </a:r>
          </a:p>
          <a:p>
            <a:pPr algn="l">
              <a:lnSpc>
                <a:spcPct val="105000"/>
              </a:lnSpc>
              <a:spcAft>
                <a:spcPts val="1300"/>
              </a:spcAft>
            </a:pPr>
            <a:r>
              <a:rPr sz="1250">
                <a:solidFill>
                  <a:srgbClr val="222733"/>
                </a:solidFill>
                <a:latin typeface="Calibri"/>
              </a:rPr>
              <a:t>•  Prevents schema drift and hardcoded column lists</a:t>
            </a:r>
          </a:p>
        </p:txBody>
      </p:sp>
      <p:sp>
        <p:nvSpPr>
          <p:cNvPr id="16" name="TextBox 15"/>
          <p:cNvSpPr txBox="1"/>
          <p:nvPr/>
        </p:nvSpPr>
        <p:spPr>
          <a:xfrm>
            <a:off x="502920" y="5760720"/>
            <a:ext cx="11201400" cy="411480"/>
          </a:xfrm>
          <a:prstGeom prst="rect">
            <a:avLst/>
          </a:prstGeom>
          <a:noFill/>
        </p:spPr>
        <p:txBody>
          <a:bodyPr wrap="square" anchor="t" lIns="0" rIns="0" tIns="0" bIns="0">
            <a:spAutoFit/>
          </a:bodyPr>
          <a:lstStyle/>
          <a:p>
            <a:pPr algn="l">
              <a:lnSpc>
                <a:spcPct val="100000"/>
              </a:lnSpc>
            </a:pPr>
            <a:r>
              <a:rPr sz="1100" b="0" i="1">
                <a:solidFill>
                  <a:srgbClr val="7C8493"/>
                </a:solidFill>
                <a:latin typeface="Calibri"/>
              </a:rPr>
              <a:t>History is closed exactly once per event, before the updated active state is snapshotted — preventing overlapping or negative validity windows.</a:t>
            </a:r>
          </a:p>
        </p:txBody>
      </p:sp>
      <p:cxnSp>
        <p:nvCxnSpPr>
          <p:cNvPr id="17" name="Connector 16"/>
          <p:cNvCxnSpPr/>
          <p:nvPr/>
        </p:nvCxnSpPr>
        <p:spPr>
          <a:xfrm>
            <a:off x="411480" y="6473952"/>
            <a:ext cx="11384280" cy="0"/>
          </a:xfrm>
          <a:prstGeom prst="line">
            <a:avLst/>
          </a:prstGeom>
          <a:ln w="9525">
            <a:solidFill>
              <a:srgbClr val="E2E0E6"/>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11480" y="6528816"/>
            <a:ext cx="548640" cy="274320"/>
          </a:xfrm>
          <a:prstGeom prst="rect">
            <a:avLst/>
          </a:prstGeom>
          <a:noFill/>
        </p:spPr>
        <p:txBody>
          <a:bodyPr wrap="square" anchor="t" lIns="0" rIns="0" tIns="0" bIns="0">
            <a:spAutoFit/>
          </a:bodyPr>
          <a:lstStyle/>
          <a:p>
            <a:pPr algn="l">
              <a:lnSpc>
                <a:spcPct val="100000"/>
              </a:lnSpc>
            </a:pPr>
            <a:r>
              <a:rPr sz="1050" b="0" i="0">
                <a:solidFill>
                  <a:srgbClr val="7C8493"/>
                </a:solidFill>
                <a:latin typeface="Calibri"/>
              </a:rPr>
              <a:t>8</a:t>
            </a:r>
          </a:p>
        </p:txBody>
      </p:sp>
      <p:sp>
        <p:nvSpPr>
          <p:cNvPr id="19" name="Block Arc 18"/>
          <p:cNvSpPr/>
          <p:nvPr/>
        </p:nvSpPr>
        <p:spPr>
          <a:xfrm>
            <a:off x="9921240" y="6492240"/>
            <a:ext cx="237744" cy="219456"/>
          </a:xfrm>
          <a:prstGeom prst="blockArc">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222992" y="6473952"/>
            <a:ext cx="1554480" cy="201168"/>
          </a:xfrm>
          <a:prstGeom prst="rect">
            <a:avLst/>
          </a:prstGeom>
          <a:noFill/>
        </p:spPr>
        <p:txBody>
          <a:bodyPr wrap="square" anchor="t" lIns="0" rIns="0" tIns="0" bIns="0">
            <a:spAutoFit/>
          </a:bodyPr>
          <a:lstStyle/>
          <a:p>
            <a:pPr algn="l">
              <a:lnSpc>
                <a:spcPct val="100000"/>
              </a:lnSpc>
            </a:pPr>
            <a:r>
              <a:rPr sz="1050" b="1" i="0">
                <a:solidFill>
                  <a:srgbClr val="14255C"/>
                </a:solidFill>
                <a:latin typeface="Calibri"/>
              </a:rPr>
              <a:t>FARMERS</a:t>
            </a:r>
          </a:p>
        </p:txBody>
      </p:sp>
      <p:sp>
        <p:nvSpPr>
          <p:cNvPr id="21" name="TextBox 20"/>
          <p:cNvSpPr txBox="1"/>
          <p:nvPr/>
        </p:nvSpPr>
        <p:spPr>
          <a:xfrm>
            <a:off x="10222992" y="6647688"/>
            <a:ext cx="1554480" cy="182880"/>
          </a:xfrm>
          <a:prstGeom prst="rect">
            <a:avLst/>
          </a:prstGeom>
          <a:noFill/>
        </p:spPr>
        <p:txBody>
          <a:bodyPr wrap="square" anchor="t" lIns="0" rIns="0" tIns="0" bIns="0">
            <a:spAutoFit/>
          </a:bodyPr>
          <a:lstStyle/>
          <a:p>
            <a:pPr algn="l">
              <a:lnSpc>
                <a:spcPct val="100000"/>
              </a:lnSpc>
            </a:pPr>
            <a:r>
              <a:rPr sz="700" b="1" i="0">
                <a:solidFill>
                  <a:srgbClr val="7C8493"/>
                </a:solidFill>
                <a:latin typeface="Calibri"/>
              </a:rPr>
              <a:t>INSURANCE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10515600" cy="274320"/>
          </a:xfrm>
          <a:prstGeom prst="rect">
            <a:avLst/>
          </a:prstGeom>
          <a:noFill/>
        </p:spPr>
        <p:txBody>
          <a:bodyPr wrap="square" anchor="t" lIns="0" rIns="0" tIns="0" bIns="0">
            <a:spAutoFit/>
          </a:bodyPr>
          <a:lstStyle/>
          <a:p>
            <a:pPr algn="l">
              <a:lnSpc>
                <a:spcPct val="100000"/>
              </a:lnSpc>
            </a:pPr>
            <a:r>
              <a:rPr sz="1100" b="1" i="0">
                <a:solidFill>
                  <a:srgbClr val="B8872E"/>
                </a:solidFill>
                <a:latin typeface="Calibri"/>
              </a:rPr>
              <a:t>RESULTS &amp; RISK</a:t>
            </a:r>
          </a:p>
        </p:txBody>
      </p:sp>
      <p:sp>
        <p:nvSpPr>
          <p:cNvPr id="3" name="TextBox 2"/>
          <p:cNvSpPr txBox="1"/>
          <p:nvPr/>
        </p:nvSpPr>
        <p:spPr>
          <a:xfrm>
            <a:off x="502920" y="438912"/>
            <a:ext cx="10515600" cy="594360"/>
          </a:xfrm>
          <a:prstGeom prst="rect">
            <a:avLst/>
          </a:prstGeom>
          <a:noFill/>
        </p:spPr>
        <p:txBody>
          <a:bodyPr wrap="square" anchor="t" lIns="0" rIns="0" tIns="0" bIns="0">
            <a:spAutoFit/>
          </a:bodyPr>
          <a:lstStyle/>
          <a:p>
            <a:pPr algn="l">
              <a:lnSpc>
                <a:spcPct val="100000"/>
              </a:lnSpc>
            </a:pPr>
            <a:r>
              <a:rPr sz="2600" b="1" i="0">
                <a:solidFill>
                  <a:srgbClr val="14255C"/>
                </a:solidFill>
                <a:latin typeface="Calibri"/>
              </a:rPr>
              <a:t>What Changed</a:t>
            </a:r>
          </a:p>
        </p:txBody>
      </p:sp>
      <p:cxnSp>
        <p:nvCxnSpPr>
          <p:cNvPr id="4" name="Connector 3"/>
          <p:cNvCxnSpPr/>
          <p:nvPr/>
        </p:nvCxnSpPr>
        <p:spPr>
          <a:xfrm>
            <a:off x="502920" y="1042415"/>
            <a:ext cx="11183112" cy="0"/>
          </a:xfrm>
          <a:prstGeom prst="line">
            <a:avLst/>
          </a:prstGeom>
          <a:ln w="28575">
            <a:solidFill>
              <a:srgbClr val="14255C"/>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02920" y="1325880"/>
            <a:ext cx="2670048" cy="1371600"/>
          </a:xfrm>
          <a:prstGeom prst="roundRect">
            <a:avLst>
              <a:gd name="adj" fmla="val 5000"/>
            </a:avLst>
          </a:prstGeom>
          <a:solidFill>
            <a:srgbClr val="14255C"/>
          </a:solidFill>
          <a:ln w="9525">
            <a:solidFill>
              <a:srgbClr val="E2E0E6"/>
            </a:solid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72184"/>
            <a:ext cx="2670048" cy="594360"/>
          </a:xfrm>
          <a:prstGeom prst="rect">
            <a:avLst/>
          </a:prstGeom>
          <a:noFill/>
        </p:spPr>
        <p:txBody>
          <a:bodyPr wrap="square" anchor="t" lIns="0" rIns="0" tIns="0" bIns="0">
            <a:spAutoFit/>
          </a:bodyPr>
          <a:lstStyle/>
          <a:p>
            <a:pPr algn="ctr">
              <a:lnSpc>
                <a:spcPct val="100000"/>
              </a:lnSpc>
            </a:pPr>
            <a:r>
              <a:rPr sz="2800" b="1" i="0">
                <a:solidFill>
                  <a:srgbClr val="FFFFFF"/>
                </a:solidFill>
                <a:latin typeface="Calibri"/>
              </a:rPr>
              <a:t>29</a:t>
            </a:r>
          </a:p>
        </p:txBody>
      </p:sp>
      <p:sp>
        <p:nvSpPr>
          <p:cNvPr id="7" name="TextBox 6"/>
          <p:cNvSpPr txBox="1"/>
          <p:nvPr/>
        </p:nvSpPr>
        <p:spPr>
          <a:xfrm>
            <a:off x="685800" y="2103120"/>
            <a:ext cx="2304288" cy="548640"/>
          </a:xfrm>
          <a:prstGeom prst="rect">
            <a:avLst/>
          </a:prstGeom>
          <a:noFill/>
        </p:spPr>
        <p:txBody>
          <a:bodyPr wrap="square" anchor="t" lIns="0" rIns="0" tIns="0" bIns="0">
            <a:spAutoFit/>
          </a:bodyPr>
          <a:lstStyle/>
          <a:p>
            <a:pPr algn="ctr">
              <a:lnSpc>
                <a:spcPct val="100000"/>
              </a:lnSpc>
            </a:pPr>
            <a:r>
              <a:rPr sz="1100" b="0" i="0">
                <a:solidFill>
                  <a:srgbClr val="C9DAE2"/>
                </a:solidFill>
                <a:latin typeface="Calibri"/>
              </a:rPr>
              <a:t>features centrally</a:t>
            </a:r>
          </a:p>
          <a:p>
            <a:pPr algn="ctr">
              <a:lnSpc>
                <a:spcPct val="100000"/>
              </a:lnSpc>
            </a:pPr>
            <a:r>
              <a:rPr sz="1100" b="0" i="0">
                <a:solidFill>
                  <a:srgbClr val="C9DAE2"/>
                </a:solidFill>
                <a:latin typeface="Calibri"/>
              </a:rPr>
              <a:t>computed</a:t>
            </a:r>
          </a:p>
        </p:txBody>
      </p:sp>
      <p:sp>
        <p:nvSpPr>
          <p:cNvPr id="8" name="Rounded Rectangle 7"/>
          <p:cNvSpPr/>
          <p:nvPr/>
        </p:nvSpPr>
        <p:spPr>
          <a:xfrm>
            <a:off x="3355848" y="1325880"/>
            <a:ext cx="2670048" cy="1371600"/>
          </a:xfrm>
          <a:prstGeom prst="roundRect">
            <a:avLst>
              <a:gd name="adj" fmla="val 5000"/>
            </a:avLst>
          </a:prstGeom>
          <a:solidFill>
            <a:srgbClr val="14255C"/>
          </a:solidFill>
          <a:ln w="9525">
            <a:solidFill>
              <a:srgbClr val="E2E0E6"/>
            </a:solid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55848" y="1472184"/>
            <a:ext cx="2670048" cy="594360"/>
          </a:xfrm>
          <a:prstGeom prst="rect">
            <a:avLst/>
          </a:prstGeom>
          <a:noFill/>
        </p:spPr>
        <p:txBody>
          <a:bodyPr wrap="square" anchor="t" lIns="0" rIns="0" tIns="0" bIns="0">
            <a:spAutoFit/>
          </a:bodyPr>
          <a:lstStyle/>
          <a:p>
            <a:pPr algn="ctr">
              <a:lnSpc>
                <a:spcPct val="100000"/>
              </a:lnSpc>
            </a:pPr>
            <a:r>
              <a:rPr sz="2800" b="1" i="0">
                <a:solidFill>
                  <a:srgbClr val="FFFFFF"/>
                </a:solidFill>
                <a:latin typeface="Calibri"/>
              </a:rPr>
              <a:t>~130 ms</a:t>
            </a:r>
          </a:p>
        </p:txBody>
      </p:sp>
      <p:sp>
        <p:nvSpPr>
          <p:cNvPr id="10" name="TextBox 9"/>
          <p:cNvSpPr txBox="1"/>
          <p:nvPr/>
        </p:nvSpPr>
        <p:spPr>
          <a:xfrm>
            <a:off x="3538728" y="2103120"/>
            <a:ext cx="2304288" cy="548640"/>
          </a:xfrm>
          <a:prstGeom prst="rect">
            <a:avLst/>
          </a:prstGeom>
          <a:noFill/>
        </p:spPr>
        <p:txBody>
          <a:bodyPr wrap="square" anchor="t" lIns="0" rIns="0" tIns="0" bIns="0">
            <a:spAutoFit/>
          </a:bodyPr>
          <a:lstStyle/>
          <a:p>
            <a:pPr algn="ctr">
              <a:lnSpc>
                <a:spcPct val="100000"/>
              </a:lnSpc>
            </a:pPr>
            <a:r>
              <a:rPr sz="1100" b="0" i="0">
                <a:solidFill>
                  <a:srgbClr val="C9DAE2"/>
                </a:solidFill>
                <a:latin typeface="Calibri"/>
              </a:rPr>
              <a:t>observed lookup</a:t>
            </a:r>
          </a:p>
          <a:p>
            <a:pPr algn="ctr">
              <a:lnSpc>
                <a:spcPct val="100000"/>
              </a:lnSpc>
            </a:pPr>
            <a:r>
              <a:rPr sz="1100" b="0" i="0">
                <a:solidFill>
                  <a:srgbClr val="C9DAE2"/>
                </a:solidFill>
                <a:latin typeface="Calibri"/>
              </a:rPr>
              <a:t>latency</a:t>
            </a:r>
          </a:p>
        </p:txBody>
      </p:sp>
      <p:sp>
        <p:nvSpPr>
          <p:cNvPr id="11" name="Rounded Rectangle 10"/>
          <p:cNvSpPr/>
          <p:nvPr/>
        </p:nvSpPr>
        <p:spPr>
          <a:xfrm>
            <a:off x="6208776" y="1325880"/>
            <a:ext cx="2670048" cy="1371600"/>
          </a:xfrm>
          <a:prstGeom prst="roundRect">
            <a:avLst>
              <a:gd name="adj" fmla="val 5000"/>
            </a:avLst>
          </a:prstGeom>
          <a:solidFill>
            <a:srgbClr val="14255C"/>
          </a:solidFill>
          <a:ln w="9525">
            <a:solidFill>
              <a:srgbClr val="E2E0E6"/>
            </a:solid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08776" y="1472184"/>
            <a:ext cx="2670048" cy="594360"/>
          </a:xfrm>
          <a:prstGeom prst="rect">
            <a:avLst/>
          </a:prstGeom>
          <a:noFill/>
        </p:spPr>
        <p:txBody>
          <a:bodyPr wrap="square" anchor="t" lIns="0" rIns="0" tIns="0" bIns="0">
            <a:spAutoFit/>
          </a:bodyPr>
          <a:lstStyle/>
          <a:p>
            <a:pPr algn="ctr">
              <a:lnSpc>
                <a:spcPct val="100000"/>
              </a:lnSpc>
            </a:pPr>
            <a:r>
              <a:rPr sz="2800" b="1" i="0">
                <a:solidFill>
                  <a:srgbClr val="FFFFFF"/>
                </a:solidFill>
                <a:latin typeface="Calibri"/>
              </a:rPr>
              <a:t>1</a:t>
            </a:r>
          </a:p>
        </p:txBody>
      </p:sp>
      <p:sp>
        <p:nvSpPr>
          <p:cNvPr id="13" name="TextBox 12"/>
          <p:cNvSpPr txBox="1"/>
          <p:nvPr/>
        </p:nvSpPr>
        <p:spPr>
          <a:xfrm>
            <a:off x="6391656" y="2103120"/>
            <a:ext cx="2304288" cy="548640"/>
          </a:xfrm>
          <a:prstGeom prst="rect">
            <a:avLst/>
          </a:prstGeom>
          <a:noFill/>
        </p:spPr>
        <p:txBody>
          <a:bodyPr wrap="square" anchor="t" lIns="0" rIns="0" tIns="0" bIns="0">
            <a:spAutoFit/>
          </a:bodyPr>
          <a:lstStyle/>
          <a:p>
            <a:pPr algn="ctr">
              <a:lnSpc>
                <a:spcPct val="100000"/>
              </a:lnSpc>
            </a:pPr>
            <a:r>
              <a:rPr sz="1100" b="0" i="0">
                <a:solidFill>
                  <a:srgbClr val="C9DAE2"/>
                </a:solidFill>
                <a:latin typeface="Calibri"/>
              </a:rPr>
              <a:t>active row</a:t>
            </a:r>
          </a:p>
          <a:p>
            <a:pPr algn="ctr">
              <a:lnSpc>
                <a:spcPct val="100000"/>
              </a:lnSpc>
            </a:pPr>
            <a:r>
              <a:rPr sz="1100" b="0" i="0">
                <a:solidFill>
                  <a:srgbClr val="C9DAE2"/>
                </a:solidFill>
                <a:latin typeface="Calibri"/>
              </a:rPr>
              <a:t>per policy</a:t>
            </a:r>
          </a:p>
        </p:txBody>
      </p:sp>
      <p:sp>
        <p:nvSpPr>
          <p:cNvPr id="14" name="Rounded Rectangle 13"/>
          <p:cNvSpPr/>
          <p:nvPr/>
        </p:nvSpPr>
        <p:spPr>
          <a:xfrm>
            <a:off x="9061704" y="1325880"/>
            <a:ext cx="2670048" cy="1371600"/>
          </a:xfrm>
          <a:prstGeom prst="roundRect">
            <a:avLst>
              <a:gd name="adj" fmla="val 5000"/>
            </a:avLst>
          </a:prstGeom>
          <a:solidFill>
            <a:srgbClr val="14255C"/>
          </a:solidFill>
          <a:ln w="9525">
            <a:solidFill>
              <a:srgbClr val="E2E0E6"/>
            </a:solid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61704" y="1472184"/>
            <a:ext cx="2670048" cy="594360"/>
          </a:xfrm>
          <a:prstGeom prst="rect">
            <a:avLst/>
          </a:prstGeom>
          <a:noFill/>
        </p:spPr>
        <p:txBody>
          <a:bodyPr wrap="square" anchor="t" lIns="0" rIns="0" tIns="0" bIns="0">
            <a:spAutoFit/>
          </a:bodyPr>
          <a:lstStyle/>
          <a:p>
            <a:pPr algn="ctr">
              <a:lnSpc>
                <a:spcPct val="100000"/>
              </a:lnSpc>
            </a:pPr>
            <a:r>
              <a:rPr sz="2800" b="1" i="0">
                <a:solidFill>
                  <a:srgbClr val="FFFFFF"/>
                </a:solidFill>
                <a:latin typeface="Calibri"/>
              </a:rPr>
              <a:t>3</a:t>
            </a:r>
          </a:p>
        </p:txBody>
      </p:sp>
      <p:sp>
        <p:nvSpPr>
          <p:cNvPr id="16" name="TextBox 15"/>
          <p:cNvSpPr txBox="1"/>
          <p:nvPr/>
        </p:nvSpPr>
        <p:spPr>
          <a:xfrm>
            <a:off x="9244584" y="2103120"/>
            <a:ext cx="2304288" cy="548640"/>
          </a:xfrm>
          <a:prstGeom prst="rect">
            <a:avLst/>
          </a:prstGeom>
          <a:noFill/>
        </p:spPr>
        <p:txBody>
          <a:bodyPr wrap="square" anchor="t" lIns="0" rIns="0" tIns="0" bIns="0">
            <a:spAutoFit/>
          </a:bodyPr>
          <a:lstStyle/>
          <a:p>
            <a:pPr algn="ctr">
              <a:lnSpc>
                <a:spcPct val="100000"/>
              </a:lnSpc>
            </a:pPr>
            <a:r>
              <a:rPr sz="1100" b="0" i="0">
                <a:solidFill>
                  <a:srgbClr val="C9DAE2"/>
                </a:solidFill>
                <a:latin typeface="Calibri"/>
              </a:rPr>
              <a:t>time states</a:t>
            </a:r>
          </a:p>
          <a:p>
            <a:pPr algn="ctr">
              <a:lnSpc>
                <a:spcPct val="100000"/>
              </a:lnSpc>
            </a:pPr>
            <a:r>
              <a:rPr sz="1100" b="0" i="0">
                <a:solidFill>
                  <a:srgbClr val="C9DAE2"/>
                </a:solidFill>
                <a:latin typeface="Calibri"/>
              </a:rPr>
              <a:t>(past · present · future)</a:t>
            </a:r>
          </a:p>
        </p:txBody>
      </p:sp>
      <p:sp>
        <p:nvSpPr>
          <p:cNvPr id="17" name="Rounded Rectangle 16"/>
          <p:cNvSpPr/>
          <p:nvPr/>
        </p:nvSpPr>
        <p:spPr>
          <a:xfrm>
            <a:off x="502920" y="3017520"/>
            <a:ext cx="5532120" cy="1325880"/>
          </a:xfrm>
          <a:prstGeom prst="roundRect">
            <a:avLst>
              <a:gd name="adj" fmla="val 5000"/>
            </a:avLst>
          </a:prstGeom>
          <a:solidFill>
            <a:srgbClr val="FFFFFF"/>
          </a:solidFill>
          <a:ln w="9525">
            <a:solidFill>
              <a:srgbClr val="E2E0E6"/>
            </a:solid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02920" y="3017520"/>
            <a:ext cx="73152" cy="1325880"/>
          </a:xfrm>
          <a:prstGeom prst="roundRect">
            <a:avLst>
              <a:gd name="adj" fmla="val 0"/>
            </a:avLst>
          </a:prstGeom>
          <a:solidFill>
            <a:srgbClr val="14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 y="3136391"/>
            <a:ext cx="5074920" cy="320040"/>
          </a:xfrm>
          <a:prstGeom prst="rect">
            <a:avLst/>
          </a:prstGeom>
          <a:noFill/>
        </p:spPr>
        <p:txBody>
          <a:bodyPr wrap="square" anchor="t" lIns="0" rIns="0" tIns="0" bIns="0">
            <a:spAutoFit/>
          </a:bodyPr>
          <a:lstStyle/>
          <a:p>
            <a:pPr algn="l">
              <a:lnSpc>
                <a:spcPct val="100000"/>
              </a:lnSpc>
            </a:pPr>
            <a:r>
              <a:rPr sz="1350" b="1" i="0">
                <a:solidFill>
                  <a:srgbClr val="14255C"/>
                </a:solidFill>
                <a:latin typeface="Calibri"/>
              </a:rPr>
              <a:t>No Recalculation</a:t>
            </a:r>
          </a:p>
        </p:txBody>
      </p:sp>
      <p:sp>
        <p:nvSpPr>
          <p:cNvPr id="20" name="TextBox 19"/>
          <p:cNvSpPr txBox="1"/>
          <p:nvPr/>
        </p:nvSpPr>
        <p:spPr>
          <a:xfrm>
            <a:off x="758952" y="3493008"/>
            <a:ext cx="5074920" cy="731519"/>
          </a:xfrm>
          <a:prstGeom prst="rect">
            <a:avLst/>
          </a:prstGeom>
          <a:noFill/>
        </p:spPr>
        <p:txBody>
          <a:bodyPr wrap="square" anchor="t" lIns="0" rIns="0" tIns="0" bIns="0">
            <a:spAutoFit/>
          </a:bodyPr>
          <a:lstStyle/>
          <a:p>
            <a:pPr algn="l">
              <a:lnSpc>
                <a:spcPct val="110000"/>
              </a:lnSpc>
            </a:pPr>
            <a:r>
              <a:rPr sz="1100" b="0" i="0">
                <a:solidFill>
                  <a:srgbClr val="222733"/>
                </a:solidFill>
                <a:latin typeface="Calibri"/>
              </a:rPr>
              <a:t>Models consume precomputed features rather than rebuilding the same business logic.</a:t>
            </a:r>
          </a:p>
        </p:txBody>
      </p:sp>
      <p:sp>
        <p:nvSpPr>
          <p:cNvPr id="21" name="Rounded Rectangle 20"/>
          <p:cNvSpPr/>
          <p:nvPr/>
        </p:nvSpPr>
        <p:spPr>
          <a:xfrm>
            <a:off x="6217920" y="3017520"/>
            <a:ext cx="5532120" cy="1325880"/>
          </a:xfrm>
          <a:prstGeom prst="roundRect">
            <a:avLst>
              <a:gd name="adj" fmla="val 5000"/>
            </a:avLst>
          </a:prstGeom>
          <a:solidFill>
            <a:srgbClr val="FFFFFF"/>
          </a:solidFill>
          <a:ln w="9525">
            <a:solidFill>
              <a:srgbClr val="E2E0E6"/>
            </a:solid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217920" y="3017520"/>
            <a:ext cx="73152" cy="1325880"/>
          </a:xfrm>
          <a:prstGeom prst="roundRect">
            <a:avLst>
              <a:gd name="adj" fmla="val 0"/>
            </a:avLst>
          </a:prstGeom>
          <a:solidFill>
            <a:srgbClr val="B88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73952" y="3136391"/>
            <a:ext cx="5074920" cy="320040"/>
          </a:xfrm>
          <a:prstGeom prst="rect">
            <a:avLst/>
          </a:prstGeom>
          <a:noFill/>
        </p:spPr>
        <p:txBody>
          <a:bodyPr wrap="square" anchor="t" lIns="0" rIns="0" tIns="0" bIns="0">
            <a:spAutoFit/>
          </a:bodyPr>
          <a:lstStyle/>
          <a:p>
            <a:pPr algn="l">
              <a:lnSpc>
                <a:spcPct val="100000"/>
              </a:lnSpc>
            </a:pPr>
            <a:r>
              <a:rPr sz="1350" b="1" i="0">
                <a:solidFill>
                  <a:srgbClr val="14255C"/>
                </a:solidFill>
                <a:latin typeface="Calibri"/>
              </a:rPr>
              <a:t>Consistency</a:t>
            </a:r>
          </a:p>
        </p:txBody>
      </p:sp>
      <p:sp>
        <p:nvSpPr>
          <p:cNvPr id="24" name="TextBox 23"/>
          <p:cNvSpPr txBox="1"/>
          <p:nvPr/>
        </p:nvSpPr>
        <p:spPr>
          <a:xfrm>
            <a:off x="6473952" y="3493008"/>
            <a:ext cx="5074920" cy="731519"/>
          </a:xfrm>
          <a:prstGeom prst="rect">
            <a:avLst/>
          </a:prstGeom>
          <a:noFill/>
        </p:spPr>
        <p:txBody>
          <a:bodyPr wrap="square" anchor="t" lIns="0" rIns="0" tIns="0" bIns="0">
            <a:spAutoFit/>
          </a:bodyPr>
          <a:lstStyle/>
          <a:p>
            <a:pPr algn="l">
              <a:lnSpc>
                <a:spcPct val="110000"/>
              </a:lnSpc>
            </a:pPr>
            <a:r>
              <a:rPr sz="1100" b="0" i="0">
                <a:solidFill>
                  <a:srgbClr val="222733"/>
                </a:solidFill>
                <a:latin typeface="Calibri"/>
              </a:rPr>
              <a:t>Every model receives features from the same governed definitions and active table.</a:t>
            </a:r>
          </a:p>
        </p:txBody>
      </p:sp>
      <p:sp>
        <p:nvSpPr>
          <p:cNvPr id="25" name="Rounded Rectangle 24"/>
          <p:cNvSpPr/>
          <p:nvPr/>
        </p:nvSpPr>
        <p:spPr>
          <a:xfrm>
            <a:off x="502920" y="4507992"/>
            <a:ext cx="5532120" cy="1325880"/>
          </a:xfrm>
          <a:prstGeom prst="roundRect">
            <a:avLst>
              <a:gd name="adj" fmla="val 5000"/>
            </a:avLst>
          </a:prstGeom>
          <a:solidFill>
            <a:srgbClr val="FFFFFF"/>
          </a:solidFill>
          <a:ln w="9525">
            <a:solidFill>
              <a:srgbClr val="E2E0E6"/>
            </a:solid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502920" y="4507992"/>
            <a:ext cx="73152" cy="1325880"/>
          </a:xfrm>
          <a:prstGeom prst="roundRect">
            <a:avLst>
              <a:gd name="adj" fmla="val 0"/>
            </a:avLst>
          </a:prstGeom>
          <a:solidFill>
            <a:srgbClr val="14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58952" y="4626864"/>
            <a:ext cx="5074920" cy="320040"/>
          </a:xfrm>
          <a:prstGeom prst="rect">
            <a:avLst/>
          </a:prstGeom>
          <a:noFill/>
        </p:spPr>
        <p:txBody>
          <a:bodyPr wrap="square" anchor="t" lIns="0" rIns="0" tIns="0" bIns="0">
            <a:spAutoFit/>
          </a:bodyPr>
          <a:lstStyle/>
          <a:p>
            <a:pPr algn="l">
              <a:lnSpc>
                <a:spcPct val="100000"/>
              </a:lnSpc>
            </a:pPr>
            <a:r>
              <a:rPr sz="1350" b="1" i="0">
                <a:solidFill>
                  <a:srgbClr val="14255C"/>
                </a:solidFill>
                <a:latin typeface="Calibri"/>
              </a:rPr>
              <a:t>Traceability &amp; Auditability</a:t>
            </a:r>
          </a:p>
        </p:txBody>
      </p:sp>
      <p:sp>
        <p:nvSpPr>
          <p:cNvPr id="28" name="TextBox 27"/>
          <p:cNvSpPr txBox="1"/>
          <p:nvPr/>
        </p:nvSpPr>
        <p:spPr>
          <a:xfrm>
            <a:off x="758952" y="4983479"/>
            <a:ext cx="5074920" cy="731519"/>
          </a:xfrm>
          <a:prstGeom prst="rect">
            <a:avLst/>
          </a:prstGeom>
          <a:noFill/>
        </p:spPr>
        <p:txBody>
          <a:bodyPr wrap="square" anchor="t" lIns="0" rIns="0" tIns="0" bIns="0">
            <a:spAutoFit/>
          </a:bodyPr>
          <a:lstStyle/>
          <a:p>
            <a:pPr algn="l">
              <a:lnSpc>
                <a:spcPct val="110000"/>
              </a:lnSpc>
            </a:pPr>
            <a:r>
              <a:rPr sz="1100" b="0" i="0">
                <a:solidFill>
                  <a:srgbClr val="222733"/>
                </a:solidFill>
                <a:latin typeface="Calibri"/>
              </a:rPr>
              <a:t>Source transaction IDs, validity windows, and history allow feature-state reconstruction.</a:t>
            </a:r>
          </a:p>
        </p:txBody>
      </p:sp>
      <p:sp>
        <p:nvSpPr>
          <p:cNvPr id="29" name="Rounded Rectangle 28"/>
          <p:cNvSpPr/>
          <p:nvPr/>
        </p:nvSpPr>
        <p:spPr>
          <a:xfrm>
            <a:off x="6217920" y="4507992"/>
            <a:ext cx="5532120" cy="1325880"/>
          </a:xfrm>
          <a:prstGeom prst="roundRect">
            <a:avLst>
              <a:gd name="adj" fmla="val 5000"/>
            </a:avLst>
          </a:prstGeom>
          <a:solidFill>
            <a:srgbClr val="FFFFFF"/>
          </a:solidFill>
          <a:ln w="9525">
            <a:solidFill>
              <a:srgbClr val="E2E0E6"/>
            </a:solid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217920" y="4507992"/>
            <a:ext cx="73152" cy="1325880"/>
          </a:xfrm>
          <a:prstGeom prst="roundRect">
            <a:avLst>
              <a:gd name="adj" fmla="val 0"/>
            </a:avLst>
          </a:prstGeom>
          <a:solidFill>
            <a:srgbClr val="B88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73952" y="4626864"/>
            <a:ext cx="5074920" cy="320040"/>
          </a:xfrm>
          <a:prstGeom prst="rect">
            <a:avLst/>
          </a:prstGeom>
          <a:noFill/>
        </p:spPr>
        <p:txBody>
          <a:bodyPr wrap="square" anchor="t" lIns="0" rIns="0" tIns="0" bIns="0">
            <a:spAutoFit/>
          </a:bodyPr>
          <a:lstStyle/>
          <a:p>
            <a:pPr algn="l">
              <a:lnSpc>
                <a:spcPct val="100000"/>
              </a:lnSpc>
            </a:pPr>
            <a:r>
              <a:rPr sz="1350" b="1" i="0">
                <a:solidFill>
                  <a:srgbClr val="14255C"/>
                </a:solidFill>
                <a:latin typeface="Calibri"/>
              </a:rPr>
              <a:t>Reusability &amp; Scale</a:t>
            </a:r>
          </a:p>
        </p:txBody>
      </p:sp>
      <p:sp>
        <p:nvSpPr>
          <p:cNvPr id="32" name="TextBox 31"/>
          <p:cNvSpPr txBox="1"/>
          <p:nvPr/>
        </p:nvSpPr>
        <p:spPr>
          <a:xfrm>
            <a:off x="6473952" y="4983479"/>
            <a:ext cx="5074920" cy="731519"/>
          </a:xfrm>
          <a:prstGeom prst="rect">
            <a:avLst/>
          </a:prstGeom>
          <a:noFill/>
        </p:spPr>
        <p:txBody>
          <a:bodyPr wrap="square" anchor="t" lIns="0" rIns="0" tIns="0" bIns="0">
            <a:spAutoFit/>
          </a:bodyPr>
          <a:lstStyle/>
          <a:p>
            <a:pPr algn="l">
              <a:lnSpc>
                <a:spcPct val="110000"/>
              </a:lnSpc>
            </a:pPr>
            <a:r>
              <a:rPr sz="1100" b="0" i="0">
                <a:solidFill>
                  <a:srgbClr val="222733"/>
                </a:solidFill>
                <a:latin typeface="Calibri"/>
              </a:rPr>
              <a:t>The same serving layer can support more models and more feature groups.</a:t>
            </a:r>
          </a:p>
        </p:txBody>
      </p:sp>
      <p:sp>
        <p:nvSpPr>
          <p:cNvPr id="33" name="TextBox 32"/>
          <p:cNvSpPr txBox="1"/>
          <p:nvPr/>
        </p:nvSpPr>
        <p:spPr>
          <a:xfrm>
            <a:off x="502920" y="6035040"/>
            <a:ext cx="11201400" cy="274320"/>
          </a:xfrm>
          <a:prstGeom prst="rect">
            <a:avLst/>
          </a:prstGeom>
          <a:noFill/>
        </p:spPr>
        <p:txBody>
          <a:bodyPr wrap="square" anchor="t" lIns="0" rIns="0" tIns="0" bIns="0">
            <a:spAutoFit/>
          </a:bodyPr>
          <a:lstStyle/>
          <a:p>
            <a:pPr algn="l">
              <a:lnSpc>
                <a:spcPct val="100000"/>
              </a:lnSpc>
            </a:pPr>
            <a:r>
              <a:rPr sz="1000" b="0" i="1">
                <a:solidFill>
                  <a:srgbClr val="7C8493"/>
                </a:solidFill>
                <a:latin typeface="Calibri"/>
              </a:rPr>
              <a:t>Latency represents an observed project test result, not a guaranteed service-level agreement.</a:t>
            </a:r>
          </a:p>
        </p:txBody>
      </p:sp>
      <p:cxnSp>
        <p:nvCxnSpPr>
          <p:cNvPr id="34" name="Connector 33"/>
          <p:cNvCxnSpPr/>
          <p:nvPr/>
        </p:nvCxnSpPr>
        <p:spPr>
          <a:xfrm>
            <a:off x="411480" y="6473952"/>
            <a:ext cx="11384280" cy="0"/>
          </a:xfrm>
          <a:prstGeom prst="line">
            <a:avLst/>
          </a:prstGeom>
          <a:ln w="9525">
            <a:solidFill>
              <a:srgbClr val="E2E0E6"/>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411480" y="6528816"/>
            <a:ext cx="548640" cy="274320"/>
          </a:xfrm>
          <a:prstGeom prst="rect">
            <a:avLst/>
          </a:prstGeom>
          <a:noFill/>
        </p:spPr>
        <p:txBody>
          <a:bodyPr wrap="square" anchor="t" lIns="0" rIns="0" tIns="0" bIns="0">
            <a:spAutoFit/>
          </a:bodyPr>
          <a:lstStyle/>
          <a:p>
            <a:pPr algn="l">
              <a:lnSpc>
                <a:spcPct val="100000"/>
              </a:lnSpc>
            </a:pPr>
            <a:r>
              <a:rPr sz="1050" b="0" i="0">
                <a:solidFill>
                  <a:srgbClr val="7C8493"/>
                </a:solidFill>
                <a:latin typeface="Calibri"/>
              </a:rPr>
              <a:t>9</a:t>
            </a:r>
          </a:p>
        </p:txBody>
      </p:sp>
      <p:sp>
        <p:nvSpPr>
          <p:cNvPr id="36" name="Block Arc 35"/>
          <p:cNvSpPr/>
          <p:nvPr/>
        </p:nvSpPr>
        <p:spPr>
          <a:xfrm>
            <a:off x="9921240" y="6492240"/>
            <a:ext cx="237744" cy="219456"/>
          </a:xfrm>
          <a:prstGeom prst="blockArc">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222992" y="6473952"/>
            <a:ext cx="1554480" cy="201168"/>
          </a:xfrm>
          <a:prstGeom prst="rect">
            <a:avLst/>
          </a:prstGeom>
          <a:noFill/>
        </p:spPr>
        <p:txBody>
          <a:bodyPr wrap="square" anchor="t" lIns="0" rIns="0" tIns="0" bIns="0">
            <a:spAutoFit/>
          </a:bodyPr>
          <a:lstStyle/>
          <a:p>
            <a:pPr algn="l">
              <a:lnSpc>
                <a:spcPct val="100000"/>
              </a:lnSpc>
            </a:pPr>
            <a:r>
              <a:rPr sz="1050" b="1" i="0">
                <a:solidFill>
                  <a:srgbClr val="14255C"/>
                </a:solidFill>
                <a:latin typeface="Calibri"/>
              </a:rPr>
              <a:t>FARMERS</a:t>
            </a:r>
          </a:p>
        </p:txBody>
      </p:sp>
      <p:sp>
        <p:nvSpPr>
          <p:cNvPr id="38" name="TextBox 37"/>
          <p:cNvSpPr txBox="1"/>
          <p:nvPr/>
        </p:nvSpPr>
        <p:spPr>
          <a:xfrm>
            <a:off x="10222992" y="6647688"/>
            <a:ext cx="1554480" cy="182880"/>
          </a:xfrm>
          <a:prstGeom prst="rect">
            <a:avLst/>
          </a:prstGeom>
          <a:noFill/>
        </p:spPr>
        <p:txBody>
          <a:bodyPr wrap="square" anchor="t" lIns="0" rIns="0" tIns="0" bIns="0">
            <a:spAutoFit/>
          </a:bodyPr>
          <a:lstStyle/>
          <a:p>
            <a:pPr algn="l">
              <a:lnSpc>
                <a:spcPct val="100000"/>
              </a:lnSpc>
            </a:pPr>
            <a:r>
              <a:rPr sz="700" b="1" i="0">
                <a:solidFill>
                  <a:srgbClr val="7C8493"/>
                </a:solidFill>
                <a:latin typeface="Calibri"/>
              </a:rPr>
              <a:t>INSURANCE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10515600" cy="274320"/>
          </a:xfrm>
          <a:prstGeom prst="rect">
            <a:avLst/>
          </a:prstGeom>
          <a:noFill/>
        </p:spPr>
        <p:txBody>
          <a:bodyPr wrap="square" anchor="t" lIns="0" rIns="0" tIns="0" bIns="0">
            <a:spAutoFit/>
          </a:bodyPr>
          <a:lstStyle/>
          <a:p>
            <a:pPr algn="l">
              <a:lnSpc>
                <a:spcPct val="100000"/>
              </a:lnSpc>
            </a:pPr>
            <a:r>
              <a:rPr sz="1100" b="1" i="0">
                <a:solidFill>
                  <a:srgbClr val="B8872E"/>
                </a:solidFill>
                <a:latin typeface="Calibri"/>
              </a:rPr>
              <a:t>RESULTS &amp; RISK</a:t>
            </a:r>
          </a:p>
        </p:txBody>
      </p:sp>
      <p:sp>
        <p:nvSpPr>
          <p:cNvPr id="3" name="TextBox 2"/>
          <p:cNvSpPr txBox="1"/>
          <p:nvPr/>
        </p:nvSpPr>
        <p:spPr>
          <a:xfrm>
            <a:off x="502920" y="438912"/>
            <a:ext cx="10515600" cy="594360"/>
          </a:xfrm>
          <a:prstGeom prst="rect">
            <a:avLst/>
          </a:prstGeom>
          <a:noFill/>
        </p:spPr>
        <p:txBody>
          <a:bodyPr wrap="square" anchor="t" lIns="0" rIns="0" tIns="0" bIns="0">
            <a:spAutoFit/>
          </a:bodyPr>
          <a:lstStyle/>
          <a:p>
            <a:pPr algn="l">
              <a:lnSpc>
                <a:spcPct val="100000"/>
              </a:lnSpc>
            </a:pPr>
            <a:r>
              <a:rPr sz="2600" b="1" i="0">
                <a:solidFill>
                  <a:srgbClr val="14255C"/>
                </a:solidFill>
                <a:latin typeface="Calibri"/>
              </a:rPr>
              <a:t>Where the Real Risk Sits</a:t>
            </a:r>
          </a:p>
        </p:txBody>
      </p:sp>
      <p:cxnSp>
        <p:nvCxnSpPr>
          <p:cNvPr id="4" name="Connector 3"/>
          <p:cNvCxnSpPr/>
          <p:nvPr/>
        </p:nvCxnSpPr>
        <p:spPr>
          <a:xfrm>
            <a:off x="502920" y="1042415"/>
            <a:ext cx="11183112" cy="0"/>
          </a:xfrm>
          <a:prstGeom prst="line">
            <a:avLst/>
          </a:prstGeom>
          <a:ln w="28575">
            <a:solidFill>
              <a:srgbClr val="14255C"/>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1188720" y="1417320"/>
            <a:ext cx="4663440" cy="4663440"/>
          </a:xfrm>
          <a:prstGeom prst="roundRect">
            <a:avLst>
              <a:gd name="adj" fmla="val 0"/>
            </a:avLst>
          </a:prstGeom>
          <a:solidFill>
            <a:srgbClr val="F7F7F9"/>
          </a:solidFill>
          <a:ln w="12700">
            <a:solidFill>
              <a:srgbClr val="E2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1188720" y="2971800"/>
            <a:ext cx="4663439" cy="0"/>
          </a:xfrm>
          <a:prstGeom prst="line">
            <a:avLst/>
          </a:prstGeom>
          <a:ln w="9525">
            <a:solidFill>
              <a:srgbClr val="E2E0E6"/>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743200" y="1417320"/>
            <a:ext cx="0" cy="4663439"/>
          </a:xfrm>
          <a:prstGeom prst="line">
            <a:avLst/>
          </a:prstGeom>
          <a:ln w="9525">
            <a:solidFill>
              <a:srgbClr val="E2E0E6"/>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88720" y="4526280"/>
            <a:ext cx="4663439" cy="0"/>
          </a:xfrm>
          <a:prstGeom prst="line">
            <a:avLst/>
          </a:prstGeom>
          <a:ln w="9525">
            <a:solidFill>
              <a:srgbClr val="E2E0E6"/>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297680" y="1417320"/>
            <a:ext cx="0" cy="4663439"/>
          </a:xfrm>
          <a:prstGeom prst="line">
            <a:avLst/>
          </a:prstGeom>
          <a:ln w="9525">
            <a:solidFill>
              <a:srgbClr val="E2E0E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320040" y="3566159"/>
            <a:ext cx="822960" cy="365760"/>
          </a:xfrm>
          <a:prstGeom prst="rect">
            <a:avLst/>
          </a:prstGeom>
          <a:noFill/>
        </p:spPr>
        <p:txBody>
          <a:bodyPr wrap="square" anchor="t" lIns="0" rIns="0" tIns="0" bIns="0">
            <a:spAutoFit/>
          </a:bodyPr>
          <a:lstStyle/>
          <a:p>
            <a:pPr algn="ctr">
              <a:lnSpc>
                <a:spcPct val="100000"/>
              </a:lnSpc>
            </a:pPr>
            <a:r>
              <a:rPr sz="1000" b="1" i="0">
                <a:solidFill>
                  <a:srgbClr val="7C8493"/>
                </a:solidFill>
                <a:latin typeface="Calibri"/>
              </a:rPr>
              <a:t>IMPACT</a:t>
            </a:r>
          </a:p>
        </p:txBody>
      </p:sp>
      <p:sp>
        <p:nvSpPr>
          <p:cNvPr id="11" name="TextBox 10"/>
          <p:cNvSpPr txBox="1"/>
          <p:nvPr/>
        </p:nvSpPr>
        <p:spPr>
          <a:xfrm>
            <a:off x="1188720" y="6172199"/>
            <a:ext cx="4663440" cy="274320"/>
          </a:xfrm>
          <a:prstGeom prst="rect">
            <a:avLst/>
          </a:prstGeom>
          <a:noFill/>
        </p:spPr>
        <p:txBody>
          <a:bodyPr wrap="square" anchor="t" lIns="0" rIns="0" tIns="0" bIns="0">
            <a:spAutoFit/>
          </a:bodyPr>
          <a:lstStyle/>
          <a:p>
            <a:pPr algn="ctr">
              <a:lnSpc>
                <a:spcPct val="100000"/>
              </a:lnSpc>
            </a:pPr>
            <a:r>
              <a:rPr sz="1000" b="1" i="0">
                <a:solidFill>
                  <a:srgbClr val="7C8493"/>
                </a:solidFill>
                <a:latin typeface="Calibri"/>
              </a:rPr>
              <a:t>LIKELIHOOD  (low → high)</a:t>
            </a:r>
          </a:p>
        </p:txBody>
      </p:sp>
      <p:sp>
        <p:nvSpPr>
          <p:cNvPr id="12" name="TextBox 11"/>
          <p:cNvSpPr txBox="1"/>
          <p:nvPr/>
        </p:nvSpPr>
        <p:spPr>
          <a:xfrm>
            <a:off x="1051560" y="1371600"/>
            <a:ext cx="274320" cy="4663440"/>
          </a:xfrm>
          <a:prstGeom prst="rect">
            <a:avLst/>
          </a:prstGeom>
          <a:noFill/>
        </p:spPr>
        <p:txBody>
          <a:bodyPr wrap="square" anchor="t" lIns="0" rIns="0" tIns="0" bIns="0">
            <a:spAutoFit/>
          </a:bodyPr>
          <a:lstStyle/>
          <a:p>
            <a:pPr algn="ctr">
              <a:lnSpc>
                <a:spcPct val="100000"/>
              </a:lnSpc>
            </a:pPr>
            <a:r>
              <a:rPr sz="900" b="0" i="0">
                <a:solidFill>
                  <a:srgbClr val="7C8493"/>
                </a:solidFill>
                <a:latin typeface="Calibri"/>
              </a:rPr>
              <a:t>H</a:t>
            </a:r>
          </a:p>
          <a:p>
            <a:pPr algn="ctr">
              <a:lnSpc>
                <a:spcPct val="100000"/>
              </a:lnSpc>
            </a:pPr>
            <a:r>
              <a:rPr sz="900" b="0" i="0">
                <a:solidFill>
                  <a:srgbClr val="7C8493"/>
                </a:solidFill>
                <a:latin typeface="Calibri"/>
              </a:rPr>
              <a:t/>
            </a:r>
          </a:p>
          <a:p>
            <a:pPr algn="ctr">
              <a:lnSpc>
                <a:spcPct val="100000"/>
              </a:lnSpc>
            </a:pPr>
            <a:r>
              <a:rPr sz="900" b="0" i="0">
                <a:solidFill>
                  <a:srgbClr val="7C8493"/>
                </a:solidFill>
                <a:latin typeface="Calibri"/>
              </a:rPr>
              <a:t/>
            </a:r>
          </a:p>
          <a:p>
            <a:pPr algn="ctr">
              <a:lnSpc>
                <a:spcPct val="100000"/>
              </a:lnSpc>
            </a:pPr>
            <a:r>
              <a:rPr sz="900" b="0" i="0">
                <a:solidFill>
                  <a:srgbClr val="7C8493"/>
                </a:solidFill>
                <a:latin typeface="Calibri"/>
              </a:rPr>
              <a:t>M</a:t>
            </a:r>
          </a:p>
          <a:p>
            <a:pPr algn="ctr">
              <a:lnSpc>
                <a:spcPct val="100000"/>
              </a:lnSpc>
            </a:pPr>
            <a:r>
              <a:rPr sz="900" b="0" i="0">
                <a:solidFill>
                  <a:srgbClr val="7C8493"/>
                </a:solidFill>
                <a:latin typeface="Calibri"/>
              </a:rPr>
              <a:t/>
            </a:r>
          </a:p>
          <a:p>
            <a:pPr algn="ctr">
              <a:lnSpc>
                <a:spcPct val="100000"/>
              </a:lnSpc>
            </a:pPr>
            <a:r>
              <a:rPr sz="900" b="0" i="0">
                <a:solidFill>
                  <a:srgbClr val="7C8493"/>
                </a:solidFill>
                <a:latin typeface="Calibri"/>
              </a:rPr>
              <a:t/>
            </a:r>
          </a:p>
          <a:p>
            <a:pPr algn="ctr">
              <a:lnSpc>
                <a:spcPct val="100000"/>
              </a:lnSpc>
            </a:pPr>
            <a:r>
              <a:rPr sz="900" b="0" i="0">
                <a:solidFill>
                  <a:srgbClr val="7C8493"/>
                </a:solidFill>
                <a:latin typeface="Calibri"/>
              </a:rPr>
              <a:t>L</a:t>
            </a:r>
          </a:p>
        </p:txBody>
      </p:sp>
      <p:sp>
        <p:nvSpPr>
          <p:cNvPr id="13" name="Oval 12"/>
          <p:cNvSpPr/>
          <p:nvPr/>
        </p:nvSpPr>
        <p:spPr>
          <a:xfrm>
            <a:off x="1472184" y="1700784"/>
            <a:ext cx="365760" cy="365760"/>
          </a:xfrm>
          <a:prstGeom prst="ellipse">
            <a:avLst/>
          </a:prstGeom>
          <a:solidFill>
            <a:srgbClr val="2E7D46"/>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2112264"/>
            <a:ext cx="1371600" cy="365760"/>
          </a:xfrm>
          <a:prstGeom prst="rect">
            <a:avLst/>
          </a:prstGeom>
          <a:noFill/>
        </p:spPr>
        <p:txBody>
          <a:bodyPr wrap="square" anchor="t" lIns="0" rIns="0" tIns="0" bIns="0">
            <a:spAutoFit/>
          </a:bodyPr>
          <a:lstStyle/>
          <a:p>
            <a:pPr algn="ctr">
              <a:lnSpc>
                <a:spcPct val="90000"/>
              </a:lnSpc>
            </a:pPr>
            <a:r>
              <a:rPr sz="850" b="1" i="0">
                <a:solidFill>
                  <a:srgbClr val="222733"/>
                </a:solidFill>
                <a:latin typeface="Calibri"/>
              </a:rPr>
              <a:t>Temporal</a:t>
            </a:r>
          </a:p>
          <a:p>
            <a:pPr algn="ctr">
              <a:lnSpc>
                <a:spcPct val="90000"/>
              </a:lnSpc>
            </a:pPr>
            <a:r>
              <a:rPr sz="850" b="1" i="0">
                <a:solidFill>
                  <a:srgbClr val="222733"/>
                </a:solidFill>
                <a:latin typeface="Calibri"/>
              </a:rPr>
              <a:t>Routing</a:t>
            </a:r>
          </a:p>
        </p:txBody>
      </p:sp>
      <p:sp>
        <p:nvSpPr>
          <p:cNvPr id="15" name="Oval 14"/>
          <p:cNvSpPr/>
          <p:nvPr/>
        </p:nvSpPr>
        <p:spPr>
          <a:xfrm>
            <a:off x="2498140" y="1980590"/>
            <a:ext cx="365760" cy="365760"/>
          </a:xfrm>
          <a:prstGeom prst="ellipse">
            <a:avLst/>
          </a:prstGeom>
          <a:solidFill>
            <a:srgbClr val="2E7D46"/>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995220" y="1569110"/>
            <a:ext cx="1371600" cy="365760"/>
          </a:xfrm>
          <a:prstGeom prst="rect">
            <a:avLst/>
          </a:prstGeom>
          <a:noFill/>
        </p:spPr>
        <p:txBody>
          <a:bodyPr wrap="square" anchor="b" lIns="0" rIns="0" tIns="0" bIns="0">
            <a:spAutoFit/>
          </a:bodyPr>
          <a:lstStyle/>
          <a:p>
            <a:pPr algn="ctr">
              <a:lnSpc>
                <a:spcPct val="90000"/>
              </a:lnSpc>
            </a:pPr>
            <a:r>
              <a:rPr sz="850" b="1" i="0">
                <a:solidFill>
                  <a:srgbClr val="222733"/>
                </a:solidFill>
                <a:latin typeface="Calibri"/>
              </a:rPr>
              <a:t>History-Window</a:t>
            </a:r>
          </a:p>
          <a:p>
            <a:pPr algn="ctr">
              <a:lnSpc>
                <a:spcPct val="90000"/>
              </a:lnSpc>
            </a:pPr>
            <a:r>
              <a:rPr sz="850" b="1" i="0">
                <a:solidFill>
                  <a:srgbClr val="222733"/>
                </a:solidFill>
                <a:latin typeface="Calibri"/>
              </a:rPr>
              <a:t>Correctness</a:t>
            </a:r>
          </a:p>
        </p:txBody>
      </p:sp>
      <p:sp>
        <p:nvSpPr>
          <p:cNvPr id="17" name="Oval 16"/>
          <p:cNvSpPr/>
          <p:nvPr/>
        </p:nvSpPr>
        <p:spPr>
          <a:xfrm>
            <a:off x="2964484" y="3472891"/>
            <a:ext cx="365760" cy="365760"/>
          </a:xfrm>
          <a:prstGeom prst="ellipse">
            <a:avLst/>
          </a:prstGeom>
          <a:solidFill>
            <a:srgbClr val="B8872E"/>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461564" y="3884371"/>
            <a:ext cx="1371600" cy="365760"/>
          </a:xfrm>
          <a:prstGeom prst="rect">
            <a:avLst/>
          </a:prstGeom>
          <a:noFill/>
        </p:spPr>
        <p:txBody>
          <a:bodyPr wrap="square" anchor="t" lIns="0" rIns="0" tIns="0" bIns="0">
            <a:spAutoFit/>
          </a:bodyPr>
          <a:lstStyle/>
          <a:p>
            <a:pPr algn="ctr">
              <a:lnSpc>
                <a:spcPct val="90000"/>
              </a:lnSpc>
            </a:pPr>
            <a:r>
              <a:rPr sz="850" b="1" i="0">
                <a:solidFill>
                  <a:srgbClr val="222733"/>
                </a:solidFill>
                <a:latin typeface="Calibri"/>
              </a:rPr>
              <a:t>Feature</a:t>
            </a:r>
          </a:p>
          <a:p>
            <a:pPr algn="ctr">
              <a:lnSpc>
                <a:spcPct val="90000"/>
              </a:lnSpc>
            </a:pPr>
            <a:r>
              <a:rPr sz="850" b="1" i="0">
                <a:solidFill>
                  <a:srgbClr val="222733"/>
                </a:solidFill>
                <a:latin typeface="Calibri"/>
              </a:rPr>
              <a:t>Drift</a:t>
            </a:r>
          </a:p>
        </p:txBody>
      </p:sp>
      <p:sp>
        <p:nvSpPr>
          <p:cNvPr id="19" name="Oval 18"/>
          <p:cNvSpPr/>
          <p:nvPr/>
        </p:nvSpPr>
        <p:spPr>
          <a:xfrm>
            <a:off x="2311603" y="4592116"/>
            <a:ext cx="365760" cy="365760"/>
          </a:xfrm>
          <a:prstGeom prst="ellipse">
            <a:avLst/>
          </a:prstGeom>
          <a:solidFill>
            <a:srgbClr val="B8872E"/>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808683" y="4180636"/>
            <a:ext cx="1371600" cy="365760"/>
          </a:xfrm>
          <a:prstGeom prst="rect">
            <a:avLst/>
          </a:prstGeom>
          <a:noFill/>
        </p:spPr>
        <p:txBody>
          <a:bodyPr wrap="square" anchor="b" lIns="0" rIns="0" tIns="0" bIns="0">
            <a:spAutoFit/>
          </a:bodyPr>
          <a:lstStyle/>
          <a:p>
            <a:pPr algn="ctr">
              <a:lnSpc>
                <a:spcPct val="90000"/>
              </a:lnSpc>
            </a:pPr>
            <a:r>
              <a:rPr sz="850" b="1" i="0">
                <a:solidFill>
                  <a:srgbClr val="222733"/>
                </a:solidFill>
                <a:latin typeface="Calibri"/>
              </a:rPr>
              <a:t>Malformed/</a:t>
            </a:r>
          </a:p>
          <a:p>
            <a:pPr algn="ctr">
              <a:lnSpc>
                <a:spcPct val="90000"/>
              </a:lnSpc>
            </a:pPr>
            <a:r>
              <a:rPr sz="850" b="1" i="0">
                <a:solidFill>
                  <a:srgbClr val="222733"/>
                </a:solidFill>
                <a:latin typeface="Calibri"/>
              </a:rPr>
              <a:t>Duplicate Events</a:t>
            </a:r>
          </a:p>
        </p:txBody>
      </p:sp>
      <p:sp>
        <p:nvSpPr>
          <p:cNvPr id="21" name="Oval 20"/>
          <p:cNvSpPr/>
          <p:nvPr/>
        </p:nvSpPr>
        <p:spPr>
          <a:xfrm>
            <a:off x="4176979" y="2726740"/>
            <a:ext cx="365760" cy="365760"/>
          </a:xfrm>
          <a:prstGeom prst="ellipse">
            <a:avLst/>
          </a:prstGeom>
          <a:solidFill>
            <a:srgbClr val="B8872E"/>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4059" y="3138220"/>
            <a:ext cx="1371600" cy="365760"/>
          </a:xfrm>
          <a:prstGeom prst="rect">
            <a:avLst/>
          </a:prstGeom>
          <a:noFill/>
        </p:spPr>
        <p:txBody>
          <a:bodyPr wrap="square" anchor="t" lIns="0" rIns="0" tIns="0" bIns="0">
            <a:spAutoFit/>
          </a:bodyPr>
          <a:lstStyle/>
          <a:p>
            <a:pPr algn="ctr">
              <a:lnSpc>
                <a:spcPct val="90000"/>
              </a:lnSpc>
            </a:pPr>
            <a:r>
              <a:rPr sz="850" b="1" i="0">
                <a:solidFill>
                  <a:srgbClr val="222733"/>
                </a:solidFill>
                <a:latin typeface="Calibri"/>
              </a:rPr>
              <a:t>Online Serving</a:t>
            </a:r>
          </a:p>
          <a:p>
            <a:pPr algn="ctr">
              <a:lnSpc>
                <a:spcPct val="90000"/>
              </a:lnSpc>
            </a:pPr>
            <a:r>
              <a:rPr sz="850" b="1" i="0">
                <a:solidFill>
                  <a:srgbClr val="222733"/>
                </a:solidFill>
                <a:latin typeface="Calibri"/>
              </a:rPr>
              <a:t>Availability</a:t>
            </a:r>
          </a:p>
        </p:txBody>
      </p:sp>
      <p:sp>
        <p:nvSpPr>
          <p:cNvPr id="23" name="Oval 22"/>
          <p:cNvSpPr/>
          <p:nvPr/>
        </p:nvSpPr>
        <p:spPr>
          <a:xfrm>
            <a:off x="5109667" y="4592116"/>
            <a:ext cx="365760" cy="365760"/>
          </a:xfrm>
          <a:prstGeom prst="ellipse">
            <a:avLst/>
          </a:prstGeom>
          <a:solidFill>
            <a:srgbClr val="B02A37"/>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06747" y="4180636"/>
            <a:ext cx="1371600" cy="365760"/>
          </a:xfrm>
          <a:prstGeom prst="rect">
            <a:avLst/>
          </a:prstGeom>
          <a:noFill/>
        </p:spPr>
        <p:txBody>
          <a:bodyPr wrap="square" anchor="b" lIns="0" rIns="0" tIns="0" bIns="0">
            <a:spAutoFit/>
          </a:bodyPr>
          <a:lstStyle/>
          <a:p>
            <a:pPr algn="ctr">
              <a:lnSpc>
                <a:spcPct val="90000"/>
              </a:lnSpc>
            </a:pPr>
            <a:r>
              <a:rPr sz="850" b="1" i="0">
                <a:solidFill>
                  <a:srgbClr val="222733"/>
                </a:solidFill>
                <a:latin typeface="Calibri"/>
              </a:rPr>
              <a:t>History</a:t>
            </a:r>
          </a:p>
          <a:p>
            <a:pPr algn="ctr">
              <a:lnSpc>
                <a:spcPct val="90000"/>
              </a:lnSpc>
            </a:pPr>
            <a:r>
              <a:rPr sz="850" b="1" i="0">
                <a:solidFill>
                  <a:srgbClr val="222733"/>
                </a:solidFill>
                <a:latin typeface="Calibri"/>
              </a:rPr>
              <a:t>Recompute at Scale</a:t>
            </a:r>
          </a:p>
        </p:txBody>
      </p:sp>
      <p:sp>
        <p:nvSpPr>
          <p:cNvPr id="25" name="TextBox 24"/>
          <p:cNvSpPr txBox="1"/>
          <p:nvPr/>
        </p:nvSpPr>
        <p:spPr>
          <a:xfrm>
            <a:off x="6583679" y="1417320"/>
            <a:ext cx="2926080" cy="274320"/>
          </a:xfrm>
          <a:prstGeom prst="rect">
            <a:avLst/>
          </a:prstGeom>
          <a:noFill/>
        </p:spPr>
        <p:txBody>
          <a:bodyPr wrap="square" anchor="t" lIns="0" rIns="0" tIns="0" bIns="0">
            <a:spAutoFit/>
          </a:bodyPr>
          <a:lstStyle/>
          <a:p>
            <a:pPr algn="l">
              <a:lnSpc>
                <a:spcPct val="100000"/>
              </a:lnSpc>
            </a:pPr>
            <a:r>
              <a:rPr sz="1200" b="1" i="0">
                <a:solidFill>
                  <a:srgbClr val="14255C"/>
                </a:solidFill>
                <a:latin typeface="Calibri"/>
              </a:rPr>
              <a:t>MITIGATION STATUS</a:t>
            </a:r>
          </a:p>
        </p:txBody>
      </p:sp>
      <p:sp>
        <p:nvSpPr>
          <p:cNvPr id="26" name="Oval 25"/>
          <p:cNvSpPr/>
          <p:nvPr/>
        </p:nvSpPr>
        <p:spPr>
          <a:xfrm>
            <a:off x="6583679" y="1874519"/>
            <a:ext cx="256032" cy="256032"/>
          </a:xfrm>
          <a:prstGeom prst="ellipse">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67727" y="1819655"/>
            <a:ext cx="3017520" cy="274320"/>
          </a:xfrm>
          <a:prstGeom prst="rect">
            <a:avLst/>
          </a:prstGeom>
          <a:noFill/>
        </p:spPr>
        <p:txBody>
          <a:bodyPr wrap="square" anchor="t" lIns="0" rIns="0" tIns="0" bIns="0">
            <a:spAutoFit/>
          </a:bodyPr>
          <a:lstStyle/>
          <a:p>
            <a:pPr algn="l">
              <a:lnSpc>
                <a:spcPct val="100000"/>
              </a:lnSpc>
            </a:pPr>
            <a:r>
              <a:rPr sz="1150" b="1" i="0">
                <a:solidFill>
                  <a:srgbClr val="14255C"/>
                </a:solidFill>
                <a:latin typeface="Calibri"/>
              </a:rPr>
              <a:t>Structural guarantee in code</a:t>
            </a:r>
          </a:p>
        </p:txBody>
      </p:sp>
      <p:sp>
        <p:nvSpPr>
          <p:cNvPr id="28" name="TextBox 27"/>
          <p:cNvSpPr txBox="1"/>
          <p:nvPr/>
        </p:nvSpPr>
        <p:spPr>
          <a:xfrm>
            <a:off x="6967727" y="2093976"/>
            <a:ext cx="3017520" cy="411480"/>
          </a:xfrm>
          <a:prstGeom prst="rect">
            <a:avLst/>
          </a:prstGeom>
          <a:noFill/>
        </p:spPr>
        <p:txBody>
          <a:bodyPr wrap="square" anchor="t" lIns="0" rIns="0" tIns="0" bIns="0">
            <a:spAutoFit/>
          </a:bodyPr>
          <a:lstStyle/>
          <a:p>
            <a:pPr algn="l">
              <a:lnSpc>
                <a:spcPct val="100000"/>
              </a:lnSpc>
            </a:pPr>
            <a:r>
              <a:rPr sz="1000" b="0" i="0">
                <a:solidFill>
                  <a:srgbClr val="7C8493"/>
                </a:solidFill>
                <a:latin typeface="Calibri"/>
              </a:rPr>
              <a:t>Prevented by table design &amp; routing logic</a:t>
            </a:r>
          </a:p>
        </p:txBody>
      </p:sp>
      <p:sp>
        <p:nvSpPr>
          <p:cNvPr id="29" name="Oval 28"/>
          <p:cNvSpPr/>
          <p:nvPr/>
        </p:nvSpPr>
        <p:spPr>
          <a:xfrm>
            <a:off x="6583679" y="2743200"/>
            <a:ext cx="256032" cy="256032"/>
          </a:xfrm>
          <a:prstGeom prst="ellipse">
            <a:avLst/>
          </a:prstGeom>
          <a:solidFill>
            <a:srgbClr val="B88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67727" y="2688336"/>
            <a:ext cx="3017520" cy="274320"/>
          </a:xfrm>
          <a:prstGeom prst="rect">
            <a:avLst/>
          </a:prstGeom>
          <a:noFill/>
        </p:spPr>
        <p:txBody>
          <a:bodyPr wrap="square" anchor="t" lIns="0" rIns="0" tIns="0" bIns="0">
            <a:spAutoFit/>
          </a:bodyPr>
          <a:lstStyle/>
          <a:p>
            <a:pPr algn="l">
              <a:lnSpc>
                <a:spcPct val="100000"/>
              </a:lnSpc>
            </a:pPr>
            <a:r>
              <a:rPr sz="1150" b="1" i="0">
                <a:solidFill>
                  <a:srgbClr val="14255C"/>
                </a:solidFill>
                <a:latin typeface="Calibri"/>
              </a:rPr>
              <a:t>Operational control in place</a:t>
            </a:r>
          </a:p>
        </p:txBody>
      </p:sp>
      <p:sp>
        <p:nvSpPr>
          <p:cNvPr id="31" name="TextBox 30"/>
          <p:cNvSpPr txBox="1"/>
          <p:nvPr/>
        </p:nvSpPr>
        <p:spPr>
          <a:xfrm>
            <a:off x="6967727" y="2962656"/>
            <a:ext cx="3017520" cy="411480"/>
          </a:xfrm>
          <a:prstGeom prst="rect">
            <a:avLst/>
          </a:prstGeom>
          <a:noFill/>
        </p:spPr>
        <p:txBody>
          <a:bodyPr wrap="square" anchor="t" lIns="0" rIns="0" tIns="0" bIns="0">
            <a:spAutoFit/>
          </a:bodyPr>
          <a:lstStyle/>
          <a:p>
            <a:pPr algn="l">
              <a:lnSpc>
                <a:spcPct val="100000"/>
              </a:lnSpc>
            </a:pPr>
            <a:r>
              <a:rPr sz="1000" b="0" i="0">
                <a:solidFill>
                  <a:srgbClr val="7C8493"/>
                </a:solidFill>
                <a:latin typeface="Calibri"/>
              </a:rPr>
              <a:t>Handled by scheduled jobs, checks, monitoring</a:t>
            </a:r>
          </a:p>
        </p:txBody>
      </p:sp>
      <p:sp>
        <p:nvSpPr>
          <p:cNvPr id="32" name="Oval 31"/>
          <p:cNvSpPr/>
          <p:nvPr/>
        </p:nvSpPr>
        <p:spPr>
          <a:xfrm>
            <a:off x="6583679" y="3611880"/>
            <a:ext cx="256032" cy="256032"/>
          </a:xfrm>
          <a:prstGeom prst="ellipse">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967727" y="3557016"/>
            <a:ext cx="3017520" cy="274320"/>
          </a:xfrm>
          <a:prstGeom prst="rect">
            <a:avLst/>
          </a:prstGeom>
          <a:noFill/>
        </p:spPr>
        <p:txBody>
          <a:bodyPr wrap="square" anchor="t" lIns="0" rIns="0" tIns="0" bIns="0">
            <a:spAutoFit/>
          </a:bodyPr>
          <a:lstStyle/>
          <a:p>
            <a:pPr algn="l">
              <a:lnSpc>
                <a:spcPct val="100000"/>
              </a:lnSpc>
            </a:pPr>
            <a:r>
              <a:rPr sz="1150" b="1" i="0">
                <a:solidFill>
                  <a:srgbClr val="14255C"/>
                </a:solidFill>
                <a:latin typeface="Calibri"/>
              </a:rPr>
              <a:t>Open engineering consideration</a:t>
            </a:r>
          </a:p>
        </p:txBody>
      </p:sp>
      <p:sp>
        <p:nvSpPr>
          <p:cNvPr id="34" name="TextBox 33"/>
          <p:cNvSpPr txBox="1"/>
          <p:nvPr/>
        </p:nvSpPr>
        <p:spPr>
          <a:xfrm>
            <a:off x="6967727" y="3831336"/>
            <a:ext cx="3017520" cy="411480"/>
          </a:xfrm>
          <a:prstGeom prst="rect">
            <a:avLst/>
          </a:prstGeom>
          <a:noFill/>
        </p:spPr>
        <p:txBody>
          <a:bodyPr wrap="square" anchor="t" lIns="0" rIns="0" tIns="0" bIns="0">
            <a:spAutoFit/>
          </a:bodyPr>
          <a:lstStyle/>
          <a:p>
            <a:pPr algn="l">
              <a:lnSpc>
                <a:spcPct val="100000"/>
              </a:lnSpc>
            </a:pPr>
            <a:r>
              <a:rPr sz="1000" b="0" i="0">
                <a:solidFill>
                  <a:srgbClr val="7C8493"/>
                </a:solidFill>
                <a:latin typeface="Calibri"/>
              </a:rPr>
              <a:t>Future optimization, not yet mitigated</a:t>
            </a:r>
          </a:p>
        </p:txBody>
      </p:sp>
      <p:sp>
        <p:nvSpPr>
          <p:cNvPr id="35" name="TextBox 34"/>
          <p:cNvSpPr txBox="1"/>
          <p:nvPr/>
        </p:nvSpPr>
        <p:spPr>
          <a:xfrm>
            <a:off x="6583679" y="4617720"/>
            <a:ext cx="3017520" cy="822960"/>
          </a:xfrm>
          <a:prstGeom prst="rect">
            <a:avLst/>
          </a:prstGeom>
          <a:noFill/>
        </p:spPr>
        <p:txBody>
          <a:bodyPr wrap="square" anchor="t" lIns="0" rIns="0" tIns="0" bIns="0">
            <a:spAutoFit/>
          </a:bodyPr>
          <a:lstStyle/>
          <a:p>
            <a:pPr algn="l">
              <a:lnSpc>
                <a:spcPct val="110000"/>
              </a:lnSpc>
            </a:pPr>
            <a:r>
              <a:rPr sz="950" b="0" i="1">
                <a:solidFill>
                  <a:srgbClr val="7C8493"/>
                </a:solidFill>
                <a:latin typeface="Calibri"/>
              </a:rPr>
              <a:t>Positions reflect engineering judgment based on the implementation, not measured incident data.</a:t>
            </a:r>
          </a:p>
        </p:txBody>
      </p:sp>
      <p:cxnSp>
        <p:nvCxnSpPr>
          <p:cNvPr id="36" name="Connector 35"/>
          <p:cNvCxnSpPr/>
          <p:nvPr/>
        </p:nvCxnSpPr>
        <p:spPr>
          <a:xfrm>
            <a:off x="411480" y="6473952"/>
            <a:ext cx="11384280" cy="0"/>
          </a:xfrm>
          <a:prstGeom prst="line">
            <a:avLst/>
          </a:prstGeom>
          <a:ln w="9525">
            <a:solidFill>
              <a:srgbClr val="E2E0E6"/>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411480" y="6528816"/>
            <a:ext cx="548640" cy="274320"/>
          </a:xfrm>
          <a:prstGeom prst="rect">
            <a:avLst/>
          </a:prstGeom>
          <a:noFill/>
        </p:spPr>
        <p:txBody>
          <a:bodyPr wrap="square" anchor="t" lIns="0" rIns="0" tIns="0" bIns="0">
            <a:spAutoFit/>
          </a:bodyPr>
          <a:lstStyle/>
          <a:p>
            <a:pPr algn="l">
              <a:lnSpc>
                <a:spcPct val="100000"/>
              </a:lnSpc>
            </a:pPr>
            <a:r>
              <a:rPr sz="1050" b="0" i="0">
                <a:solidFill>
                  <a:srgbClr val="7C8493"/>
                </a:solidFill>
                <a:latin typeface="Calibri"/>
              </a:rPr>
              <a:t>10</a:t>
            </a:r>
          </a:p>
        </p:txBody>
      </p:sp>
      <p:sp>
        <p:nvSpPr>
          <p:cNvPr id="38" name="Block Arc 37"/>
          <p:cNvSpPr/>
          <p:nvPr/>
        </p:nvSpPr>
        <p:spPr>
          <a:xfrm>
            <a:off x="9921240" y="6492240"/>
            <a:ext cx="237744" cy="219456"/>
          </a:xfrm>
          <a:prstGeom prst="blockArc">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222992" y="6473952"/>
            <a:ext cx="1554480" cy="201168"/>
          </a:xfrm>
          <a:prstGeom prst="rect">
            <a:avLst/>
          </a:prstGeom>
          <a:noFill/>
        </p:spPr>
        <p:txBody>
          <a:bodyPr wrap="square" anchor="t" lIns="0" rIns="0" tIns="0" bIns="0">
            <a:spAutoFit/>
          </a:bodyPr>
          <a:lstStyle/>
          <a:p>
            <a:pPr algn="l">
              <a:lnSpc>
                <a:spcPct val="100000"/>
              </a:lnSpc>
            </a:pPr>
            <a:r>
              <a:rPr sz="1050" b="1" i="0">
                <a:solidFill>
                  <a:srgbClr val="14255C"/>
                </a:solidFill>
                <a:latin typeface="Calibri"/>
              </a:rPr>
              <a:t>FARMERS</a:t>
            </a:r>
          </a:p>
        </p:txBody>
      </p:sp>
      <p:sp>
        <p:nvSpPr>
          <p:cNvPr id="40" name="TextBox 39"/>
          <p:cNvSpPr txBox="1"/>
          <p:nvPr/>
        </p:nvSpPr>
        <p:spPr>
          <a:xfrm>
            <a:off x="10222992" y="6647688"/>
            <a:ext cx="1554480" cy="182880"/>
          </a:xfrm>
          <a:prstGeom prst="rect">
            <a:avLst/>
          </a:prstGeom>
          <a:noFill/>
        </p:spPr>
        <p:txBody>
          <a:bodyPr wrap="square" anchor="t" lIns="0" rIns="0" tIns="0" bIns="0">
            <a:spAutoFit/>
          </a:bodyPr>
          <a:lstStyle/>
          <a:p>
            <a:pPr algn="l">
              <a:lnSpc>
                <a:spcPct val="100000"/>
              </a:lnSpc>
            </a:pPr>
            <a:r>
              <a:rPr sz="700" b="1" i="0">
                <a:solidFill>
                  <a:srgbClr val="7C8493"/>
                </a:solidFill>
                <a:latin typeface="Calibri"/>
              </a:rPr>
              <a:t>INSURANCE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10515600" cy="274320"/>
          </a:xfrm>
          <a:prstGeom prst="rect">
            <a:avLst/>
          </a:prstGeom>
          <a:noFill/>
        </p:spPr>
        <p:txBody>
          <a:bodyPr wrap="square" anchor="t" lIns="0" rIns="0" tIns="0" bIns="0">
            <a:spAutoFit/>
          </a:bodyPr>
          <a:lstStyle/>
          <a:p>
            <a:pPr algn="l">
              <a:lnSpc>
                <a:spcPct val="100000"/>
              </a:lnSpc>
            </a:pPr>
            <a:r>
              <a:rPr sz="1100" b="1" i="0">
                <a:solidFill>
                  <a:srgbClr val="B8872E"/>
                </a:solidFill>
                <a:latin typeface="Calibri"/>
              </a:rPr>
              <a:t>WHAT'S NEXT</a:t>
            </a:r>
          </a:p>
        </p:txBody>
      </p:sp>
      <p:sp>
        <p:nvSpPr>
          <p:cNvPr id="3" name="TextBox 2"/>
          <p:cNvSpPr txBox="1"/>
          <p:nvPr/>
        </p:nvSpPr>
        <p:spPr>
          <a:xfrm>
            <a:off x="502920" y="438912"/>
            <a:ext cx="10515600" cy="594360"/>
          </a:xfrm>
          <a:prstGeom prst="rect">
            <a:avLst/>
          </a:prstGeom>
          <a:noFill/>
        </p:spPr>
        <p:txBody>
          <a:bodyPr wrap="square" anchor="t" lIns="0" rIns="0" tIns="0" bIns="0">
            <a:spAutoFit/>
          </a:bodyPr>
          <a:lstStyle/>
          <a:p>
            <a:pPr algn="l">
              <a:lnSpc>
                <a:spcPct val="100000"/>
              </a:lnSpc>
            </a:pPr>
            <a:r>
              <a:rPr sz="2600" b="1" i="0">
                <a:solidFill>
                  <a:srgbClr val="14255C"/>
                </a:solidFill>
                <a:latin typeface="Calibri"/>
              </a:rPr>
              <a:t>Where This Goes Next</a:t>
            </a:r>
          </a:p>
        </p:txBody>
      </p:sp>
      <p:cxnSp>
        <p:nvCxnSpPr>
          <p:cNvPr id="4" name="Connector 3"/>
          <p:cNvCxnSpPr/>
          <p:nvPr/>
        </p:nvCxnSpPr>
        <p:spPr>
          <a:xfrm>
            <a:off x="502920" y="1042415"/>
            <a:ext cx="11183112" cy="0"/>
          </a:xfrm>
          <a:prstGeom prst="line">
            <a:avLst/>
          </a:prstGeom>
          <a:ln w="28575">
            <a:solidFill>
              <a:srgbClr val="14255C"/>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914400" y="2148840"/>
            <a:ext cx="10360152" cy="0"/>
          </a:xfrm>
          <a:prstGeom prst="line">
            <a:avLst/>
          </a:prstGeom>
          <a:ln w="38100">
            <a:solidFill>
              <a:srgbClr val="E2E0E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2412492" y="1920240"/>
            <a:ext cx="457200" cy="457200"/>
          </a:xfrm>
          <a:prstGeom prst="ellipse">
            <a:avLst/>
          </a:prstGeom>
          <a:solidFill>
            <a:srgbClr val="14255C"/>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78052" y="1417320"/>
            <a:ext cx="2926080" cy="365760"/>
          </a:xfrm>
          <a:prstGeom prst="rect">
            <a:avLst/>
          </a:prstGeom>
          <a:noFill/>
        </p:spPr>
        <p:txBody>
          <a:bodyPr wrap="square" anchor="t" lIns="0" rIns="0" tIns="0" bIns="0">
            <a:spAutoFit/>
          </a:bodyPr>
          <a:lstStyle/>
          <a:p>
            <a:pPr algn="ctr">
              <a:lnSpc>
                <a:spcPct val="100000"/>
              </a:lnSpc>
            </a:pPr>
            <a:r>
              <a:rPr sz="1400" b="1" i="0">
                <a:solidFill>
                  <a:srgbClr val="14255C"/>
                </a:solidFill>
                <a:latin typeface="Calibri"/>
              </a:rPr>
              <a:t>NEAR TERM</a:t>
            </a:r>
          </a:p>
        </p:txBody>
      </p:sp>
      <p:sp>
        <p:nvSpPr>
          <p:cNvPr id="8" name="Rounded Rectangle 7"/>
          <p:cNvSpPr/>
          <p:nvPr/>
        </p:nvSpPr>
        <p:spPr>
          <a:xfrm>
            <a:off x="1109472" y="2606040"/>
            <a:ext cx="3063240" cy="2834640"/>
          </a:xfrm>
          <a:prstGeom prst="roundRect">
            <a:avLst>
              <a:gd name="adj" fmla="val 5000"/>
            </a:avLst>
          </a:prstGeom>
          <a:solidFill>
            <a:srgbClr val="FFFFFF"/>
          </a:solidFill>
          <a:ln w="9525">
            <a:solidFill>
              <a:srgbClr val="E2E0E6"/>
            </a:solid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109472" y="2606040"/>
            <a:ext cx="3063240" cy="109728"/>
          </a:xfrm>
          <a:prstGeom prst="roundRect">
            <a:avLst>
              <a:gd name="adj" fmla="val 0"/>
            </a:avLst>
          </a:prstGeom>
          <a:solidFill>
            <a:srgbClr val="14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38072" y="2880360"/>
            <a:ext cx="2606040" cy="2377440"/>
          </a:xfrm>
          <a:prstGeom prst="rect">
            <a:avLst/>
          </a:prstGeom>
          <a:noFill/>
        </p:spPr>
        <p:txBody>
          <a:bodyPr wrap="square" anchor="t" lIns="0" rIns="0" tIns="0" bIns="0">
            <a:spAutoFit/>
          </a:bodyPr>
          <a:lstStyle/>
          <a:p>
            <a:pPr algn="l">
              <a:lnSpc>
                <a:spcPct val="105000"/>
              </a:lnSpc>
              <a:spcAft>
                <a:spcPts val="1200"/>
              </a:spcAft>
            </a:pPr>
            <a:r>
              <a:rPr sz="1150">
                <a:solidFill>
                  <a:srgbClr val="222733"/>
                </a:solidFill>
                <a:latin typeface="Calibri"/>
              </a:rPr>
              <a:t>•  Data-quality &amp; validation checks</a:t>
            </a:r>
          </a:p>
          <a:p>
            <a:pPr algn="l">
              <a:lnSpc>
                <a:spcPct val="105000"/>
              </a:lnSpc>
              <a:spcAft>
                <a:spcPts val="1200"/>
              </a:spcAft>
            </a:pPr>
            <a:r>
              <a:rPr sz="1150">
                <a:solidFill>
                  <a:srgbClr val="222733"/>
                </a:solidFill>
                <a:latin typeface="Calibri"/>
              </a:rPr>
              <a:t>•  Pipeline monitoring &amp; alerts</a:t>
            </a:r>
          </a:p>
          <a:p>
            <a:pPr algn="l">
              <a:lnSpc>
                <a:spcPct val="105000"/>
              </a:lnSpc>
              <a:spcAft>
                <a:spcPts val="1200"/>
              </a:spcAft>
            </a:pPr>
            <a:r>
              <a:rPr sz="1150">
                <a:solidFill>
                  <a:srgbClr val="222733"/>
                </a:solidFill>
                <a:latin typeface="Calibri"/>
              </a:rPr>
              <a:t>•  p50 / p95 / p99 latency tracking</a:t>
            </a:r>
          </a:p>
          <a:p>
            <a:pPr algn="l">
              <a:lnSpc>
                <a:spcPct val="105000"/>
              </a:lnSpc>
              <a:spcAft>
                <a:spcPts val="1200"/>
              </a:spcAft>
            </a:pPr>
            <a:r>
              <a:rPr sz="1150">
                <a:solidFill>
                  <a:srgbClr val="222733"/>
                </a:solidFill>
                <a:latin typeface="Calibri"/>
              </a:rPr>
              <a:t>•  Temporal-routing integration tests</a:t>
            </a:r>
          </a:p>
        </p:txBody>
      </p:sp>
      <p:cxnSp>
        <p:nvCxnSpPr>
          <p:cNvPr id="11" name="Connector 10"/>
          <p:cNvCxnSpPr/>
          <p:nvPr/>
        </p:nvCxnSpPr>
        <p:spPr>
          <a:xfrm>
            <a:off x="2641092" y="2377440"/>
            <a:ext cx="0" cy="228600"/>
          </a:xfrm>
          <a:prstGeom prst="line">
            <a:avLst/>
          </a:prstGeom>
          <a:ln w="19050">
            <a:solidFill>
              <a:srgbClr val="14255C"/>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5865876" y="1920240"/>
            <a:ext cx="457200" cy="457200"/>
          </a:xfrm>
          <a:prstGeom prst="ellipse">
            <a:avLst/>
          </a:prstGeom>
          <a:solidFill>
            <a:srgbClr val="B8872E"/>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1436" y="1417320"/>
            <a:ext cx="2926080" cy="365760"/>
          </a:xfrm>
          <a:prstGeom prst="rect">
            <a:avLst/>
          </a:prstGeom>
          <a:noFill/>
        </p:spPr>
        <p:txBody>
          <a:bodyPr wrap="square" anchor="t" lIns="0" rIns="0" tIns="0" bIns="0">
            <a:spAutoFit/>
          </a:bodyPr>
          <a:lstStyle/>
          <a:p>
            <a:pPr algn="ctr">
              <a:lnSpc>
                <a:spcPct val="100000"/>
              </a:lnSpc>
            </a:pPr>
            <a:r>
              <a:rPr sz="1400" b="1" i="0">
                <a:solidFill>
                  <a:srgbClr val="B8872E"/>
                </a:solidFill>
                <a:latin typeface="Calibri"/>
              </a:rPr>
              <a:t>MEDIUM TERM</a:t>
            </a:r>
          </a:p>
        </p:txBody>
      </p:sp>
      <p:sp>
        <p:nvSpPr>
          <p:cNvPr id="14" name="Rounded Rectangle 13"/>
          <p:cNvSpPr/>
          <p:nvPr/>
        </p:nvSpPr>
        <p:spPr>
          <a:xfrm>
            <a:off x="4562856" y="2606040"/>
            <a:ext cx="3063240" cy="2834640"/>
          </a:xfrm>
          <a:prstGeom prst="roundRect">
            <a:avLst>
              <a:gd name="adj" fmla="val 5000"/>
            </a:avLst>
          </a:prstGeom>
          <a:solidFill>
            <a:srgbClr val="FFFFFF"/>
          </a:solidFill>
          <a:ln w="9525">
            <a:solidFill>
              <a:srgbClr val="E2E0E6"/>
            </a:solid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562856" y="2606040"/>
            <a:ext cx="3063240" cy="109728"/>
          </a:xfrm>
          <a:prstGeom prst="roundRect">
            <a:avLst>
              <a:gd name="adj" fmla="val 0"/>
            </a:avLst>
          </a:prstGeom>
          <a:solidFill>
            <a:srgbClr val="B88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91456" y="2880360"/>
            <a:ext cx="2606040" cy="2377440"/>
          </a:xfrm>
          <a:prstGeom prst="rect">
            <a:avLst/>
          </a:prstGeom>
          <a:noFill/>
        </p:spPr>
        <p:txBody>
          <a:bodyPr wrap="square" anchor="t" lIns="0" rIns="0" tIns="0" bIns="0">
            <a:spAutoFit/>
          </a:bodyPr>
          <a:lstStyle/>
          <a:p>
            <a:pPr algn="l">
              <a:lnSpc>
                <a:spcPct val="105000"/>
              </a:lnSpc>
              <a:spcAft>
                <a:spcPts val="1200"/>
              </a:spcAft>
            </a:pPr>
            <a:r>
              <a:rPr sz="1150">
                <a:solidFill>
                  <a:srgbClr val="222733"/>
                </a:solidFill>
                <a:latin typeface="Calibri"/>
              </a:rPr>
              <a:t>•  More feature groups via the registry</a:t>
            </a:r>
          </a:p>
          <a:p>
            <a:pPr algn="l">
              <a:lnSpc>
                <a:spcPct val="105000"/>
              </a:lnSpc>
              <a:spcAft>
                <a:spcPts val="1200"/>
              </a:spcAft>
            </a:pPr>
            <a:r>
              <a:rPr sz="1150">
                <a:solidFill>
                  <a:srgbClr val="222733"/>
                </a:solidFill>
                <a:latin typeface="Calibri"/>
              </a:rPr>
              <a:t>•  Model-specific feature specs</a:t>
            </a:r>
          </a:p>
          <a:p>
            <a:pPr algn="l">
              <a:lnSpc>
                <a:spcPct val="105000"/>
              </a:lnSpc>
              <a:spcAft>
                <a:spcPts val="1200"/>
              </a:spcAft>
            </a:pPr>
            <a:r>
              <a:rPr sz="1150">
                <a:solidFill>
                  <a:srgbClr val="222733"/>
                </a:solidFill>
                <a:latin typeface="Calibri"/>
              </a:rPr>
              <a:t>•  Freshness &amp; drift monitoring</a:t>
            </a:r>
          </a:p>
          <a:p>
            <a:pPr algn="l">
              <a:lnSpc>
                <a:spcPct val="105000"/>
              </a:lnSpc>
              <a:spcAft>
                <a:spcPts val="1200"/>
              </a:spcAft>
            </a:pPr>
            <a:r>
              <a:rPr sz="1150">
                <a:solidFill>
                  <a:srgbClr val="222733"/>
                </a:solidFill>
                <a:latin typeface="Calibri"/>
              </a:rPr>
              <a:t>•  Optimize for larger policy histories</a:t>
            </a:r>
          </a:p>
        </p:txBody>
      </p:sp>
      <p:cxnSp>
        <p:nvCxnSpPr>
          <p:cNvPr id="17" name="Connector 16"/>
          <p:cNvCxnSpPr/>
          <p:nvPr/>
        </p:nvCxnSpPr>
        <p:spPr>
          <a:xfrm>
            <a:off x="6094476" y="2377440"/>
            <a:ext cx="0" cy="228600"/>
          </a:xfrm>
          <a:prstGeom prst="line">
            <a:avLst/>
          </a:prstGeom>
          <a:ln w="19050">
            <a:solidFill>
              <a:srgbClr val="B8872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9319260" y="1920240"/>
            <a:ext cx="457200" cy="457200"/>
          </a:xfrm>
          <a:prstGeom prst="ellipse">
            <a:avLst/>
          </a:prstGeom>
          <a:solidFill>
            <a:srgbClr val="6B3F86"/>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84820" y="1417320"/>
            <a:ext cx="2926080" cy="365760"/>
          </a:xfrm>
          <a:prstGeom prst="rect">
            <a:avLst/>
          </a:prstGeom>
          <a:noFill/>
        </p:spPr>
        <p:txBody>
          <a:bodyPr wrap="square" anchor="t" lIns="0" rIns="0" tIns="0" bIns="0">
            <a:spAutoFit/>
          </a:bodyPr>
          <a:lstStyle/>
          <a:p>
            <a:pPr algn="ctr">
              <a:lnSpc>
                <a:spcPct val="100000"/>
              </a:lnSpc>
            </a:pPr>
            <a:r>
              <a:rPr sz="1400" b="1" i="0">
                <a:solidFill>
                  <a:srgbClr val="6B3F86"/>
                </a:solidFill>
                <a:latin typeface="Calibri"/>
              </a:rPr>
              <a:t>LONG TERM</a:t>
            </a:r>
          </a:p>
        </p:txBody>
      </p:sp>
      <p:sp>
        <p:nvSpPr>
          <p:cNvPr id="20" name="Rounded Rectangle 19"/>
          <p:cNvSpPr/>
          <p:nvPr/>
        </p:nvSpPr>
        <p:spPr>
          <a:xfrm>
            <a:off x="8016240" y="2606040"/>
            <a:ext cx="3063240" cy="2834640"/>
          </a:xfrm>
          <a:prstGeom prst="roundRect">
            <a:avLst>
              <a:gd name="adj" fmla="val 5000"/>
            </a:avLst>
          </a:prstGeom>
          <a:solidFill>
            <a:srgbClr val="FFFFFF"/>
          </a:solidFill>
          <a:ln w="9525">
            <a:solidFill>
              <a:srgbClr val="E2E0E6"/>
            </a:solid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016240" y="2606040"/>
            <a:ext cx="3063240" cy="109728"/>
          </a:xfrm>
          <a:prstGeom prst="roundRect">
            <a:avLst>
              <a:gd name="adj" fmla="val 0"/>
            </a:avLst>
          </a:prstGeom>
          <a:solidFill>
            <a:srgbClr val="6B3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44840" y="2880360"/>
            <a:ext cx="2606040" cy="2377440"/>
          </a:xfrm>
          <a:prstGeom prst="rect">
            <a:avLst/>
          </a:prstGeom>
          <a:noFill/>
        </p:spPr>
        <p:txBody>
          <a:bodyPr wrap="square" anchor="t" lIns="0" rIns="0" tIns="0" bIns="0">
            <a:spAutoFit/>
          </a:bodyPr>
          <a:lstStyle/>
          <a:p>
            <a:pPr algn="l">
              <a:lnSpc>
                <a:spcPct val="105000"/>
              </a:lnSpc>
              <a:spcAft>
                <a:spcPts val="1200"/>
              </a:spcAft>
            </a:pPr>
            <a:r>
              <a:rPr sz="1150">
                <a:solidFill>
                  <a:srgbClr val="222733"/>
                </a:solidFill>
                <a:latin typeface="Calibri"/>
              </a:rPr>
              <a:t>•  Additional insurance product lines</a:t>
            </a:r>
          </a:p>
          <a:p>
            <a:pPr algn="l">
              <a:lnSpc>
                <a:spcPct val="105000"/>
              </a:lnSpc>
              <a:spcAft>
                <a:spcPts val="1200"/>
              </a:spcAft>
            </a:pPr>
            <a:r>
              <a:rPr sz="1150">
                <a:solidFill>
                  <a:srgbClr val="222733"/>
                </a:solidFill>
                <a:latin typeface="Calibri"/>
              </a:rPr>
              <a:t>•  Point-in-time training datasets</a:t>
            </a:r>
          </a:p>
          <a:p>
            <a:pPr algn="l">
              <a:lnSpc>
                <a:spcPct val="105000"/>
              </a:lnSpc>
              <a:spcAft>
                <a:spcPts val="1200"/>
              </a:spcAft>
            </a:pPr>
            <a:r>
              <a:rPr sz="1150">
                <a:solidFill>
                  <a:srgbClr val="222733"/>
                </a:solidFill>
                <a:latin typeface="Calibri"/>
              </a:rPr>
              <a:t>•  Online/offline consistency checks</a:t>
            </a:r>
          </a:p>
          <a:p>
            <a:pPr algn="l">
              <a:lnSpc>
                <a:spcPct val="105000"/>
              </a:lnSpc>
              <a:spcAft>
                <a:spcPts val="1200"/>
              </a:spcAft>
            </a:pPr>
            <a:r>
              <a:rPr sz="1150">
                <a:solidFill>
                  <a:srgbClr val="222733"/>
                </a:solidFill>
                <a:latin typeface="Calibri"/>
              </a:rPr>
              <a:t>•  Formal freshness &amp; availability SLOs</a:t>
            </a:r>
          </a:p>
        </p:txBody>
      </p:sp>
      <p:cxnSp>
        <p:nvCxnSpPr>
          <p:cNvPr id="23" name="Connector 22"/>
          <p:cNvCxnSpPr/>
          <p:nvPr/>
        </p:nvCxnSpPr>
        <p:spPr>
          <a:xfrm>
            <a:off x="9547860" y="2377440"/>
            <a:ext cx="0" cy="228600"/>
          </a:xfrm>
          <a:prstGeom prst="line">
            <a:avLst/>
          </a:prstGeom>
          <a:ln w="19050">
            <a:solidFill>
              <a:srgbClr val="6B3F8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02920" y="5806440"/>
            <a:ext cx="11201400" cy="640080"/>
          </a:xfrm>
          <a:prstGeom prst="roundRect">
            <a:avLst>
              <a:gd name="adj" fmla="val 12000"/>
            </a:avLst>
          </a:prstGeom>
          <a:solidFill>
            <a:srgbClr val="14255C"/>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5806440"/>
            <a:ext cx="10561320" cy="640080"/>
          </a:xfrm>
          <a:prstGeom prst="rect">
            <a:avLst/>
          </a:prstGeom>
          <a:noFill/>
        </p:spPr>
        <p:txBody>
          <a:bodyPr wrap="square" anchor="ctr" lIns="0" rIns="0" tIns="0" bIns="0">
            <a:spAutoFit/>
          </a:bodyPr>
          <a:lstStyle/>
          <a:p>
            <a:pPr algn="ctr">
              <a:lnSpc>
                <a:spcPct val="100000"/>
              </a:lnSpc>
            </a:pPr>
            <a:r>
              <a:rPr sz="1300" b="1" i="1">
                <a:solidFill>
                  <a:srgbClr val="FFFFFF"/>
                </a:solidFill>
                <a:latin typeface="Calibri"/>
              </a:rPr>
              <a:t>A reusable feature platform that delivers the right feature values to every model at the right time.</a:t>
            </a:r>
          </a:p>
        </p:txBody>
      </p:sp>
      <p:cxnSp>
        <p:nvCxnSpPr>
          <p:cNvPr id="26" name="Connector 25"/>
          <p:cNvCxnSpPr/>
          <p:nvPr/>
        </p:nvCxnSpPr>
        <p:spPr>
          <a:xfrm>
            <a:off x="411480" y="6473952"/>
            <a:ext cx="11384280" cy="0"/>
          </a:xfrm>
          <a:prstGeom prst="line">
            <a:avLst/>
          </a:prstGeom>
          <a:ln w="9525">
            <a:solidFill>
              <a:srgbClr val="E2E0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11480" y="6528816"/>
            <a:ext cx="548640" cy="274320"/>
          </a:xfrm>
          <a:prstGeom prst="rect">
            <a:avLst/>
          </a:prstGeom>
          <a:noFill/>
        </p:spPr>
        <p:txBody>
          <a:bodyPr wrap="square" anchor="t" lIns="0" rIns="0" tIns="0" bIns="0">
            <a:spAutoFit/>
          </a:bodyPr>
          <a:lstStyle/>
          <a:p>
            <a:pPr algn="l">
              <a:lnSpc>
                <a:spcPct val="100000"/>
              </a:lnSpc>
            </a:pPr>
            <a:r>
              <a:rPr sz="1050" b="0" i="0">
                <a:solidFill>
                  <a:srgbClr val="7C8493"/>
                </a:solidFill>
                <a:latin typeface="Calibri"/>
              </a:rPr>
              <a:t>11</a:t>
            </a:r>
          </a:p>
        </p:txBody>
      </p:sp>
      <p:sp>
        <p:nvSpPr>
          <p:cNvPr id="28" name="Block Arc 27"/>
          <p:cNvSpPr/>
          <p:nvPr/>
        </p:nvSpPr>
        <p:spPr>
          <a:xfrm>
            <a:off x="9921240" y="6492240"/>
            <a:ext cx="237744" cy="219456"/>
          </a:xfrm>
          <a:prstGeom prst="blockArc">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22992" y="6473952"/>
            <a:ext cx="1554480" cy="201168"/>
          </a:xfrm>
          <a:prstGeom prst="rect">
            <a:avLst/>
          </a:prstGeom>
          <a:noFill/>
        </p:spPr>
        <p:txBody>
          <a:bodyPr wrap="square" anchor="t" lIns="0" rIns="0" tIns="0" bIns="0">
            <a:spAutoFit/>
          </a:bodyPr>
          <a:lstStyle/>
          <a:p>
            <a:pPr algn="l">
              <a:lnSpc>
                <a:spcPct val="100000"/>
              </a:lnSpc>
            </a:pPr>
            <a:r>
              <a:rPr sz="1050" b="1" i="0">
                <a:solidFill>
                  <a:srgbClr val="14255C"/>
                </a:solidFill>
                <a:latin typeface="Calibri"/>
              </a:rPr>
              <a:t>FARMERS</a:t>
            </a:r>
          </a:p>
        </p:txBody>
      </p:sp>
      <p:sp>
        <p:nvSpPr>
          <p:cNvPr id="30" name="TextBox 29"/>
          <p:cNvSpPr txBox="1"/>
          <p:nvPr/>
        </p:nvSpPr>
        <p:spPr>
          <a:xfrm>
            <a:off x="10222992" y="6647688"/>
            <a:ext cx="1554480" cy="182880"/>
          </a:xfrm>
          <a:prstGeom prst="rect">
            <a:avLst/>
          </a:prstGeom>
          <a:noFill/>
        </p:spPr>
        <p:txBody>
          <a:bodyPr wrap="square" anchor="t" lIns="0" rIns="0" tIns="0" bIns="0">
            <a:spAutoFit/>
          </a:bodyPr>
          <a:lstStyle/>
          <a:p>
            <a:pPr algn="l">
              <a:lnSpc>
                <a:spcPct val="100000"/>
              </a:lnSpc>
            </a:pPr>
            <a:r>
              <a:rPr sz="700" b="1" i="0">
                <a:solidFill>
                  <a:srgbClr val="7C8493"/>
                </a:solidFill>
                <a:latin typeface="Calibri"/>
              </a:rPr>
              <a:t>INSURANCE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CE9CC2"/>
        </a:solidFill>
        <a:effectLst/>
      </p:bgPr>
    </p:bg>
    <p:spTree>
      <p:nvGrpSpPr>
        <p:cNvPr id="1" name=""/>
        <p:cNvGrpSpPr/>
        <p:nvPr/>
      </p:nvGrpSpPr>
      <p:grpSpPr/>
      <p:sp>
        <p:nvSpPr>
          <p:cNvPr id="2" name="TextBox 1"/>
          <p:cNvSpPr txBox="1"/>
          <p:nvPr/>
        </p:nvSpPr>
        <p:spPr>
          <a:xfrm>
            <a:off x="0" y="2331720"/>
            <a:ext cx="12191695" cy="914400"/>
          </a:xfrm>
          <a:prstGeom prst="rect">
            <a:avLst/>
          </a:prstGeom>
          <a:noFill/>
        </p:spPr>
        <p:txBody>
          <a:bodyPr wrap="square" anchor="t" lIns="0" rIns="0" tIns="0" bIns="0">
            <a:spAutoFit/>
          </a:bodyPr>
          <a:lstStyle/>
          <a:p>
            <a:pPr algn="ctr">
              <a:lnSpc>
                <a:spcPct val="100000"/>
              </a:lnSpc>
            </a:pPr>
            <a:r>
              <a:rPr sz="4400" b="1" i="0">
                <a:solidFill>
                  <a:srgbClr val="FFFFFF"/>
                </a:solidFill>
                <a:latin typeface="Calibri"/>
              </a:rPr>
              <a:t>Demo</a:t>
            </a:r>
          </a:p>
        </p:txBody>
      </p:sp>
      <p:sp>
        <p:nvSpPr>
          <p:cNvPr id="3" name="TextBox 2"/>
          <p:cNvSpPr txBox="1"/>
          <p:nvPr/>
        </p:nvSpPr>
        <p:spPr>
          <a:xfrm>
            <a:off x="3108960" y="3520440"/>
            <a:ext cx="5943600" cy="1554480"/>
          </a:xfrm>
          <a:prstGeom prst="rect">
            <a:avLst/>
          </a:prstGeom>
          <a:noFill/>
        </p:spPr>
        <p:txBody>
          <a:bodyPr wrap="square" anchor="t" lIns="0" rIns="0" tIns="0" bIns="0">
            <a:spAutoFit/>
          </a:bodyPr>
          <a:lstStyle/>
          <a:p>
            <a:pPr algn="l">
              <a:lnSpc>
                <a:spcPct val="105000"/>
              </a:lnSpc>
              <a:spcAft>
                <a:spcPts val="800"/>
              </a:spcAft>
            </a:pPr>
            <a:r>
              <a:rPr sz="1300">
                <a:solidFill>
                  <a:srgbClr val="FFFFFF"/>
                </a:solidFill>
                <a:latin typeface="Calibri"/>
              </a:rPr>
              <a:t>•  Publish a test transaction JSON</a:t>
            </a:r>
          </a:p>
          <a:p>
            <a:pPr algn="l">
              <a:lnSpc>
                <a:spcPct val="105000"/>
              </a:lnSpc>
              <a:spcAft>
                <a:spcPts val="800"/>
              </a:spcAft>
            </a:pPr>
            <a:r>
              <a:rPr sz="1300">
                <a:solidFill>
                  <a:srgbClr val="FFFFFF"/>
                </a:solidFill>
                <a:latin typeface="Calibri"/>
              </a:rPr>
              <a:t>•  Run the pipeline notebooks end to end</a:t>
            </a:r>
          </a:p>
          <a:p>
            <a:pPr algn="l">
              <a:lnSpc>
                <a:spcPct val="105000"/>
              </a:lnSpc>
              <a:spcAft>
                <a:spcPts val="800"/>
              </a:spcAft>
            </a:pPr>
            <a:r>
              <a:rPr sz="1300">
                <a:solidFill>
                  <a:srgbClr val="FFFFFF"/>
                </a:solidFill>
                <a:latin typeface="Calibri"/>
              </a:rPr>
              <a:t>•  Inspect Active / Pending / History with the feature-store viewer</a:t>
            </a:r>
          </a:p>
          <a:p>
            <a:pPr algn="l">
              <a:lnSpc>
                <a:spcPct val="105000"/>
              </a:lnSpc>
              <a:spcAft>
                <a:spcPts val="800"/>
              </a:spcAft>
            </a:pPr>
            <a:r>
              <a:rPr sz="1300">
                <a:solidFill>
                  <a:srgbClr val="FFFFFF"/>
                </a:solidFill>
                <a:latin typeface="Calibri"/>
              </a:rPr>
              <a:t>•  Query the Feature Serving Endpoint by policy ID</a:t>
            </a:r>
          </a:p>
        </p:txBody>
      </p:sp>
      <p:cxnSp>
        <p:nvCxnSpPr>
          <p:cNvPr id="4" name="Connector 3"/>
          <p:cNvCxnSpPr/>
          <p:nvPr/>
        </p:nvCxnSpPr>
        <p:spPr>
          <a:xfrm>
            <a:off x="411480" y="6473952"/>
            <a:ext cx="11384280" cy="0"/>
          </a:xfrm>
          <a:prstGeom prst="line">
            <a:avLst/>
          </a:prstGeom>
          <a:ln w="9525">
            <a:solidFill>
              <a:srgbClr val="E2E0E6"/>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11480" y="6528816"/>
            <a:ext cx="548640" cy="274320"/>
          </a:xfrm>
          <a:prstGeom prst="rect">
            <a:avLst/>
          </a:prstGeom>
          <a:noFill/>
        </p:spPr>
        <p:txBody>
          <a:bodyPr wrap="square" anchor="t" lIns="0" rIns="0" tIns="0" bIns="0">
            <a:spAutoFit/>
          </a:bodyPr>
          <a:lstStyle/>
          <a:p>
            <a:pPr algn="l">
              <a:lnSpc>
                <a:spcPct val="100000"/>
              </a:lnSpc>
            </a:pPr>
            <a:r>
              <a:rPr sz="1050" b="0" i="0">
                <a:solidFill>
                  <a:srgbClr val="7C8493"/>
                </a:solidFill>
                <a:latin typeface="Calibri"/>
              </a:rPr>
              <a:t>12</a:t>
            </a:r>
          </a:p>
        </p:txBody>
      </p:sp>
      <p:sp>
        <p:nvSpPr>
          <p:cNvPr id="6" name="Block Arc 5"/>
          <p:cNvSpPr/>
          <p:nvPr/>
        </p:nvSpPr>
        <p:spPr>
          <a:xfrm>
            <a:off x="9921240" y="6492240"/>
            <a:ext cx="237744" cy="219456"/>
          </a:xfrm>
          <a:prstGeom prst="blockArc">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22992" y="6473952"/>
            <a:ext cx="1554480" cy="201168"/>
          </a:xfrm>
          <a:prstGeom prst="rect">
            <a:avLst/>
          </a:prstGeom>
          <a:noFill/>
        </p:spPr>
        <p:txBody>
          <a:bodyPr wrap="square" anchor="t" lIns="0" rIns="0" tIns="0" bIns="0">
            <a:spAutoFit/>
          </a:bodyPr>
          <a:lstStyle/>
          <a:p>
            <a:pPr algn="l">
              <a:lnSpc>
                <a:spcPct val="100000"/>
              </a:lnSpc>
            </a:pPr>
            <a:r>
              <a:rPr sz="1050" b="1" i="0">
                <a:solidFill>
                  <a:srgbClr val="14255C"/>
                </a:solidFill>
                <a:latin typeface="Calibri"/>
              </a:rPr>
              <a:t>FARMERS</a:t>
            </a:r>
          </a:p>
        </p:txBody>
      </p:sp>
      <p:sp>
        <p:nvSpPr>
          <p:cNvPr id="8" name="TextBox 7"/>
          <p:cNvSpPr txBox="1"/>
          <p:nvPr/>
        </p:nvSpPr>
        <p:spPr>
          <a:xfrm>
            <a:off x="10222992" y="6647688"/>
            <a:ext cx="1554480" cy="182880"/>
          </a:xfrm>
          <a:prstGeom prst="rect">
            <a:avLst/>
          </a:prstGeom>
          <a:noFill/>
        </p:spPr>
        <p:txBody>
          <a:bodyPr wrap="square" anchor="t" lIns="0" rIns="0" tIns="0" bIns="0">
            <a:spAutoFit/>
          </a:bodyPr>
          <a:lstStyle/>
          <a:p>
            <a:pPr algn="l">
              <a:lnSpc>
                <a:spcPct val="100000"/>
              </a:lnSpc>
            </a:pPr>
            <a:r>
              <a:rPr sz="700" b="1" i="0">
                <a:solidFill>
                  <a:srgbClr val="7C8493"/>
                </a:solidFill>
                <a:latin typeface="Calibri"/>
              </a:rPr>
              <a:t>INSURANCE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10515600" cy="274320"/>
          </a:xfrm>
          <a:prstGeom prst="rect">
            <a:avLst/>
          </a:prstGeom>
          <a:noFill/>
        </p:spPr>
        <p:txBody>
          <a:bodyPr wrap="square" anchor="t" lIns="0" rIns="0" tIns="0" bIns="0">
            <a:spAutoFit/>
          </a:bodyPr>
          <a:lstStyle/>
          <a:p>
            <a:pPr algn="l">
              <a:lnSpc>
                <a:spcPct val="100000"/>
              </a:lnSpc>
            </a:pPr>
            <a:r>
              <a:rPr sz="1100" b="1" i="0">
                <a:solidFill>
                  <a:srgbClr val="B8872E"/>
                </a:solidFill>
                <a:latin typeface="Calibri"/>
              </a:rPr>
              <a:t>REFLECTION</a:t>
            </a:r>
          </a:p>
        </p:txBody>
      </p:sp>
      <p:sp>
        <p:nvSpPr>
          <p:cNvPr id="3" name="TextBox 2"/>
          <p:cNvSpPr txBox="1"/>
          <p:nvPr/>
        </p:nvSpPr>
        <p:spPr>
          <a:xfrm>
            <a:off x="502920" y="438912"/>
            <a:ext cx="10515600" cy="594360"/>
          </a:xfrm>
          <a:prstGeom prst="rect">
            <a:avLst/>
          </a:prstGeom>
          <a:noFill/>
        </p:spPr>
        <p:txBody>
          <a:bodyPr wrap="square" anchor="t" lIns="0" rIns="0" tIns="0" bIns="0">
            <a:spAutoFit/>
          </a:bodyPr>
          <a:lstStyle/>
          <a:p>
            <a:pPr algn="l">
              <a:lnSpc>
                <a:spcPct val="100000"/>
              </a:lnSpc>
            </a:pPr>
            <a:r>
              <a:rPr sz="2600" b="1" i="0">
                <a:solidFill>
                  <a:srgbClr val="14255C"/>
                </a:solidFill>
                <a:latin typeface="Calibri"/>
              </a:rPr>
              <a:t>What I Learned</a:t>
            </a:r>
          </a:p>
        </p:txBody>
      </p:sp>
      <p:cxnSp>
        <p:nvCxnSpPr>
          <p:cNvPr id="4" name="Connector 3"/>
          <p:cNvCxnSpPr/>
          <p:nvPr/>
        </p:nvCxnSpPr>
        <p:spPr>
          <a:xfrm>
            <a:off x="502920" y="1042415"/>
            <a:ext cx="11183112" cy="0"/>
          </a:xfrm>
          <a:prstGeom prst="line">
            <a:avLst/>
          </a:prstGeom>
          <a:ln w="28575">
            <a:solidFill>
              <a:srgbClr val="14255C"/>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371600"/>
            <a:ext cx="914400" cy="914400"/>
          </a:xfrm>
          <a:prstGeom prst="roundRect">
            <a:avLst>
              <a:gd name="adj" fmla="val 8000"/>
            </a:avLst>
          </a:prstGeom>
          <a:solidFill>
            <a:srgbClr val="14255C"/>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057400" y="1325880"/>
            <a:ext cx="7772400" cy="320040"/>
          </a:xfrm>
          <a:prstGeom prst="rect">
            <a:avLst/>
          </a:prstGeom>
          <a:noFill/>
        </p:spPr>
        <p:txBody>
          <a:bodyPr wrap="square" anchor="t" lIns="0" rIns="0" tIns="0" bIns="0">
            <a:spAutoFit/>
          </a:bodyPr>
          <a:lstStyle/>
          <a:p>
            <a:pPr algn="l">
              <a:lnSpc>
                <a:spcPct val="100000"/>
              </a:lnSpc>
            </a:pPr>
            <a:r>
              <a:rPr sz="1500" b="1" i="0">
                <a:solidFill>
                  <a:srgbClr val="14255C"/>
                </a:solidFill>
                <a:latin typeface="Calibri"/>
              </a:rPr>
              <a:t>Adapting to Real-World Challenges</a:t>
            </a:r>
          </a:p>
        </p:txBody>
      </p:sp>
      <p:sp>
        <p:nvSpPr>
          <p:cNvPr id="7" name="TextBox 6"/>
          <p:cNvSpPr txBox="1"/>
          <p:nvPr/>
        </p:nvSpPr>
        <p:spPr>
          <a:xfrm>
            <a:off x="2057400" y="1682496"/>
            <a:ext cx="7772400" cy="822960"/>
          </a:xfrm>
          <a:prstGeom prst="rect">
            <a:avLst/>
          </a:prstGeom>
          <a:noFill/>
        </p:spPr>
        <p:txBody>
          <a:bodyPr wrap="square" anchor="t" lIns="0" rIns="0" tIns="0" bIns="0">
            <a:spAutoFit/>
          </a:bodyPr>
          <a:lstStyle/>
          <a:p>
            <a:pPr algn="l">
              <a:lnSpc>
                <a:spcPct val="105000"/>
              </a:lnSpc>
              <a:spcAft>
                <a:spcPts val="400"/>
              </a:spcAft>
            </a:pPr>
            <a:r>
              <a:rPr sz="1150">
                <a:solidFill>
                  <a:srgbClr val="222733"/>
                </a:solidFill>
                <a:latin typeface="Calibri"/>
              </a:rPr>
              <a:t>▪  Learned to navigate ambiguity and think critically when things don't go as planned</a:t>
            </a:r>
          </a:p>
        </p:txBody>
      </p:sp>
      <p:sp>
        <p:nvSpPr>
          <p:cNvPr id="8" name="Rounded Rectangle 7"/>
          <p:cNvSpPr/>
          <p:nvPr/>
        </p:nvSpPr>
        <p:spPr>
          <a:xfrm>
            <a:off x="1389888" y="2304288"/>
            <a:ext cx="914400" cy="914400"/>
          </a:xfrm>
          <a:prstGeom prst="roundRect">
            <a:avLst>
              <a:gd name="adj" fmla="val 8000"/>
            </a:avLst>
          </a:prstGeom>
          <a:solidFill>
            <a:srgbClr val="30508C"/>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624328" y="2258568"/>
            <a:ext cx="7772400" cy="320040"/>
          </a:xfrm>
          <a:prstGeom prst="rect">
            <a:avLst/>
          </a:prstGeom>
          <a:noFill/>
        </p:spPr>
        <p:txBody>
          <a:bodyPr wrap="square" anchor="t" lIns="0" rIns="0" tIns="0" bIns="0">
            <a:spAutoFit/>
          </a:bodyPr>
          <a:lstStyle/>
          <a:p>
            <a:pPr algn="l">
              <a:lnSpc>
                <a:spcPct val="100000"/>
              </a:lnSpc>
            </a:pPr>
            <a:r>
              <a:rPr sz="1500" b="1" i="0">
                <a:solidFill>
                  <a:srgbClr val="14255C"/>
                </a:solidFill>
                <a:latin typeface="Calibri"/>
              </a:rPr>
              <a:t>Learning Through Feedback</a:t>
            </a:r>
          </a:p>
        </p:txBody>
      </p:sp>
      <p:sp>
        <p:nvSpPr>
          <p:cNvPr id="10" name="TextBox 9"/>
          <p:cNvSpPr txBox="1"/>
          <p:nvPr/>
        </p:nvSpPr>
        <p:spPr>
          <a:xfrm>
            <a:off x="2624328" y="2615184"/>
            <a:ext cx="7772400" cy="822960"/>
          </a:xfrm>
          <a:prstGeom prst="rect">
            <a:avLst/>
          </a:prstGeom>
          <a:noFill/>
        </p:spPr>
        <p:txBody>
          <a:bodyPr wrap="square" anchor="t" lIns="0" rIns="0" tIns="0" bIns="0">
            <a:spAutoFit/>
          </a:bodyPr>
          <a:lstStyle/>
          <a:p>
            <a:pPr algn="l">
              <a:lnSpc>
                <a:spcPct val="105000"/>
              </a:lnSpc>
              <a:spcAft>
                <a:spcPts val="400"/>
              </a:spcAft>
            </a:pPr>
            <a:r>
              <a:rPr sz="1150">
                <a:solidFill>
                  <a:srgbClr val="222733"/>
                </a:solidFill>
                <a:latin typeface="Calibri"/>
              </a:rPr>
              <a:t>▪  Asking questions and seeking guidance helped build clarity and confidence</a:t>
            </a:r>
          </a:p>
        </p:txBody>
      </p:sp>
      <p:sp>
        <p:nvSpPr>
          <p:cNvPr id="11" name="Rounded Rectangle 10"/>
          <p:cNvSpPr/>
          <p:nvPr/>
        </p:nvSpPr>
        <p:spPr>
          <a:xfrm>
            <a:off x="1956816" y="3236976"/>
            <a:ext cx="914400" cy="914400"/>
          </a:xfrm>
          <a:prstGeom prst="roundRect">
            <a:avLst>
              <a:gd name="adj" fmla="val 8000"/>
            </a:avLst>
          </a:prstGeom>
          <a:solidFill>
            <a:srgbClr val="5C83B6"/>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191256" y="3191256"/>
            <a:ext cx="7772400" cy="320040"/>
          </a:xfrm>
          <a:prstGeom prst="rect">
            <a:avLst/>
          </a:prstGeom>
          <a:noFill/>
        </p:spPr>
        <p:txBody>
          <a:bodyPr wrap="square" anchor="t" lIns="0" rIns="0" tIns="0" bIns="0">
            <a:spAutoFit/>
          </a:bodyPr>
          <a:lstStyle/>
          <a:p>
            <a:pPr algn="l">
              <a:lnSpc>
                <a:spcPct val="100000"/>
              </a:lnSpc>
            </a:pPr>
            <a:r>
              <a:rPr sz="1500" b="1" i="0">
                <a:solidFill>
                  <a:srgbClr val="14255C"/>
                </a:solidFill>
                <a:latin typeface="Calibri"/>
              </a:rPr>
              <a:t>Technical Skill Development</a:t>
            </a:r>
          </a:p>
        </p:txBody>
      </p:sp>
      <p:sp>
        <p:nvSpPr>
          <p:cNvPr id="13" name="TextBox 12"/>
          <p:cNvSpPr txBox="1"/>
          <p:nvPr/>
        </p:nvSpPr>
        <p:spPr>
          <a:xfrm>
            <a:off x="3191256" y="3547872"/>
            <a:ext cx="7772400" cy="822960"/>
          </a:xfrm>
          <a:prstGeom prst="rect">
            <a:avLst/>
          </a:prstGeom>
          <a:noFill/>
        </p:spPr>
        <p:txBody>
          <a:bodyPr wrap="square" anchor="t" lIns="0" rIns="0" tIns="0" bIns="0">
            <a:spAutoFit/>
          </a:bodyPr>
          <a:lstStyle/>
          <a:p>
            <a:pPr algn="l">
              <a:lnSpc>
                <a:spcPct val="105000"/>
              </a:lnSpc>
              <a:spcAft>
                <a:spcPts val="400"/>
              </a:spcAft>
            </a:pPr>
            <a:r>
              <a:rPr sz="1150">
                <a:solidFill>
                  <a:srgbClr val="222733"/>
                </a:solidFill>
                <a:latin typeface="Calibri"/>
              </a:rPr>
              <a:t>▪  Built practical skills with Databricks, PySpark, and Snowflake.</a:t>
            </a:r>
          </a:p>
          <a:p>
            <a:pPr algn="l">
              <a:lnSpc>
                <a:spcPct val="105000"/>
              </a:lnSpc>
              <a:spcAft>
                <a:spcPts val="400"/>
              </a:spcAft>
            </a:pPr>
            <a:r>
              <a:rPr sz="1150">
                <a:solidFill>
                  <a:srgbClr val="222733"/>
                </a:solidFill>
                <a:latin typeface="Calibri"/>
              </a:rPr>
              <a:t>▪  Learned how to use the online feature store in Databricks.</a:t>
            </a:r>
          </a:p>
        </p:txBody>
      </p:sp>
      <p:sp>
        <p:nvSpPr>
          <p:cNvPr id="14" name="Rounded Rectangle 13"/>
          <p:cNvSpPr/>
          <p:nvPr/>
        </p:nvSpPr>
        <p:spPr>
          <a:xfrm>
            <a:off x="2523744" y="4169664"/>
            <a:ext cx="914400" cy="914400"/>
          </a:xfrm>
          <a:prstGeom prst="roundRect">
            <a:avLst>
              <a:gd name="adj" fmla="val 8000"/>
            </a:avLst>
          </a:prstGeom>
          <a:solidFill>
            <a:srgbClr val="9CBBDC"/>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58183" y="4123944"/>
            <a:ext cx="7772400" cy="320040"/>
          </a:xfrm>
          <a:prstGeom prst="rect">
            <a:avLst/>
          </a:prstGeom>
          <a:noFill/>
        </p:spPr>
        <p:txBody>
          <a:bodyPr wrap="square" anchor="t" lIns="0" rIns="0" tIns="0" bIns="0">
            <a:spAutoFit/>
          </a:bodyPr>
          <a:lstStyle/>
          <a:p>
            <a:pPr algn="l">
              <a:lnSpc>
                <a:spcPct val="100000"/>
              </a:lnSpc>
            </a:pPr>
            <a:r>
              <a:rPr sz="1500" b="1" i="0">
                <a:solidFill>
                  <a:srgbClr val="14255C"/>
                </a:solidFill>
                <a:latin typeface="Calibri"/>
              </a:rPr>
              <a:t>Insurance Business &amp; Strategic Understanding</a:t>
            </a:r>
          </a:p>
        </p:txBody>
      </p:sp>
      <p:sp>
        <p:nvSpPr>
          <p:cNvPr id="16" name="TextBox 15"/>
          <p:cNvSpPr txBox="1"/>
          <p:nvPr/>
        </p:nvSpPr>
        <p:spPr>
          <a:xfrm>
            <a:off x="3758183" y="4480560"/>
            <a:ext cx="7772400" cy="822960"/>
          </a:xfrm>
          <a:prstGeom prst="rect">
            <a:avLst/>
          </a:prstGeom>
          <a:noFill/>
        </p:spPr>
        <p:txBody>
          <a:bodyPr wrap="square" anchor="t" lIns="0" rIns="0" tIns="0" bIns="0">
            <a:spAutoFit/>
          </a:bodyPr>
          <a:lstStyle/>
          <a:p>
            <a:pPr algn="l">
              <a:lnSpc>
                <a:spcPct val="105000"/>
              </a:lnSpc>
              <a:spcAft>
                <a:spcPts val="400"/>
              </a:spcAft>
            </a:pPr>
            <a:r>
              <a:rPr sz="1150">
                <a:solidFill>
                  <a:srgbClr val="222733"/>
                </a:solidFill>
                <a:latin typeface="Calibri"/>
              </a:rPr>
              <a:t>▪  Connected insurance metrics to business decisions and embraced an analyst mindset</a:t>
            </a:r>
          </a:p>
        </p:txBody>
      </p:sp>
      <p:cxnSp>
        <p:nvCxnSpPr>
          <p:cNvPr id="17" name="Connector 16"/>
          <p:cNvCxnSpPr/>
          <p:nvPr/>
        </p:nvCxnSpPr>
        <p:spPr>
          <a:xfrm>
            <a:off x="411480" y="6473952"/>
            <a:ext cx="11384280" cy="0"/>
          </a:xfrm>
          <a:prstGeom prst="line">
            <a:avLst/>
          </a:prstGeom>
          <a:ln w="9525">
            <a:solidFill>
              <a:srgbClr val="E2E0E6"/>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11480" y="6528816"/>
            <a:ext cx="548640" cy="274320"/>
          </a:xfrm>
          <a:prstGeom prst="rect">
            <a:avLst/>
          </a:prstGeom>
          <a:noFill/>
        </p:spPr>
        <p:txBody>
          <a:bodyPr wrap="square" anchor="t" lIns="0" rIns="0" tIns="0" bIns="0">
            <a:spAutoFit/>
          </a:bodyPr>
          <a:lstStyle/>
          <a:p>
            <a:pPr algn="l">
              <a:lnSpc>
                <a:spcPct val="100000"/>
              </a:lnSpc>
            </a:pPr>
            <a:r>
              <a:rPr sz="1050" b="0" i="0">
                <a:solidFill>
                  <a:srgbClr val="7C8493"/>
                </a:solidFill>
                <a:latin typeface="Calibri"/>
              </a:rPr>
              <a:t>13</a:t>
            </a:r>
          </a:p>
        </p:txBody>
      </p:sp>
      <p:sp>
        <p:nvSpPr>
          <p:cNvPr id="19" name="Block Arc 18"/>
          <p:cNvSpPr/>
          <p:nvPr/>
        </p:nvSpPr>
        <p:spPr>
          <a:xfrm>
            <a:off x="9921240" y="6492240"/>
            <a:ext cx="237744" cy="219456"/>
          </a:xfrm>
          <a:prstGeom prst="blockArc">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222992" y="6473952"/>
            <a:ext cx="1554480" cy="201168"/>
          </a:xfrm>
          <a:prstGeom prst="rect">
            <a:avLst/>
          </a:prstGeom>
          <a:noFill/>
        </p:spPr>
        <p:txBody>
          <a:bodyPr wrap="square" anchor="t" lIns="0" rIns="0" tIns="0" bIns="0">
            <a:spAutoFit/>
          </a:bodyPr>
          <a:lstStyle/>
          <a:p>
            <a:pPr algn="l">
              <a:lnSpc>
                <a:spcPct val="100000"/>
              </a:lnSpc>
            </a:pPr>
            <a:r>
              <a:rPr sz="1050" b="1" i="0">
                <a:solidFill>
                  <a:srgbClr val="14255C"/>
                </a:solidFill>
                <a:latin typeface="Calibri"/>
              </a:rPr>
              <a:t>FARMERS</a:t>
            </a:r>
          </a:p>
        </p:txBody>
      </p:sp>
      <p:sp>
        <p:nvSpPr>
          <p:cNvPr id="21" name="TextBox 20"/>
          <p:cNvSpPr txBox="1"/>
          <p:nvPr/>
        </p:nvSpPr>
        <p:spPr>
          <a:xfrm>
            <a:off x="10222992" y="6647688"/>
            <a:ext cx="1554480" cy="182880"/>
          </a:xfrm>
          <a:prstGeom prst="rect">
            <a:avLst/>
          </a:prstGeom>
          <a:noFill/>
        </p:spPr>
        <p:txBody>
          <a:bodyPr wrap="square" anchor="t" lIns="0" rIns="0" tIns="0" bIns="0">
            <a:spAutoFit/>
          </a:bodyPr>
          <a:lstStyle/>
          <a:p>
            <a:pPr algn="l">
              <a:lnSpc>
                <a:spcPct val="100000"/>
              </a:lnSpc>
            </a:pPr>
            <a:r>
              <a:rPr sz="700" b="1" i="0">
                <a:solidFill>
                  <a:srgbClr val="7C8493"/>
                </a:solidFill>
                <a:latin typeface="Calibri"/>
              </a:rPr>
              <a:t>INSURANCE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CE9CC2"/>
        </a:solidFill>
        <a:effectLst/>
      </p:bgPr>
    </p:bg>
    <p:spTree>
      <p:nvGrpSpPr>
        <p:cNvPr id="1" name=""/>
        <p:cNvGrpSpPr/>
        <p:nvPr/>
      </p:nvGrpSpPr>
      <p:grpSpPr/>
      <p:sp>
        <p:nvSpPr>
          <p:cNvPr id="2" name="TextBox 1"/>
          <p:cNvSpPr txBox="1"/>
          <p:nvPr/>
        </p:nvSpPr>
        <p:spPr>
          <a:xfrm>
            <a:off x="0" y="1188720"/>
            <a:ext cx="12191695" cy="822960"/>
          </a:xfrm>
          <a:prstGeom prst="rect">
            <a:avLst/>
          </a:prstGeom>
          <a:noFill/>
        </p:spPr>
        <p:txBody>
          <a:bodyPr wrap="square" anchor="t" lIns="0" rIns="0" tIns="0" bIns="0">
            <a:spAutoFit/>
          </a:bodyPr>
          <a:lstStyle/>
          <a:p>
            <a:pPr algn="ctr">
              <a:lnSpc>
                <a:spcPct val="100000"/>
              </a:lnSpc>
            </a:pPr>
            <a:r>
              <a:rPr sz="4000" b="1" i="0">
                <a:solidFill>
                  <a:srgbClr val="FFFFFF"/>
                </a:solidFill>
                <a:latin typeface="Calibri"/>
              </a:rPr>
              <a:t>Thank You</a:t>
            </a:r>
          </a:p>
        </p:txBody>
      </p:sp>
      <p:sp>
        <p:nvSpPr>
          <p:cNvPr id="3" name="Rounded Rectangle 2"/>
          <p:cNvSpPr/>
          <p:nvPr/>
        </p:nvSpPr>
        <p:spPr>
          <a:xfrm>
            <a:off x="3840480" y="2468880"/>
            <a:ext cx="4480560" cy="2834640"/>
          </a:xfrm>
          <a:prstGeom prst="roundRect">
            <a:avLst>
              <a:gd name="adj" fmla="val 8000"/>
            </a:avLst>
          </a:prstGeom>
          <a:solidFill>
            <a:srgbClr val="FFFFFF"/>
          </a:solidFill>
          <a:ln>
            <a:noFill/>
          </a:ln>
          <a:effectLst>
            <a:outerShdw blurRad="80000" dist="25000" dir="5400000" rotWithShape="0">
              <a:srgbClr val="9AA7B4">
                <a:alpha val="7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0" y="2697480"/>
            <a:ext cx="3931920" cy="320040"/>
          </a:xfrm>
          <a:prstGeom prst="rect">
            <a:avLst/>
          </a:prstGeom>
          <a:noFill/>
        </p:spPr>
        <p:txBody>
          <a:bodyPr wrap="square" anchor="t" lIns="0" rIns="0" tIns="0" bIns="0">
            <a:spAutoFit/>
          </a:bodyPr>
          <a:lstStyle/>
          <a:p>
            <a:pPr algn="ctr">
              <a:lnSpc>
                <a:spcPct val="100000"/>
              </a:lnSpc>
            </a:pPr>
            <a:r>
              <a:rPr sz="1250" b="1" i="0">
                <a:solidFill>
                  <a:srgbClr val="14255C"/>
                </a:solidFill>
                <a:latin typeface="Calibri"/>
              </a:rPr>
              <a:t>HONORABLE MENTIONS</a:t>
            </a:r>
          </a:p>
        </p:txBody>
      </p:sp>
      <p:sp>
        <p:nvSpPr>
          <p:cNvPr id="5" name="TextBox 4"/>
          <p:cNvSpPr txBox="1"/>
          <p:nvPr/>
        </p:nvSpPr>
        <p:spPr>
          <a:xfrm>
            <a:off x="4114800" y="3154680"/>
            <a:ext cx="3931920" cy="1920240"/>
          </a:xfrm>
          <a:prstGeom prst="rect">
            <a:avLst/>
          </a:prstGeom>
          <a:noFill/>
        </p:spPr>
        <p:txBody>
          <a:bodyPr wrap="square" anchor="t" lIns="0" rIns="0" tIns="0" bIns="0">
            <a:spAutoFit/>
          </a:bodyPr>
          <a:lstStyle/>
          <a:p>
            <a:pPr algn="ctr">
              <a:lnSpc>
                <a:spcPct val="105000"/>
              </a:lnSpc>
              <a:spcAft>
                <a:spcPts val="1000"/>
              </a:spcAft>
            </a:pPr>
            <a:r>
              <a:rPr sz="1400">
                <a:solidFill>
                  <a:srgbClr val="222733"/>
                </a:solidFill>
                <a:latin typeface="Calibri"/>
              </a:rPr>
              <a:t>Drew Woods</a:t>
            </a:r>
          </a:p>
          <a:p>
            <a:pPr algn="ctr">
              <a:lnSpc>
                <a:spcPct val="105000"/>
              </a:lnSpc>
              <a:spcAft>
                <a:spcPts val="1000"/>
              </a:spcAft>
            </a:pPr>
            <a:r>
              <a:rPr sz="1400">
                <a:solidFill>
                  <a:srgbClr val="222733"/>
                </a:solidFill>
                <a:latin typeface="Calibri"/>
              </a:rPr>
              <a:t>Jef Huang</a:t>
            </a:r>
          </a:p>
          <a:p>
            <a:pPr algn="ctr">
              <a:lnSpc>
                <a:spcPct val="105000"/>
              </a:lnSpc>
              <a:spcAft>
                <a:spcPts val="1000"/>
              </a:spcAft>
            </a:pPr>
            <a:r>
              <a:rPr sz="1400">
                <a:solidFill>
                  <a:srgbClr val="222733"/>
                </a:solidFill>
                <a:latin typeface="Calibri"/>
              </a:rPr>
              <a:t>Mey Ali</a:t>
            </a:r>
          </a:p>
          <a:p>
            <a:pPr algn="ctr">
              <a:lnSpc>
                <a:spcPct val="105000"/>
              </a:lnSpc>
              <a:spcAft>
                <a:spcPts val="1000"/>
              </a:spcAft>
            </a:pPr>
            <a:r>
              <a:rPr sz="1400">
                <a:solidFill>
                  <a:srgbClr val="222733"/>
                </a:solidFill>
                <a:latin typeface="Calibri"/>
              </a:rPr>
              <a:t>Noel Sandico</a:t>
            </a:r>
          </a:p>
          <a:p>
            <a:pPr algn="ctr">
              <a:lnSpc>
                <a:spcPct val="105000"/>
              </a:lnSpc>
              <a:spcAft>
                <a:spcPts val="1000"/>
              </a:spcAft>
            </a:pPr>
            <a:r>
              <a:rPr sz="1400">
                <a:solidFill>
                  <a:srgbClr val="222733"/>
                </a:solidFill>
                <a:latin typeface="Calibri"/>
              </a:rPr>
              <a:t>Rajavardhan Nagolu</a:t>
            </a:r>
          </a:p>
        </p:txBody>
      </p:sp>
      <p:sp>
        <p:nvSpPr>
          <p:cNvPr id="6" name="TextBox 5"/>
          <p:cNvSpPr txBox="1"/>
          <p:nvPr/>
        </p:nvSpPr>
        <p:spPr>
          <a:xfrm>
            <a:off x="0" y="5532120"/>
            <a:ext cx="12191695" cy="457200"/>
          </a:xfrm>
          <a:prstGeom prst="rect">
            <a:avLst/>
          </a:prstGeom>
          <a:noFill/>
        </p:spPr>
        <p:txBody>
          <a:bodyPr wrap="square" anchor="t" lIns="0" rIns="0" tIns="0" bIns="0">
            <a:spAutoFit/>
          </a:bodyPr>
          <a:lstStyle/>
          <a:p>
            <a:pPr algn="ctr">
              <a:lnSpc>
                <a:spcPct val="100000"/>
              </a:lnSpc>
            </a:pPr>
            <a:r>
              <a:rPr sz="1700" b="0" i="0">
                <a:solidFill>
                  <a:srgbClr val="FFFFFF"/>
                </a:solidFill>
                <a:latin typeface="Calibri"/>
              </a:rPr>
              <a:t>Questions?</a:t>
            </a:r>
          </a:p>
        </p:txBody>
      </p:sp>
      <p:cxnSp>
        <p:nvCxnSpPr>
          <p:cNvPr id="7" name="Connector 6"/>
          <p:cNvCxnSpPr/>
          <p:nvPr/>
        </p:nvCxnSpPr>
        <p:spPr>
          <a:xfrm>
            <a:off x="411480" y="6473952"/>
            <a:ext cx="11384280" cy="0"/>
          </a:xfrm>
          <a:prstGeom prst="line">
            <a:avLst/>
          </a:prstGeom>
          <a:ln w="9525">
            <a:solidFill>
              <a:srgbClr val="E2E0E6"/>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11480" y="6528816"/>
            <a:ext cx="548640" cy="274320"/>
          </a:xfrm>
          <a:prstGeom prst="rect">
            <a:avLst/>
          </a:prstGeom>
          <a:noFill/>
        </p:spPr>
        <p:txBody>
          <a:bodyPr wrap="square" anchor="t" lIns="0" rIns="0" tIns="0" bIns="0">
            <a:spAutoFit/>
          </a:bodyPr>
          <a:lstStyle/>
          <a:p>
            <a:pPr algn="l">
              <a:lnSpc>
                <a:spcPct val="100000"/>
              </a:lnSpc>
            </a:pPr>
            <a:r>
              <a:rPr sz="1050" b="0" i="0">
                <a:solidFill>
                  <a:srgbClr val="7C8493"/>
                </a:solidFill>
                <a:latin typeface="Calibri"/>
              </a:rPr>
              <a:t>14</a:t>
            </a:r>
          </a:p>
        </p:txBody>
      </p:sp>
      <p:sp>
        <p:nvSpPr>
          <p:cNvPr id="9" name="Block Arc 8"/>
          <p:cNvSpPr/>
          <p:nvPr/>
        </p:nvSpPr>
        <p:spPr>
          <a:xfrm>
            <a:off x="9921240" y="6492240"/>
            <a:ext cx="237744" cy="219456"/>
          </a:xfrm>
          <a:prstGeom prst="blockArc">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22992" y="6473952"/>
            <a:ext cx="1554480" cy="201168"/>
          </a:xfrm>
          <a:prstGeom prst="rect">
            <a:avLst/>
          </a:prstGeom>
          <a:noFill/>
        </p:spPr>
        <p:txBody>
          <a:bodyPr wrap="square" anchor="t" lIns="0" rIns="0" tIns="0" bIns="0">
            <a:spAutoFit/>
          </a:bodyPr>
          <a:lstStyle/>
          <a:p>
            <a:pPr algn="l">
              <a:lnSpc>
                <a:spcPct val="100000"/>
              </a:lnSpc>
            </a:pPr>
            <a:r>
              <a:rPr sz="1050" b="1" i="0">
                <a:solidFill>
                  <a:srgbClr val="14255C"/>
                </a:solidFill>
                <a:latin typeface="Calibri"/>
              </a:rPr>
              <a:t>FARMERS</a:t>
            </a:r>
          </a:p>
        </p:txBody>
      </p:sp>
      <p:sp>
        <p:nvSpPr>
          <p:cNvPr id="11" name="TextBox 10"/>
          <p:cNvSpPr txBox="1"/>
          <p:nvPr/>
        </p:nvSpPr>
        <p:spPr>
          <a:xfrm>
            <a:off x="10222992" y="6647688"/>
            <a:ext cx="1554480" cy="182880"/>
          </a:xfrm>
          <a:prstGeom prst="rect">
            <a:avLst/>
          </a:prstGeom>
          <a:noFill/>
        </p:spPr>
        <p:txBody>
          <a:bodyPr wrap="square" anchor="t" lIns="0" rIns="0" tIns="0" bIns="0">
            <a:spAutoFit/>
          </a:bodyPr>
          <a:lstStyle/>
          <a:p>
            <a:pPr algn="l">
              <a:lnSpc>
                <a:spcPct val="100000"/>
              </a:lnSpc>
            </a:pPr>
            <a:r>
              <a:rPr sz="700" b="1" i="0">
                <a:solidFill>
                  <a:srgbClr val="7C8493"/>
                </a:solidFill>
                <a:latin typeface="Calibri"/>
              </a:rPr>
              <a:t>INSURANCE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