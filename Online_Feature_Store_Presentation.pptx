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4572000"/>
            <a:ext cx="2377440" cy="2377440"/>
          </a:xfrm>
          <a:prstGeom prst="ellipse">
            <a:avLst/>
          </a:prstGeom>
          <a:solidFill>
            <a:srgbClr val="232C63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120640"/>
            <a:ext cx="1280160" cy="1280160"/>
          </a:xfrm>
          <a:prstGeom prst="ellipse">
            <a:avLst/>
          </a:prstGeom>
          <a:solidFill>
            <a:srgbClr val="2B356E"/>
          </a:solidFill>
          <a:ln/>
        </p:spPr>
      </p:sp>
      <p:sp>
        <p:nvSpPr>
          <p:cNvPr id="6" name="Shape 4"/>
          <p:cNvSpPr/>
          <p:nvPr/>
        </p:nvSpPr>
        <p:spPr>
          <a:xfrm>
            <a:off x="1783080" y="55321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 INTERNSHIP  ·  SUMMER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78308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Feature Store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policy data for ML models — kept up to date, served per policy in as low as ~15 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3703320"/>
            <a:ext cx="2743200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Snehal Dhage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 Intern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4398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3982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Jef's Data Science &amp; Analytics Solutions Team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4818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4818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Rajavardhan Nagolu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5239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5239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snehal.dhage@farmersinsurance.com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3440" y="6217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INSURANCE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58952" y="30632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54864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Shape 6"/>
          <p:cNvSpPr/>
          <p:nvPr/>
        </p:nvSpPr>
        <p:spPr>
          <a:xfrm>
            <a:off x="3364992" y="1783080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9584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9584" y="30632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Challenge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64992" y="1783080"/>
            <a:ext cx="54864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35624" y="1783080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0216" y="30632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35624" y="1783080"/>
            <a:ext cx="54864" cy="1965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906256" y="1783080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0848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70848" y="30632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06256" y="1783080"/>
            <a:ext cx="54864" cy="1965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950208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" y="4087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8952" y="5230368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Calculations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" y="3950208"/>
            <a:ext cx="54864" cy="1965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4992" y="3950208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29584" y="4087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529584" y="5230368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64992" y="3950208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6135624" y="3950208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0216" y="4087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00216" y="5230368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35624" y="3950208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8906256" y="3950208"/>
            <a:ext cx="2606040" cy="1965960"/>
          </a:xfrm>
          <a:prstGeom prst="rect">
            <a:avLst/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70848" y="4087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070848" y="5230368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906256" y="3950208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 &amp;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377440"/>
            <a:ext cx="1554480" cy="1554480"/>
          </a:xfrm>
          <a:prstGeom prst="ellipse">
            <a:avLst/>
          </a:prstGeom>
          <a:solidFill>
            <a:srgbClr val="2B356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3774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Snehal Dhage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 Intern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4983480"/>
            <a:ext cx="2011680" cy="0"/>
          </a:xfrm>
          <a:prstGeom prst="line">
            <a:avLst/>
          </a:prstGeom>
          <a:noFill/>
          <a:ln w="12700">
            <a:solidFill>
              <a:srgbClr val="3A4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Student, Business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University of Texas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Rajavardhan Nagolu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1783080"/>
            <a:ext cx="749808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783080"/>
            <a:ext cx="54864" cy="13258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90195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2402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Data &amp; AI Engineer, aiming to advance my data engineering skills through hands-on data science and AI work on real-world insurance use cases.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60520" y="3264408"/>
            <a:ext cx="749808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3264408"/>
            <a:ext cx="54864" cy="13258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383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summer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721608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Online Feature Store — a system that serves pre-computed policy features to ML models in real time.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60520" y="4745736"/>
            <a:ext cx="749808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0520" y="4745736"/>
            <a:ext cx="54864" cy="13258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48646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5202936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that scores a policy needs consistent, fast, trustworthy inputs. This project is the pipeline that makes that possible.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51960"/>
          </a:xfrm>
          <a:prstGeom prst="rect">
            <a:avLst/>
          </a:prstGeom>
          <a:solidFill>
            <a:srgbClr val="FDEE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On-Demand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request goes back to the policy system and rebuilds the data it needs from scratch.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round trip costs ~160 ms – 1000 ms — slow and repetitive, since every request repeats the same work.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over when updates take effect — everything is recalculated live, every 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42519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2121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Different Timing Needs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also need updates on different timelines — some right away, others only once a policy change takes effect.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policy transaction can carry two kinds of features: some immediate (transaction counts), some future-dated (a coverage change effective next month).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store has to route each piece correctly, without corrupting the other.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On-Demand to Pre-Computed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policy changes as they happen and prepare the data models need once, not on every request. Each update is applied right away or held until its effective date — whichever the model needs.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397764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· ON-DEMAND PATTERN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22860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286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160–1000 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444752" cy="960120"/>
          </a:xfrm>
          <a:prstGeom prst="rect">
            <a:avLst/>
          </a:prstGeom>
          <a:solidFill>
            <a:srgbClr val="808A94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06324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of truth)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76856" y="324612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23744" y="3063240"/>
            <a:ext cx="1444752" cy="960120"/>
          </a:xfrm>
          <a:prstGeom prst="rect">
            <a:avLst/>
          </a:prstGeom>
          <a:solidFill>
            <a:srgbClr val="808A9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306324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(recalculated every time)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77640" y="324612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4528" y="3063240"/>
            <a:ext cx="1444752" cy="960120"/>
          </a:xfrm>
          <a:prstGeom prst="rect">
            <a:avLst/>
          </a:prstGeom>
          <a:solidFill>
            <a:srgbClr val="808A94"/>
          </a:solidFill>
          <a:ln/>
        </p:spPr>
      </p:sp>
      <p:sp>
        <p:nvSpPr>
          <p:cNvPr id="16" name="Text 14"/>
          <p:cNvSpPr/>
          <p:nvPr/>
        </p:nvSpPr>
        <p:spPr>
          <a:xfrm>
            <a:off x="4261104" y="306324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(waits on every request)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repeats the same work.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repetitive → no control over when updates take effect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148840"/>
            <a:ext cx="5440680" cy="3977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ONLINE FEATURE STORE PIPELINE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195560" y="22860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FA97D"/>
          </a:solidFill>
          <a:ln/>
        </p:spPr>
      </p:sp>
      <p:sp>
        <p:nvSpPr>
          <p:cNvPr id="22" name="Text 20"/>
          <p:cNvSpPr/>
          <p:nvPr/>
        </p:nvSpPr>
        <p:spPr>
          <a:xfrm>
            <a:off x="10195560" y="2286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15–75 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108960"/>
            <a:ext cx="861365" cy="1143000"/>
          </a:xfrm>
          <a:prstGeom prst="rect">
            <a:avLst/>
          </a:prstGeom>
          <a:solidFill>
            <a:srgbClr val="2B356E"/>
          </a:solidFill>
          <a:ln/>
        </p:spPr>
      </p:sp>
      <p:sp>
        <p:nvSpPr>
          <p:cNvPr id="24" name="Text 22"/>
          <p:cNvSpPr/>
          <p:nvPr/>
        </p:nvSpPr>
        <p:spPr>
          <a:xfrm>
            <a:off x="6510528" y="3108960"/>
            <a:ext cx="82478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they happen)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53605" y="333756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9909" y="3108960"/>
            <a:ext cx="861365" cy="1143000"/>
          </a:xfrm>
          <a:prstGeom prst="rect">
            <a:avLst/>
          </a:prstGeom>
          <a:solidFill>
            <a:srgbClr val="2B356E"/>
          </a:solidFill>
          <a:ln/>
        </p:spPr>
      </p:sp>
      <p:sp>
        <p:nvSpPr>
          <p:cNvPr id="27" name="Text 25"/>
          <p:cNvSpPr/>
          <p:nvPr/>
        </p:nvSpPr>
        <p:spPr>
          <a:xfrm>
            <a:off x="7518197" y="3108960"/>
            <a:ext cx="82478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per request)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61274" y="333756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7578" y="3108960"/>
            <a:ext cx="861365" cy="1143000"/>
          </a:xfrm>
          <a:prstGeom prst="rect">
            <a:avLst/>
          </a:prstGeom>
          <a:solidFill>
            <a:srgbClr val="2B356E"/>
          </a:solidFill>
          <a:ln/>
        </p:spPr>
      </p:sp>
      <p:sp>
        <p:nvSpPr>
          <p:cNvPr id="30" name="Text 28"/>
          <p:cNvSpPr/>
          <p:nvPr/>
        </p:nvSpPr>
        <p:spPr>
          <a:xfrm>
            <a:off x="8525866" y="3108960"/>
            <a:ext cx="82478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Control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 or effective date)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368942" y="333756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15246" y="3108960"/>
            <a:ext cx="861365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9533534" y="3108960"/>
            <a:ext cx="82478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(up to date)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376611" y="333756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522915" y="3108960"/>
            <a:ext cx="861365" cy="1143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41203" y="3108960"/>
            <a:ext cx="82478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(instant lookup)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92240" y="4526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Features/data pre-computed once, versioned by effective date.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10× faster · computed once, available always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514600" cy="1051560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4414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landing zone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35808" y="21488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51460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4414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ingest → RAW_POLICY_EVENTS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16168" y="21488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251460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Compute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4414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COMPUTED_FEATURE_EVENTS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96528" y="21488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1874520"/>
            <a:ext cx="2514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(05)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24414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Registry-driven, per feature group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02920" y="3429000"/>
            <a:ext cx="5394960" cy="26517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429000"/>
            <a:ext cx="54864" cy="26517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47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Immediate Routing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858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merges into ACTIVE right away, regardless of effective date. Old IS_CURRENT history row closed, then re-snapshotted.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349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daily (07) since txn_cnt/tenure drift on wall-clock time, even with zero new transactions.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429000"/>
            <a:ext cx="5394960" cy="26517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3429000"/>
            <a:ext cx="54864" cy="2651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547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— Effective-Date Routing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858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eff_dt ≤ now → MERGE to ACTIVE now. eff_dt &gt; now → INSERT to PENDING, held for later.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4389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hourly (06) once EFFECTIVE_DATE arrives — deduped, merged into ACTIVE, snapshotted to HISTORY, then removed from PENDING.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5349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AUTO_FEATURES_ACTIVE (CDF)  +  AUTO_FEATURES_HISTORY (SCD2)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66160" y="6263640"/>
            <a:ext cx="5029200" cy="914"/>
          </a:xfrm>
          <a:prstGeom prst="rect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502920" y="61996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publish_table()  →  Lakebase Online Store (Postgres)  →  Feature Serving Endpoint  →  ~15 ms REST lookup by AUTO_POLICY_ID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FEATURE STORE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Features, Two Groups, Three Calculation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2044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Feature Store · 5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TXN_CNT_1D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9809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TXN_CNT_1W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TXN_CNT_1M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6393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OUTSTANDING_TXN_IND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9684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TENURE_YRS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370832"/>
            <a:ext cx="2971800" cy="0"/>
          </a:xfrm>
          <a:prstGeom prst="line">
            <a:avLst/>
          </a:prstGeom>
          <a:noFill/>
          <a:ln w="12700">
            <a:solidFill>
              <a:srgbClr val="3A45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26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driven by wall-clock time (current_timestamp()), not events — recomputed against full RAW_POLICY_EVENTS history every day.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737360"/>
            <a:ext cx="7543800" cy="42976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2212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Driver / Coverage Feature Store · 24 features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34840" y="2633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VEH_CNT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0" y="32095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AVG_VEH_AGE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VEH_ADDED_LATEST_TXN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37764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DRVR_CNT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4059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MAX_DRVR_AGE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4343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MIN_DRVR_AGE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46268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AVG_DRVR_AGE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49103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DRVRS_ADDED_LATEST_TXN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0372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PREM_CHANGE_AMT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BI/PD/MD_COVERAGE_ADDED/REMOVED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COLL/COMP/PIP_COVERAGE_ADDED/REMOVED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(12 coverage columns total)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09760" y="2633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Indicators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55480" y="2926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COMP_DED_CHANGE_IND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55480" y="3209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GNDR_CHANGE_IND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55480" y="3493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MRTL_CHANGE_IND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4526280"/>
            <a:ext cx="69951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4645152"/>
            <a:ext cx="6995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two calculation patterns, both in PySpark (explode / groupBy / window lag()) — no row-by-row parsing: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26280" y="4956048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explode the latest transaction's vehicle/driver/coverage arrays and aggregate (counts, averages, min/max).
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— window lag() over SRC_TRANS_TMSP compares latest vs. previous transaction; match key = (vin, cvg_typ_cd) for coverage, drvr_id_sk for drivers. Only BI/PD/MD/COLL/COMP/PIP categories feed the added/removed flags.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Transaction Flow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44168" y="19202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3017520"/>
            <a:ext cx="1993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test transaction JSON into the incoming_json volume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42616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38728" y="19202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60604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16352" y="3017520"/>
            <a:ext cx="1993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 ingests it into RAW_POLICY_EVENTS (Bronze)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37176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33288" y="19202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73328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10912" y="3017520"/>
            <a:ext cx="1993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recomputes GROUP_A/B features → COMPUTED_FEATURE_EVENTS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31736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27848" y="19202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792784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260604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05472" y="3017520"/>
            <a:ext cx="1993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Registry-driven routing → ACTIVE / PENDING + HISTORY snapshot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26296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22408" y="1920240"/>
            <a:ext cx="548640" cy="548640"/>
          </a:xfrm>
          <a:prstGeom prst="ellipse">
            <a:avLst/>
          </a:prstGeom>
          <a:solidFill>
            <a:srgbClr val="1FA97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2240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26880" y="260604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00032" y="3017520"/>
            <a:ext cx="1993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Feature Serving Endpoint → all 29 features in ~15 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64240" cy="1417320"/>
          </a:xfrm>
          <a:prstGeom prst="rect">
            <a:avLst/>
          </a:prstGeom>
          <a:solidFill>
            <a:srgbClr val="141B4D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look at live: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publish_test_json → 03 → 04 → 05 notebooks running against policy 503203043
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AUTO_FEATURES_ACTIVE / HISTORY updating in real time, and the Feature Serving Endpoint returning the refreshed values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Handing This Off to the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ingestion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874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schema evolution handling and richer DLQ alerting for malformed transaction JSON.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8152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815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 groups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additional feature groups beyond GROUP_A/B via the same registry pattern — no pipeline changes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9326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7880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788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069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freshness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069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SLA dashboards on ACTIVE/PENDING lag and daily GROUP_A drift.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2760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760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166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online serving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51663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the Feature Serving Endpoint and tune the online store for production traffic.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Real-World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navigate ambiguity and think critically when things didn't go as planned — especially around SCD2 edge cases like the negative-validity-window bug.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19659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783080"/>
            <a:ext cx="54864" cy="1965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476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questions and seeking guidance from my advisor and team helped build clarity and confidence.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19659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23360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879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 Development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with PySpark structured streaming, Delta CDF, SCD2 modeling, and Databricks Feature Engineering / Lakebase.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349240" cy="19659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4023360"/>
            <a:ext cx="54864" cy="1965960"/>
          </a:xfrm>
          <a:prstGeom prst="rect">
            <a:avLst/>
          </a:prstGeom>
          <a:solidFill>
            <a:srgbClr val="1FA97D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1879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Strategic Understanding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7091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pipeline design choices — event-driven routing, registry-driven column ownership — to real business needs around ML serving latency.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114800"/>
            <a:ext cx="2926080" cy="2926080"/>
          </a:xfrm>
          <a:prstGeom prst="ellipse">
            <a:avLst/>
          </a:prstGeom>
          <a:solidFill>
            <a:srgbClr val="232C63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4709160"/>
            <a:ext cx="1737360" cy="1737360"/>
          </a:xfrm>
          <a:prstGeom prst="ellipse">
            <a:avLst/>
          </a:prstGeom>
          <a:solidFill>
            <a:srgbClr val="2B356E"/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52578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happy to dig into any part of the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2743200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Snehal Dhage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 Intern · snehal.dhage@farmersinsurance.com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  |  Internal Use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2026-08-02T19:30:15Z</dcterms:created>
  <dcterms:modified xsi:type="dcterms:W3CDTF">2026-08-02T19:30:15Z</dcterms:modified>
</cp:coreProperties>
</file>