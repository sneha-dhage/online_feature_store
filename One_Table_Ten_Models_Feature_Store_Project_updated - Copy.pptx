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7" d="100"/>
          <a:sy n="87" d="100"/>
        </p:scale>
        <p:origin x="384"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_Sneha _" userId="8bed0b989fa08156" providerId="LiveId" clId="{A3C9F93C-D62B-4C99-9158-0016F787760E}"/>
    <pc:docChg chg="undo custSel modSld">
      <pc:chgData name="_Sneha _" userId="8bed0b989fa08156" providerId="LiveId" clId="{A3C9F93C-D62B-4C99-9158-0016F787760E}" dt="2026-08-04T02:15:26.855" v="3" actId="1076"/>
      <pc:docMkLst>
        <pc:docMk/>
      </pc:docMkLst>
      <pc:sldChg chg="modSp mod">
        <pc:chgData name="_Sneha _" userId="8bed0b989fa08156" providerId="LiveId" clId="{A3C9F93C-D62B-4C99-9158-0016F787760E}" dt="2026-08-04T02:15:26.855" v="3" actId="1076"/>
        <pc:sldMkLst>
          <pc:docMk/>
          <pc:sldMk cId="0" sldId="259"/>
        </pc:sldMkLst>
        <pc:spChg chg="mod">
          <ac:chgData name="_Sneha _" userId="8bed0b989fa08156" providerId="LiveId" clId="{A3C9F93C-D62B-4C99-9158-0016F787760E}" dt="2026-08-04T02:15:26.112" v="2" actId="1076"/>
          <ac:spMkLst>
            <pc:docMk/>
            <pc:sldMk cId="0" sldId="259"/>
            <ac:spMk id="8" creationId="{00000000-0000-0000-0000-000000000000}"/>
          </ac:spMkLst>
        </pc:spChg>
        <pc:spChg chg="mod">
          <ac:chgData name="_Sneha _" userId="8bed0b989fa08156" providerId="LiveId" clId="{A3C9F93C-D62B-4C99-9158-0016F787760E}" dt="2026-08-04T02:15:26.855" v="3" actId="1076"/>
          <ac:spMkLst>
            <pc:docMk/>
            <pc:sldMk cId="0" sldId="259"/>
            <ac:spMk id="1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7978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 this is a review of the time-aware online feature store built for auto insurance policy models: one active table, computed once, serving multiple models. Introduce yourself and hand off to the agenda.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stops: the background and problem statement, the solution and what an online feature store actually is, a concrete walkthrough of the implementation and its business impact, a live demo followed by the architecture, results and roadmap, and a short personal reflection to close.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things are true today. Every model recalculates the same policy features on its own, so there's duplicated logic and no guarantee two models agree. Because features are only computed at request time, there's no record of what a model actually saw — that makes debugging and audit hard. Some policy changes are known today but shouldn't take effect until later, and most on-demand approaches don't separate "received" from "effective." And historical feature states — what did we know, when — aren't preserved at all in a pure request-time approach. That's the gap this project closes.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the basics, because not everyone in the room lives in this system every day. Policy systems like GWPC — Guidewire PolicyCenter — don't run machine learning models themselves. There's a separate, external Model Hosting Platform that does. JSON is the data contract passed back and forth between them. Today, literally all of the data transformation a model needs happens on that hosting platform, in real time, for every single request. Once that clicks, the next question writes itself: what if some of that data were already derived ahead of time at the customer level, instead of computed fresh on every call? That's the seed of this whole project.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patterns, side by side. Today, for a brand-new customer getting a quote, there's no history to lean on — every feature has to be derived right now, in about 100 milliseconds round trip, and that's the pattern most of the industry — including us — has focused on. But for existing customers, the picture is different, the same way Uber already has data on a rider before they open the app. This project is about how far we can push that second pattern.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picture to hold onto for the rest of the talk: one row per policy, maybe a hundred features and ten model scores, always kept current. Different features need different refresh cadences — some weekly, some daily, some closer to real time — and we want one pattern flexible enough to cover today's needs and tomorrow's. One more distinction worth naming: a real-time feature store computes on request; an online feature store pre-computes and just looks values up. We're building the online kind.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this as one continuous story for a single fictional policy, POLICY-1001. New business establishes the baseline — two vehicles, two drivers. Endorsement 1 adds a third vehicle, which the lag-based comparison against the previous transaction picks up as VEH_ADDED_LATEST_TXN. Endorsement 2 adds comprehensive coverage. A year later, renewal doesn't change any vehicles or drivers, but tenure ticks up and the transaction counts reflect the new activity. Every one of these four events — regardless of type — updates the exact same active row for this policy, because the pipeline always re-reads the full history and recomputes from there. And every update is also snapshotted to history, so the full timeline is preserved for audit. One record per policy, always current, fully traceable.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pattern we built isn't insurance-specific — precompute once, serve everywhere is the standard approach behind recommendation systems in e-commerce and streaming, fraud and risk scoring in payments, and personalization and pricing in retail and travel. It's the same shape as our own retention and underwriting use case: one governed feature set, computed once, reused by every model. The business impact is the same wherever it's applied — faster decisions, consistent signals across models, and a lot less duplicated engineering effort.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walkthrough: publish a test transaction, run the notebooks in order, inspect the Active/Pending/History state with the feature-store viewer utility, then query the Feature Serving Endpoint directly by policy ID and read back the latency.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stages, left to right. A policy transaction lands as a JSON file. PySpark derives policy features from it. The registry decides immediate versus effective-date routing for each feature group. The online feature store's active table syncs to Lakebase. And an endpoint serves it all, looked up by policy ID or number.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full pipeline: Auto Loader lands transaction JSON into Bronze, Change Data Feed triggers PySpark feature computation into Silver, and Change Data Feed on Silver triggers registry-driven routing. Routing fans out to three tables — Active for serving, Pending for future-dated GROUP_B changes, and History for SCD Type 2 snapshots. An hourly job promotes due Pending rows into Active, and a daily job refreshes GROUP_A because those features drift on wall-clock time alone. From there, Active publishes to the Lakebase online store for fast policy-ID lookup.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29 features in two groups. GROUP A — five features — is driven by wall-clock time, not events, so it's recomputed against the full transaction history every day. GROUP B — 24 features — splits into three families: snapshot values, coverage lag comparisons including the 12 added/removed coverage columns, and three demographic and deductible change indicators. All of it computed once, in PySpark, and reused by every model.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registry is what keeps this from turning into hardcoded column lists scattered everywhere. FEATURE_GROUP_REGISTRY stores which columns each group owns, its routing type, and which column drives its effective time — read fresh every micro-batch. History is also closed exactly once per event using the earliest effective date touched — that's what prevents a negative or overlapping validity window. And tying back to POLICY-1001: if that next endorsement had been dated for next month instead of today, this exact table is what would have sent it to Pending instead of Active.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29 features computed centrally, roughly 130 milliseconds observed lookup latency, exactly one active row per policy, and explicit support for three time states. The benefits that follow: no per-model recalculation, consistent definitions across models, full traceability through history, and a layer that scales to more models and feature groups. The latency figure is an observed test result, not a committed SLA.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Plotting the same six risks by impact and likelihood instead of a flat list. Temporal routing and history-window correctness sit in the low-likelihood corner because they're structurally prevented by the table design and routing logic in code. Feature drift, malformed events, and online serving availability are operationally controlled — handled by scheduled jobs and checks, not eliminated outright. Large-policy history recomputation sits furthest right — it's the one open engineering consideration without a mitigation in place yet, just a clear direction for future optimization. To be clear, these positions are engineering judgment, not measured incident data.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Near term hardens what exists — validation, monitoring, latency percentiles, and routing tests. Medium term extends the platform to more feature groups and models. Long term is about scope — more product lines, point-in-time training sets, and formal governance. Close on the platform's purpose: the right feature value, to every model, at the right time.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Reflection on the internship, not just the pipeline. Adapting to real-world ambiguity, learning through feedback and mentorship, building hands-on skill with Databricks, PySpark, and Snowflake. Two more worth calling out: learning to treat time itself as a design dimension — transaction time versus effective time, past versus present versus future — and learning to translate technical work into a story that lands with both technical and non-technical audiences, which is exactly the exercise that reshaped the front half of this deck.</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the mentors and teammates who supported this project, then open the floor for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DDEC"/>
        </a:solidFill>
        <a:effectLst/>
      </p:bgPr>
    </p:bg>
    <p:spTree>
      <p:nvGrpSpPr>
        <p:cNvPr id="1" name=""/>
        <p:cNvGrpSpPr/>
        <p:nvPr/>
      </p:nvGrpSpPr>
      <p:grpSpPr>
        <a:xfrm>
          <a:off x="0" y="0"/>
          <a:ext cx="0" cy="0"/>
          <a:chOff x="0" y="0"/>
          <a:chExt cx="0" cy="0"/>
        </a:xfrm>
      </p:grpSpPr>
      <p:sp>
        <p:nvSpPr>
          <p:cNvPr id="2" name="Block Arc 1"/>
          <p:cNvSpPr/>
          <p:nvPr/>
        </p:nvSpPr>
        <p:spPr>
          <a:xfrm>
            <a:off x="9646920" y="566928"/>
            <a:ext cx="457200" cy="420624"/>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195560" y="530352"/>
            <a:ext cx="1737360" cy="365760"/>
          </a:xfrm>
          <a:prstGeom prst="rect">
            <a:avLst/>
          </a:prstGeom>
          <a:noFill/>
        </p:spPr>
        <p:txBody>
          <a:bodyPr wrap="square" lIns="0" tIns="0" rIns="0" bIns="0" anchor="t">
            <a:spAutoFit/>
          </a:bodyPr>
          <a:lstStyle/>
          <a:p>
            <a:pPr algn="l">
              <a:lnSpc>
                <a:spcPct val="100000"/>
              </a:lnSpc>
            </a:pPr>
            <a:r>
              <a:rPr sz="1700" b="1" i="0">
                <a:solidFill>
                  <a:srgbClr val="14255C"/>
                </a:solidFill>
                <a:latin typeface="Calibri"/>
              </a:rPr>
              <a:t>FARMERS</a:t>
            </a:r>
          </a:p>
        </p:txBody>
      </p:sp>
      <p:sp>
        <p:nvSpPr>
          <p:cNvPr id="4" name="TextBox 3"/>
          <p:cNvSpPr txBox="1"/>
          <p:nvPr/>
        </p:nvSpPr>
        <p:spPr>
          <a:xfrm>
            <a:off x="10195560" y="896112"/>
            <a:ext cx="1737360" cy="274320"/>
          </a:xfrm>
          <a:prstGeom prst="rect">
            <a:avLst/>
          </a:prstGeom>
          <a:noFill/>
        </p:spPr>
        <p:txBody>
          <a:bodyPr wrap="square" lIns="0" tIns="0" rIns="0" bIns="0" anchor="t">
            <a:spAutoFit/>
          </a:bodyPr>
          <a:lstStyle/>
          <a:p>
            <a:pPr algn="l">
              <a:lnSpc>
                <a:spcPct val="100000"/>
              </a:lnSpc>
            </a:pPr>
            <a:r>
              <a:rPr sz="1000" b="1" i="0">
                <a:solidFill>
                  <a:srgbClr val="7C8493"/>
                </a:solidFill>
                <a:latin typeface="Calibri"/>
              </a:rPr>
              <a:t>INSURANCE</a:t>
            </a:r>
          </a:p>
        </p:txBody>
      </p:sp>
      <p:sp>
        <p:nvSpPr>
          <p:cNvPr id="5" name="TextBox 4"/>
          <p:cNvSpPr txBox="1"/>
          <p:nvPr/>
        </p:nvSpPr>
        <p:spPr>
          <a:xfrm>
            <a:off x="914400" y="1965960"/>
            <a:ext cx="9875520" cy="1371600"/>
          </a:xfrm>
          <a:prstGeom prst="rect">
            <a:avLst/>
          </a:prstGeom>
          <a:noFill/>
        </p:spPr>
        <p:txBody>
          <a:bodyPr wrap="square" lIns="0" tIns="0" rIns="0" bIns="0" anchor="t">
            <a:spAutoFit/>
          </a:bodyPr>
          <a:lstStyle/>
          <a:p>
            <a:pPr algn="l">
              <a:lnSpc>
                <a:spcPct val="110000"/>
              </a:lnSpc>
            </a:pPr>
            <a:r>
              <a:rPr sz="3000" b="1" i="0">
                <a:solidFill>
                  <a:srgbClr val="14255C"/>
                </a:solidFill>
                <a:latin typeface="Calibri"/>
              </a:rPr>
              <a:t>One Table, Ten Models:</a:t>
            </a:r>
          </a:p>
          <a:p>
            <a:pPr algn="l">
              <a:lnSpc>
                <a:spcPct val="110000"/>
              </a:lnSpc>
            </a:pPr>
            <a:r>
              <a:rPr sz="3000" b="1" i="0">
                <a:solidFill>
                  <a:srgbClr val="14255C"/>
                </a:solidFill>
                <a:latin typeface="Calibri"/>
              </a:rPr>
              <a:t>Efficient Feature Serving for Today and Tomorrow</a:t>
            </a:r>
          </a:p>
        </p:txBody>
      </p:sp>
      <p:sp>
        <p:nvSpPr>
          <p:cNvPr id="6" name="TextBox 5"/>
          <p:cNvSpPr txBox="1"/>
          <p:nvPr/>
        </p:nvSpPr>
        <p:spPr>
          <a:xfrm>
            <a:off x="914400" y="3364992"/>
            <a:ext cx="9601200" cy="365760"/>
          </a:xfrm>
          <a:prstGeom prst="rect">
            <a:avLst/>
          </a:prstGeom>
          <a:noFill/>
        </p:spPr>
        <p:txBody>
          <a:bodyPr wrap="square" lIns="0" tIns="0" rIns="0" bIns="0" anchor="t">
            <a:spAutoFit/>
          </a:bodyPr>
          <a:lstStyle/>
          <a:p>
            <a:pPr algn="l">
              <a:lnSpc>
                <a:spcPct val="100000"/>
              </a:lnSpc>
            </a:pPr>
            <a:r>
              <a:rPr sz="1450" b="0" i="1">
                <a:solidFill>
                  <a:srgbClr val="B8872E"/>
                </a:solidFill>
                <a:latin typeface="Calibri"/>
              </a:rPr>
              <a:t>A centralized, time-aware feature store for auto insurance policy models</a:t>
            </a:r>
          </a:p>
        </p:txBody>
      </p:sp>
      <p:cxnSp>
        <p:nvCxnSpPr>
          <p:cNvPr id="7" name="Connector 6"/>
          <p:cNvCxnSpPr/>
          <p:nvPr/>
        </p:nvCxnSpPr>
        <p:spPr>
          <a:xfrm>
            <a:off x="914400" y="3977639"/>
            <a:ext cx="10332720"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4160520"/>
            <a:ext cx="2743200" cy="365760"/>
          </a:xfrm>
          <a:prstGeom prst="rect">
            <a:avLst/>
          </a:prstGeom>
          <a:noFill/>
        </p:spPr>
        <p:txBody>
          <a:bodyPr wrap="square" lIns="0" tIns="0" rIns="0" bIns="0" anchor="t">
            <a:spAutoFit/>
          </a:bodyPr>
          <a:lstStyle/>
          <a:p>
            <a:pPr algn="l">
              <a:lnSpc>
                <a:spcPct val="100000"/>
              </a:lnSpc>
            </a:pPr>
            <a:r>
              <a:rPr sz="1400" b="1" i="0">
                <a:solidFill>
                  <a:srgbClr val="14255C"/>
                </a:solidFill>
                <a:latin typeface="Calibri"/>
              </a:rPr>
              <a:t>August 2026</a:t>
            </a:r>
          </a:p>
        </p:txBody>
      </p:sp>
      <p:sp>
        <p:nvSpPr>
          <p:cNvPr id="9" name="TextBox 8"/>
          <p:cNvSpPr txBox="1"/>
          <p:nvPr/>
        </p:nvSpPr>
        <p:spPr>
          <a:xfrm>
            <a:off x="3749039" y="4160520"/>
            <a:ext cx="3657600" cy="365760"/>
          </a:xfrm>
          <a:prstGeom prst="rect">
            <a:avLst/>
          </a:prstGeom>
          <a:noFill/>
        </p:spPr>
        <p:txBody>
          <a:bodyPr wrap="square" lIns="0" tIns="0" rIns="0" bIns="0" anchor="t">
            <a:spAutoFit/>
          </a:bodyPr>
          <a:lstStyle/>
          <a:p>
            <a:pPr algn="l">
              <a:lnSpc>
                <a:spcPct val="100000"/>
              </a:lnSpc>
            </a:pPr>
            <a:r>
              <a:rPr sz="1400" b="1" i="0">
                <a:solidFill>
                  <a:srgbClr val="14255C"/>
                </a:solidFill>
                <a:latin typeface="Calibri"/>
              </a:rPr>
              <a:t>Snehal Dhage</a:t>
            </a:r>
          </a:p>
        </p:txBody>
      </p:sp>
      <p:sp>
        <p:nvSpPr>
          <p:cNvPr id="10" name="Rounded Rectangle 9"/>
          <p:cNvSpPr/>
          <p:nvPr/>
        </p:nvSpPr>
        <p:spPr>
          <a:xfrm>
            <a:off x="914400" y="4892040"/>
            <a:ext cx="1645920" cy="329184"/>
          </a:xfrm>
          <a:prstGeom prst="roundRect">
            <a:avLst>
              <a:gd name="adj" fmla="val 5000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892040"/>
            <a:ext cx="1645920" cy="329184"/>
          </a:xfrm>
          <a:prstGeom prst="rect">
            <a:avLst/>
          </a:prstGeom>
          <a:noFill/>
        </p:spPr>
        <p:txBody>
          <a:bodyPr wrap="square" lIns="0" tIns="0" rIns="0" bIns="0" anchor="ctr">
            <a:spAutoFit/>
          </a:bodyPr>
          <a:lstStyle/>
          <a:p>
            <a:pPr algn="ctr">
              <a:lnSpc>
                <a:spcPct val="100000"/>
              </a:lnSpc>
            </a:pPr>
            <a:r>
              <a:rPr sz="1050" b="1" i="0">
                <a:solidFill>
                  <a:srgbClr val="FFFFFF"/>
                </a:solidFill>
                <a:latin typeface="Calibri"/>
              </a:rPr>
              <a:t>Databricks</a:t>
            </a:r>
          </a:p>
        </p:txBody>
      </p:sp>
      <p:sp>
        <p:nvSpPr>
          <p:cNvPr id="12" name="Rounded Rectangle 11"/>
          <p:cNvSpPr/>
          <p:nvPr/>
        </p:nvSpPr>
        <p:spPr>
          <a:xfrm>
            <a:off x="2724912" y="4892040"/>
            <a:ext cx="1261872" cy="329184"/>
          </a:xfrm>
          <a:prstGeom prst="roundRect">
            <a:avLst>
              <a:gd name="adj" fmla="val 5000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24912" y="4892040"/>
            <a:ext cx="1261872" cy="329184"/>
          </a:xfrm>
          <a:prstGeom prst="rect">
            <a:avLst/>
          </a:prstGeom>
          <a:noFill/>
        </p:spPr>
        <p:txBody>
          <a:bodyPr wrap="square" lIns="0" tIns="0" rIns="0" bIns="0" anchor="ctr">
            <a:spAutoFit/>
          </a:bodyPr>
          <a:lstStyle/>
          <a:p>
            <a:pPr algn="ctr">
              <a:lnSpc>
                <a:spcPct val="100000"/>
              </a:lnSpc>
            </a:pPr>
            <a:r>
              <a:rPr sz="1050" b="1" i="0">
                <a:solidFill>
                  <a:srgbClr val="FFFFFF"/>
                </a:solidFill>
                <a:latin typeface="Calibri"/>
              </a:rPr>
              <a:t>PySpark</a:t>
            </a:r>
          </a:p>
        </p:txBody>
      </p:sp>
      <p:sp>
        <p:nvSpPr>
          <p:cNvPr id="14" name="Rounded Rectangle 13"/>
          <p:cNvSpPr/>
          <p:nvPr/>
        </p:nvSpPr>
        <p:spPr>
          <a:xfrm>
            <a:off x="4151376" y="4892040"/>
            <a:ext cx="2157984" cy="329184"/>
          </a:xfrm>
          <a:prstGeom prst="roundRect">
            <a:avLst>
              <a:gd name="adj" fmla="val 5000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51376" y="4892040"/>
            <a:ext cx="2157984" cy="329184"/>
          </a:xfrm>
          <a:prstGeom prst="rect">
            <a:avLst/>
          </a:prstGeom>
          <a:noFill/>
        </p:spPr>
        <p:txBody>
          <a:bodyPr wrap="square" lIns="0" tIns="0" rIns="0" bIns="0" anchor="ctr">
            <a:spAutoFit/>
          </a:bodyPr>
          <a:lstStyle/>
          <a:p>
            <a:pPr algn="ctr">
              <a:lnSpc>
                <a:spcPct val="100000"/>
              </a:lnSpc>
            </a:pPr>
            <a:r>
              <a:rPr sz="1050" b="1" i="0">
                <a:solidFill>
                  <a:srgbClr val="FFFFFF"/>
                </a:solidFill>
                <a:latin typeface="Calibri"/>
              </a:rPr>
              <a:t>Delta Lake CDF</a:t>
            </a:r>
          </a:p>
        </p:txBody>
      </p:sp>
      <p:sp>
        <p:nvSpPr>
          <p:cNvPr id="16" name="Rounded Rectangle 15"/>
          <p:cNvSpPr/>
          <p:nvPr/>
        </p:nvSpPr>
        <p:spPr>
          <a:xfrm>
            <a:off x="6473952" y="4892040"/>
            <a:ext cx="1389888" cy="329184"/>
          </a:xfrm>
          <a:prstGeom prst="roundRect">
            <a:avLst>
              <a:gd name="adj" fmla="val 5000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73952" y="4892040"/>
            <a:ext cx="1389888" cy="329184"/>
          </a:xfrm>
          <a:prstGeom prst="rect">
            <a:avLst/>
          </a:prstGeom>
          <a:noFill/>
        </p:spPr>
        <p:txBody>
          <a:bodyPr wrap="square" lIns="0" tIns="0" rIns="0" bIns="0" anchor="ctr">
            <a:spAutoFit/>
          </a:bodyPr>
          <a:lstStyle/>
          <a:p>
            <a:pPr algn="ctr">
              <a:lnSpc>
                <a:spcPct val="100000"/>
              </a:lnSpc>
            </a:pPr>
            <a:r>
              <a:rPr sz="1050" b="1" i="0">
                <a:solidFill>
                  <a:srgbClr val="FFFFFF"/>
                </a:solidFill>
                <a:latin typeface="Calibri"/>
              </a:rPr>
              <a:t>Lakebase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438912"/>
            <a:ext cx="10515600" cy="594360"/>
          </a:xfrm>
          <a:prstGeom prst="rect">
            <a:avLst/>
          </a:prstGeom>
          <a:noFill/>
        </p:spPr>
        <p:txBody>
          <a:bodyPr wrap="square" lIns="0" tIns="0" rIns="0" bIns="0" anchor="t">
            <a:spAutoFit/>
          </a:bodyPr>
          <a:lstStyle/>
          <a:p>
            <a:pPr algn="l">
              <a:lnSpc>
                <a:spcPct val="100000"/>
              </a:lnSpc>
            </a:pPr>
            <a:r>
              <a:rPr sz="2600" b="1" i="0">
                <a:solidFill>
                  <a:srgbClr val="14255C"/>
                </a:solidFill>
                <a:latin typeface="Calibri"/>
              </a:rPr>
              <a:t>Agenda</a:t>
            </a:r>
          </a:p>
        </p:txBody>
      </p:sp>
      <p:cxnSp>
        <p:nvCxnSpPr>
          <p:cNvPr id="3" name="Connector 2"/>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4" name="Chevron 3"/>
          <p:cNvSpPr/>
          <p:nvPr/>
        </p:nvSpPr>
        <p:spPr>
          <a:xfrm>
            <a:off x="655167" y="2743200"/>
            <a:ext cx="1813560" cy="1508760"/>
          </a:xfrm>
          <a:prstGeom prst="chevron">
            <a:avLst/>
          </a:prstGeom>
          <a:solidFill>
            <a:srgbClr val="1425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18288" rtlCol="0" anchor="ctr"/>
          <a:lstStyle/>
          <a:p>
            <a:pPr algn="ctr"/>
            <a:r>
              <a:rPr sz="1250" b="1">
                <a:solidFill>
                  <a:srgbClr val="FFFFFF"/>
                </a:solidFill>
                <a:latin typeface="Calibri"/>
              </a:rPr>
              <a:t>Background
&amp; Problem</a:t>
            </a:r>
          </a:p>
        </p:txBody>
      </p:sp>
      <p:sp>
        <p:nvSpPr>
          <p:cNvPr id="5" name="Chevron 4"/>
          <p:cNvSpPr/>
          <p:nvPr/>
        </p:nvSpPr>
        <p:spPr>
          <a:xfrm>
            <a:off x="2468727" y="2743200"/>
            <a:ext cx="2051303" cy="1508760"/>
          </a:xfrm>
          <a:prstGeom prst="chevron">
            <a:avLst/>
          </a:prstGeom>
          <a:solidFill>
            <a:srgbClr val="0D1B4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109728" rtlCol="0" anchor="ctr"/>
          <a:lstStyle/>
          <a:p>
            <a:pPr algn="ctr"/>
            <a:r>
              <a:rPr sz="1250" b="1">
                <a:solidFill>
                  <a:srgbClr val="FFFFFF"/>
                </a:solidFill>
                <a:latin typeface="Calibri"/>
              </a:rPr>
              <a:t>The Solution:
Feature Store</a:t>
            </a:r>
          </a:p>
        </p:txBody>
      </p:sp>
      <p:sp>
        <p:nvSpPr>
          <p:cNvPr id="6" name="Chevron 5"/>
          <p:cNvSpPr/>
          <p:nvPr/>
        </p:nvSpPr>
        <p:spPr>
          <a:xfrm>
            <a:off x="4282287" y="2743200"/>
            <a:ext cx="2051303" cy="1508760"/>
          </a:xfrm>
          <a:prstGeom prst="chevron">
            <a:avLst/>
          </a:prstGeom>
          <a:solidFill>
            <a:srgbClr val="1425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109728" rtlCol="0" anchor="ctr"/>
          <a:lstStyle/>
          <a:p>
            <a:pPr algn="ctr"/>
            <a:r>
              <a:rPr sz="1250" b="1">
                <a:solidFill>
                  <a:srgbClr val="FFFFFF"/>
                </a:solidFill>
                <a:latin typeface="Calibri"/>
              </a:rPr>
              <a:t>Implementation
&amp; Impact</a:t>
            </a:r>
          </a:p>
        </p:txBody>
      </p:sp>
      <p:sp>
        <p:nvSpPr>
          <p:cNvPr id="7" name="Chevron 6"/>
          <p:cNvSpPr/>
          <p:nvPr/>
        </p:nvSpPr>
        <p:spPr>
          <a:xfrm>
            <a:off x="6095847" y="2743200"/>
            <a:ext cx="2051303" cy="1508760"/>
          </a:xfrm>
          <a:prstGeom prst="chevron">
            <a:avLst/>
          </a:prstGeom>
          <a:solidFill>
            <a:srgbClr val="0D1B4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109728" rtlCol="0" anchor="ctr"/>
          <a:lstStyle/>
          <a:p>
            <a:pPr algn="ctr"/>
            <a:r>
              <a:rPr sz="1250" b="1">
                <a:solidFill>
                  <a:srgbClr val="FFFFFF"/>
                </a:solidFill>
                <a:latin typeface="Calibri"/>
              </a:rPr>
              <a:t>Demo &amp;
Architecture</a:t>
            </a:r>
          </a:p>
        </p:txBody>
      </p:sp>
      <p:sp>
        <p:nvSpPr>
          <p:cNvPr id="8" name="Chevron 7"/>
          <p:cNvSpPr/>
          <p:nvPr/>
        </p:nvSpPr>
        <p:spPr>
          <a:xfrm>
            <a:off x="7909407" y="2743200"/>
            <a:ext cx="2051303" cy="1508760"/>
          </a:xfrm>
          <a:prstGeom prst="chevron">
            <a:avLst/>
          </a:prstGeom>
          <a:solidFill>
            <a:srgbClr val="1425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109728" rtlCol="0" anchor="ctr"/>
          <a:lstStyle/>
          <a:p>
            <a:pPr algn="ctr"/>
            <a:r>
              <a:rPr sz="1250" b="1">
                <a:solidFill>
                  <a:srgbClr val="FFFFFF"/>
                </a:solidFill>
                <a:latin typeface="Calibri"/>
              </a:rPr>
              <a:t>Results &amp;
Roadmap</a:t>
            </a:r>
          </a:p>
        </p:txBody>
      </p:sp>
      <p:sp>
        <p:nvSpPr>
          <p:cNvPr id="9" name="Chevron 8"/>
          <p:cNvSpPr/>
          <p:nvPr/>
        </p:nvSpPr>
        <p:spPr>
          <a:xfrm>
            <a:off x="9722967" y="2743200"/>
            <a:ext cx="2051303" cy="1508760"/>
          </a:xfrm>
          <a:prstGeom prst="chevron">
            <a:avLst/>
          </a:prstGeom>
          <a:solidFill>
            <a:srgbClr val="B8872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109728" rtlCol="0" anchor="ctr"/>
          <a:lstStyle/>
          <a:p>
            <a:pPr algn="ctr"/>
            <a:r>
              <a:rPr sz="1250" b="1">
                <a:solidFill>
                  <a:srgbClr val="FFFFFF"/>
                </a:solidFill>
                <a:latin typeface="Calibri"/>
              </a:rPr>
              <a:t>Reflection</a:t>
            </a:r>
          </a:p>
        </p:txBody>
      </p:sp>
      <p:cxnSp>
        <p:nvCxnSpPr>
          <p:cNvPr id="10" name="Connector 9"/>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28816"/>
            <a:ext cx="548640" cy="274320"/>
          </a:xfrm>
          <a:prstGeom prst="rect">
            <a:avLst/>
          </a:prstGeom>
          <a:noFill/>
        </p:spPr>
        <p:txBody>
          <a:bodyPr wrap="square" lIns="0" tIns="0" rIns="0" bIns="0" anchor="t">
            <a:spAutoFit/>
          </a:bodyPr>
          <a:lstStyle/>
          <a:p>
            <a:pPr algn="l">
              <a:lnSpc>
                <a:spcPct val="100000"/>
              </a:lnSpc>
            </a:pPr>
            <a:r>
              <a:rPr sz="1050" b="0" i="0">
                <a:solidFill>
                  <a:srgbClr val="7C8493"/>
                </a:solidFill>
                <a:latin typeface="Calibri"/>
              </a:rPr>
              <a:t>1</a:t>
            </a:r>
          </a:p>
        </p:txBody>
      </p:sp>
      <p:sp>
        <p:nvSpPr>
          <p:cNvPr id="12" name="Block Arc 11"/>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222992" y="6473952"/>
            <a:ext cx="1554480" cy="201168"/>
          </a:xfrm>
          <a:prstGeom prst="rect">
            <a:avLst/>
          </a:prstGeom>
          <a:noFill/>
        </p:spPr>
        <p:txBody>
          <a:bodyPr wrap="square" lIns="0" tIns="0" rIns="0" bIns="0" anchor="t">
            <a:spAutoFit/>
          </a:bodyPr>
          <a:lstStyle/>
          <a:p>
            <a:pPr algn="l">
              <a:lnSpc>
                <a:spcPct val="100000"/>
              </a:lnSpc>
            </a:pPr>
            <a:r>
              <a:rPr sz="1050" b="1" i="0">
                <a:solidFill>
                  <a:srgbClr val="14255C"/>
                </a:solidFill>
                <a:latin typeface="Calibri"/>
              </a:rPr>
              <a:t>FARMERS</a:t>
            </a:r>
          </a:p>
        </p:txBody>
      </p:sp>
      <p:sp>
        <p:nvSpPr>
          <p:cNvPr id="14" name="TextBox 13"/>
          <p:cNvSpPr txBox="1"/>
          <p:nvPr/>
        </p:nvSpPr>
        <p:spPr>
          <a:xfrm>
            <a:off x="10222992" y="6647688"/>
            <a:ext cx="1554480" cy="182880"/>
          </a:xfrm>
          <a:prstGeom prst="rect">
            <a:avLst/>
          </a:prstGeom>
          <a:noFill/>
        </p:spPr>
        <p:txBody>
          <a:bodyPr wrap="square" lIns="0" tIns="0" rIns="0" bIns="0" anchor="t">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0515600" cy="274320"/>
          </a:xfrm>
          <a:prstGeom prst="rect">
            <a:avLst/>
          </a:prstGeom>
          <a:noFill/>
        </p:spPr>
        <p:txBody>
          <a:bodyPr wrap="square" lIns="0" tIns="0" rIns="0" bIns="0" anchor="t">
            <a:spAutoFit/>
          </a:bodyPr>
          <a:lstStyle/>
          <a:p>
            <a:pPr algn="l">
              <a:lnSpc>
                <a:spcPct val="100000"/>
              </a:lnSpc>
            </a:pPr>
            <a:r>
              <a:rPr sz="1100" b="1" i="0">
                <a:solidFill>
                  <a:srgbClr val="B8872E"/>
                </a:solidFill>
                <a:latin typeface="Calibri"/>
              </a:rPr>
              <a:t>BACKGROUND &amp; PROBLEM</a:t>
            </a:r>
          </a:p>
        </p:txBody>
      </p:sp>
      <p:sp>
        <p:nvSpPr>
          <p:cNvPr id="3" name="TextBox 2"/>
          <p:cNvSpPr txBox="1"/>
          <p:nvPr/>
        </p:nvSpPr>
        <p:spPr>
          <a:xfrm>
            <a:off x="502920" y="438912"/>
            <a:ext cx="10515600" cy="594360"/>
          </a:xfrm>
          <a:prstGeom prst="rect">
            <a:avLst/>
          </a:prstGeom>
          <a:noFill/>
        </p:spPr>
        <p:txBody>
          <a:bodyPr wrap="square" lIns="0" tIns="0" rIns="0" bIns="0" anchor="t">
            <a:spAutoFit/>
          </a:bodyPr>
          <a:lstStyle/>
          <a:p>
            <a:pPr algn="l">
              <a:lnSpc>
                <a:spcPct val="100000"/>
              </a:lnSpc>
            </a:pPr>
            <a:r>
              <a:rPr sz="2600" b="1" i="0">
                <a:solidFill>
                  <a:srgbClr val="14255C"/>
                </a:solidFill>
                <a:latin typeface="Calibri"/>
              </a:rPr>
              <a:t>The Problem We're Solving</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02920" y="1371600"/>
            <a:ext cx="11201400" cy="86868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1371600"/>
            <a:ext cx="82296" cy="868680"/>
          </a:xfrm>
          <a:prstGeom prst="roundRect">
            <a:avLst>
              <a:gd name="adj" fmla="val 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04088" y="1577340"/>
            <a:ext cx="457200" cy="457200"/>
          </a:xfrm>
          <a:prstGeom prst="ellipse">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1577340"/>
            <a:ext cx="457200" cy="457200"/>
          </a:xfrm>
          <a:prstGeom prst="rect">
            <a:avLst/>
          </a:prstGeom>
          <a:noFill/>
        </p:spPr>
        <p:txBody>
          <a:bodyPr wrap="square" lIns="0" tIns="0" rIns="0" bIns="0" anchor="ctr">
            <a:spAutoFit/>
          </a:bodyPr>
          <a:lstStyle/>
          <a:p>
            <a:pPr algn="ctr">
              <a:lnSpc>
                <a:spcPct val="100000"/>
              </a:lnSpc>
            </a:pPr>
            <a:r>
              <a:rPr sz="1500" b="1" i="0">
                <a:solidFill>
                  <a:srgbClr val="FFFFFF"/>
                </a:solidFill>
                <a:latin typeface="Calibri"/>
              </a:rPr>
              <a:t>1</a:t>
            </a:r>
          </a:p>
        </p:txBody>
      </p:sp>
      <p:sp>
        <p:nvSpPr>
          <p:cNvPr id="9" name="TextBox 8"/>
          <p:cNvSpPr txBox="1"/>
          <p:nvPr/>
        </p:nvSpPr>
        <p:spPr>
          <a:xfrm>
            <a:off x="1344168" y="1444752"/>
            <a:ext cx="10104120" cy="722375"/>
          </a:xfrm>
          <a:prstGeom prst="rect">
            <a:avLst/>
          </a:prstGeom>
          <a:noFill/>
        </p:spPr>
        <p:txBody>
          <a:bodyPr wrap="square" lIns="0" tIns="0" rIns="0" bIns="0" anchor="ctr">
            <a:spAutoFit/>
          </a:bodyPr>
          <a:lstStyle/>
          <a:p>
            <a:pPr algn="l">
              <a:lnSpc>
                <a:spcPct val="105000"/>
              </a:lnSpc>
            </a:pPr>
            <a:r>
              <a:rPr sz="1250" b="0" i="0">
                <a:solidFill>
                  <a:srgbClr val="222733"/>
                </a:solidFill>
                <a:latin typeface="Calibri"/>
              </a:rPr>
              <a:t>Every model that needs policy features recalculates them independently — duplicated logic, and no guarantee two models agree on the same value.</a:t>
            </a:r>
          </a:p>
        </p:txBody>
      </p:sp>
      <p:sp>
        <p:nvSpPr>
          <p:cNvPr id="10" name="Rounded Rectangle 9"/>
          <p:cNvSpPr/>
          <p:nvPr/>
        </p:nvSpPr>
        <p:spPr>
          <a:xfrm>
            <a:off x="502920" y="2368296"/>
            <a:ext cx="11201400" cy="86868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02920" y="2368296"/>
            <a:ext cx="82296" cy="868680"/>
          </a:xfrm>
          <a:prstGeom prst="roundRect">
            <a:avLst>
              <a:gd name="adj" fmla="val 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04088" y="2574036"/>
            <a:ext cx="457200" cy="457200"/>
          </a:xfrm>
          <a:prstGeom prst="ellipse">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4088" y="2574036"/>
            <a:ext cx="457200" cy="457200"/>
          </a:xfrm>
          <a:prstGeom prst="rect">
            <a:avLst/>
          </a:prstGeom>
          <a:noFill/>
        </p:spPr>
        <p:txBody>
          <a:bodyPr wrap="square" lIns="0" tIns="0" rIns="0" bIns="0" anchor="ctr">
            <a:spAutoFit/>
          </a:bodyPr>
          <a:lstStyle/>
          <a:p>
            <a:pPr algn="ctr">
              <a:lnSpc>
                <a:spcPct val="100000"/>
              </a:lnSpc>
            </a:pPr>
            <a:r>
              <a:rPr sz="1500" b="1" i="0">
                <a:solidFill>
                  <a:srgbClr val="FFFFFF"/>
                </a:solidFill>
                <a:latin typeface="Calibri"/>
              </a:rPr>
              <a:t>2</a:t>
            </a:r>
          </a:p>
        </p:txBody>
      </p:sp>
      <p:sp>
        <p:nvSpPr>
          <p:cNvPr id="14" name="TextBox 13"/>
          <p:cNvSpPr txBox="1"/>
          <p:nvPr/>
        </p:nvSpPr>
        <p:spPr>
          <a:xfrm>
            <a:off x="1344168" y="2441448"/>
            <a:ext cx="10104120" cy="722375"/>
          </a:xfrm>
          <a:prstGeom prst="rect">
            <a:avLst/>
          </a:prstGeom>
          <a:noFill/>
        </p:spPr>
        <p:txBody>
          <a:bodyPr wrap="square" lIns="0" tIns="0" rIns="0" bIns="0" anchor="ctr">
            <a:spAutoFit/>
          </a:bodyPr>
          <a:lstStyle/>
          <a:p>
            <a:pPr algn="l">
              <a:lnSpc>
                <a:spcPct val="105000"/>
              </a:lnSpc>
            </a:pPr>
            <a:r>
              <a:rPr sz="1250" b="0" i="0">
                <a:solidFill>
                  <a:srgbClr val="222733"/>
                </a:solidFill>
                <a:latin typeface="Calibri"/>
              </a:rPr>
              <a:t>Features are computed only at request time — no record of what a model actually saw, which makes debugging and audit hard.</a:t>
            </a:r>
          </a:p>
        </p:txBody>
      </p:sp>
      <p:sp>
        <p:nvSpPr>
          <p:cNvPr id="15" name="Rounded Rectangle 14"/>
          <p:cNvSpPr/>
          <p:nvPr/>
        </p:nvSpPr>
        <p:spPr>
          <a:xfrm>
            <a:off x="502920" y="3364991"/>
            <a:ext cx="11201400" cy="86868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364991"/>
            <a:ext cx="82296" cy="868680"/>
          </a:xfrm>
          <a:prstGeom prst="roundRect">
            <a:avLst>
              <a:gd name="adj" fmla="val 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04088" y="3570731"/>
            <a:ext cx="457200" cy="457200"/>
          </a:xfrm>
          <a:prstGeom prst="ellipse">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4088" y="3570731"/>
            <a:ext cx="457200" cy="457200"/>
          </a:xfrm>
          <a:prstGeom prst="rect">
            <a:avLst/>
          </a:prstGeom>
          <a:noFill/>
        </p:spPr>
        <p:txBody>
          <a:bodyPr wrap="square" lIns="0" tIns="0" rIns="0" bIns="0" anchor="ctr">
            <a:spAutoFit/>
          </a:bodyPr>
          <a:lstStyle/>
          <a:p>
            <a:pPr algn="ctr">
              <a:lnSpc>
                <a:spcPct val="100000"/>
              </a:lnSpc>
            </a:pPr>
            <a:r>
              <a:rPr sz="1500" b="1" i="0">
                <a:solidFill>
                  <a:srgbClr val="FFFFFF"/>
                </a:solidFill>
                <a:latin typeface="Calibri"/>
              </a:rPr>
              <a:t>3</a:t>
            </a:r>
          </a:p>
        </p:txBody>
      </p:sp>
      <p:sp>
        <p:nvSpPr>
          <p:cNvPr id="19" name="TextBox 18"/>
          <p:cNvSpPr txBox="1"/>
          <p:nvPr/>
        </p:nvSpPr>
        <p:spPr>
          <a:xfrm>
            <a:off x="1344168" y="3438144"/>
            <a:ext cx="10104120" cy="722375"/>
          </a:xfrm>
          <a:prstGeom prst="rect">
            <a:avLst/>
          </a:prstGeom>
          <a:noFill/>
        </p:spPr>
        <p:txBody>
          <a:bodyPr wrap="square" lIns="0" tIns="0" rIns="0" bIns="0" anchor="ctr">
            <a:spAutoFit/>
          </a:bodyPr>
          <a:lstStyle/>
          <a:p>
            <a:pPr algn="l">
              <a:lnSpc>
                <a:spcPct val="105000"/>
              </a:lnSpc>
            </a:pPr>
            <a:r>
              <a:rPr sz="1250" b="0" i="0">
                <a:solidFill>
                  <a:srgbClr val="222733"/>
                </a:solidFill>
                <a:latin typeface="Calibri"/>
              </a:rPr>
              <a:t>Some policy changes are known today but shouldn't take effect until a future date — most on-demand approaches don't distinguish "received" from "effective."</a:t>
            </a:r>
          </a:p>
        </p:txBody>
      </p:sp>
      <p:sp>
        <p:nvSpPr>
          <p:cNvPr id="20" name="Rounded Rectangle 19"/>
          <p:cNvSpPr/>
          <p:nvPr/>
        </p:nvSpPr>
        <p:spPr>
          <a:xfrm>
            <a:off x="502920" y="4361688"/>
            <a:ext cx="11201400" cy="86868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02920" y="4361688"/>
            <a:ext cx="82296" cy="868680"/>
          </a:xfrm>
          <a:prstGeom prst="roundRect">
            <a:avLst>
              <a:gd name="adj" fmla="val 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04088" y="4567427"/>
            <a:ext cx="457200" cy="457200"/>
          </a:xfrm>
          <a:prstGeom prst="ellipse">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4088" y="4567427"/>
            <a:ext cx="457200" cy="457200"/>
          </a:xfrm>
          <a:prstGeom prst="rect">
            <a:avLst/>
          </a:prstGeom>
          <a:noFill/>
        </p:spPr>
        <p:txBody>
          <a:bodyPr wrap="square" lIns="0" tIns="0" rIns="0" bIns="0" anchor="ctr">
            <a:spAutoFit/>
          </a:bodyPr>
          <a:lstStyle/>
          <a:p>
            <a:pPr algn="ctr">
              <a:lnSpc>
                <a:spcPct val="100000"/>
              </a:lnSpc>
            </a:pPr>
            <a:r>
              <a:rPr sz="1500" b="1" i="0">
                <a:solidFill>
                  <a:srgbClr val="FFFFFF"/>
                </a:solidFill>
                <a:latin typeface="Calibri"/>
              </a:rPr>
              <a:t>4</a:t>
            </a:r>
          </a:p>
        </p:txBody>
      </p:sp>
      <p:sp>
        <p:nvSpPr>
          <p:cNvPr id="24" name="TextBox 23"/>
          <p:cNvSpPr txBox="1"/>
          <p:nvPr/>
        </p:nvSpPr>
        <p:spPr>
          <a:xfrm>
            <a:off x="1344168" y="4434840"/>
            <a:ext cx="10104120" cy="722375"/>
          </a:xfrm>
          <a:prstGeom prst="rect">
            <a:avLst/>
          </a:prstGeom>
          <a:noFill/>
        </p:spPr>
        <p:txBody>
          <a:bodyPr wrap="square" lIns="0" tIns="0" rIns="0" bIns="0" anchor="ctr">
            <a:spAutoFit/>
          </a:bodyPr>
          <a:lstStyle/>
          <a:p>
            <a:pPr algn="l">
              <a:lnSpc>
                <a:spcPct val="105000"/>
              </a:lnSpc>
            </a:pPr>
            <a:r>
              <a:rPr sz="1250" b="0" i="0" dirty="0">
                <a:solidFill>
                  <a:srgbClr val="222733"/>
                </a:solidFill>
                <a:latin typeface="Calibri"/>
              </a:rPr>
              <a:t>Historical feature states are needed for audit and model training, but aren't preserved by a pure request-time approach.</a:t>
            </a:r>
          </a:p>
        </p:txBody>
      </p:sp>
      <p:sp>
        <p:nvSpPr>
          <p:cNvPr id="25" name="Rounded Rectangle 24"/>
          <p:cNvSpPr/>
          <p:nvPr/>
        </p:nvSpPr>
        <p:spPr>
          <a:xfrm>
            <a:off x="502920" y="5413247"/>
            <a:ext cx="11201400" cy="594360"/>
          </a:xfrm>
          <a:prstGeom prst="roundRect">
            <a:avLst>
              <a:gd name="adj" fmla="val 10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5413247"/>
            <a:ext cx="10652760" cy="594360"/>
          </a:xfrm>
          <a:prstGeom prst="rect">
            <a:avLst/>
          </a:prstGeom>
          <a:noFill/>
        </p:spPr>
        <p:txBody>
          <a:bodyPr wrap="square" lIns="0" tIns="0" rIns="0" bIns="0" anchor="ctr">
            <a:spAutoFit/>
          </a:bodyPr>
          <a:lstStyle/>
          <a:p>
            <a:pPr algn="l">
              <a:lnSpc>
                <a:spcPct val="100000"/>
              </a:lnSpc>
            </a:pPr>
            <a:r>
              <a:rPr sz="1350" b="1" i="1">
                <a:solidFill>
                  <a:srgbClr val="FFFFFF"/>
                </a:solidFill>
                <a:latin typeface="Calibri"/>
              </a:rPr>
              <a:t>Models need one trusted source for the correct feature value, at the correct point in time.</a:t>
            </a:r>
          </a:p>
        </p:txBody>
      </p:sp>
      <p:cxnSp>
        <p:nvCxnSpPr>
          <p:cNvPr id="27" name="Connector 26"/>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11480" y="6528816"/>
            <a:ext cx="548640" cy="274320"/>
          </a:xfrm>
          <a:prstGeom prst="rect">
            <a:avLst/>
          </a:prstGeom>
          <a:noFill/>
        </p:spPr>
        <p:txBody>
          <a:bodyPr wrap="square" lIns="0" tIns="0" rIns="0" bIns="0" anchor="t">
            <a:spAutoFit/>
          </a:bodyPr>
          <a:lstStyle/>
          <a:p>
            <a:pPr algn="l">
              <a:lnSpc>
                <a:spcPct val="100000"/>
              </a:lnSpc>
            </a:pPr>
            <a:r>
              <a:rPr sz="1050" b="0" i="0">
                <a:solidFill>
                  <a:srgbClr val="7C8493"/>
                </a:solidFill>
                <a:latin typeface="Calibri"/>
              </a:rPr>
              <a:t>2</a:t>
            </a:r>
          </a:p>
        </p:txBody>
      </p:sp>
      <p:sp>
        <p:nvSpPr>
          <p:cNvPr id="29" name="Block Arc 28"/>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222992" y="6473952"/>
            <a:ext cx="1554480" cy="201168"/>
          </a:xfrm>
          <a:prstGeom prst="rect">
            <a:avLst/>
          </a:prstGeom>
          <a:noFill/>
        </p:spPr>
        <p:txBody>
          <a:bodyPr wrap="square" lIns="0" tIns="0" rIns="0" bIns="0" anchor="t">
            <a:spAutoFit/>
          </a:bodyPr>
          <a:lstStyle/>
          <a:p>
            <a:pPr algn="l">
              <a:lnSpc>
                <a:spcPct val="100000"/>
              </a:lnSpc>
            </a:pPr>
            <a:r>
              <a:rPr sz="1050" b="1" i="0">
                <a:solidFill>
                  <a:srgbClr val="14255C"/>
                </a:solidFill>
                <a:latin typeface="Calibri"/>
              </a:rPr>
              <a:t>FARMERS</a:t>
            </a:r>
          </a:p>
        </p:txBody>
      </p:sp>
      <p:sp>
        <p:nvSpPr>
          <p:cNvPr id="31" name="TextBox 30"/>
          <p:cNvSpPr txBox="1"/>
          <p:nvPr/>
        </p:nvSpPr>
        <p:spPr>
          <a:xfrm>
            <a:off x="10222992" y="6647688"/>
            <a:ext cx="1554480" cy="182880"/>
          </a:xfrm>
          <a:prstGeom prst="rect">
            <a:avLst/>
          </a:prstGeom>
          <a:noFill/>
        </p:spPr>
        <p:txBody>
          <a:bodyPr wrap="square" lIns="0" tIns="0" rIns="0" bIns="0" anchor="t">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0515600" cy="274320"/>
          </a:xfrm>
          <a:prstGeom prst="rect">
            <a:avLst/>
          </a:prstGeom>
          <a:noFill/>
        </p:spPr>
        <p:txBody>
          <a:bodyPr wrap="square" lIns="0" tIns="0" rIns="0" bIns="0" anchor="t">
            <a:spAutoFit/>
          </a:bodyPr>
          <a:lstStyle/>
          <a:p>
            <a:pPr algn="l">
              <a:lnSpc>
                <a:spcPct val="100000"/>
              </a:lnSpc>
            </a:pPr>
            <a:r>
              <a:rPr sz="1100" b="1" i="0">
                <a:solidFill>
                  <a:srgbClr val="B8872E"/>
                </a:solidFill>
                <a:latin typeface="Calibri"/>
              </a:rPr>
              <a:t>BACKGROUND &amp; PROBLEM</a:t>
            </a:r>
          </a:p>
        </p:txBody>
      </p:sp>
      <p:sp>
        <p:nvSpPr>
          <p:cNvPr id="3" name="TextBox 2"/>
          <p:cNvSpPr txBox="1"/>
          <p:nvPr/>
        </p:nvSpPr>
        <p:spPr>
          <a:xfrm>
            <a:off x="502920" y="438912"/>
            <a:ext cx="10515600" cy="594360"/>
          </a:xfrm>
          <a:prstGeom prst="rect">
            <a:avLst/>
          </a:prstGeom>
          <a:noFill/>
        </p:spPr>
        <p:txBody>
          <a:bodyPr wrap="square" lIns="0" tIns="0" rIns="0" bIns="0" anchor="t">
            <a:spAutoFit/>
          </a:bodyPr>
          <a:lstStyle/>
          <a:p>
            <a:pPr algn="l">
              <a:lnSpc>
                <a:spcPct val="100000"/>
              </a:lnSpc>
            </a:pPr>
            <a:r>
              <a:rPr sz="2600" b="1" i="0">
                <a:solidFill>
                  <a:srgbClr val="14255C"/>
                </a:solidFill>
                <a:latin typeface="Calibri"/>
              </a:rPr>
              <a:t>Policy Systems Don't Host Models</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02920" y="1325880"/>
            <a:ext cx="11201400" cy="2880360"/>
          </a:xfrm>
          <a:prstGeom prst="roundRect">
            <a:avLst>
              <a:gd name="adj" fmla="val 2000"/>
            </a:avLst>
          </a:prstGeom>
          <a:solidFill>
            <a:srgbClr val="FFFFFF"/>
          </a:solidFill>
          <a:ln w="15875">
            <a:solidFill>
              <a:srgbClr val="E2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435607"/>
            <a:ext cx="10744200" cy="274320"/>
          </a:xfrm>
          <a:prstGeom prst="rect">
            <a:avLst/>
          </a:prstGeom>
          <a:noFill/>
        </p:spPr>
        <p:txBody>
          <a:bodyPr wrap="square" lIns="0" tIns="0" rIns="0" bIns="0" anchor="t">
            <a:spAutoFit/>
          </a:bodyPr>
          <a:lstStyle/>
          <a:p>
            <a:pPr algn="l">
              <a:lnSpc>
                <a:spcPct val="100000"/>
              </a:lnSpc>
            </a:pPr>
            <a:r>
              <a:rPr sz="1050" b="1" i="0">
                <a:solidFill>
                  <a:srgbClr val="7C8493"/>
                </a:solidFill>
                <a:latin typeface="Calibri"/>
              </a:rPr>
              <a:t>TODAY</a:t>
            </a:r>
          </a:p>
        </p:txBody>
      </p:sp>
      <p:sp>
        <p:nvSpPr>
          <p:cNvPr id="7" name="Rounded Rectangle 6"/>
          <p:cNvSpPr/>
          <p:nvPr/>
        </p:nvSpPr>
        <p:spPr>
          <a:xfrm>
            <a:off x="1051560" y="1920240"/>
            <a:ext cx="2468880" cy="914400"/>
          </a:xfrm>
          <a:prstGeom prst="roundRect">
            <a:avLst>
              <a:gd name="adj" fmla="val 10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252728" y="2139696"/>
            <a:ext cx="502920" cy="120456"/>
          </a:xfrm>
          <a:prstGeom prst="roundRect">
            <a:avLst>
              <a:gd name="adj" fmla="val 3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673737" y="2169810"/>
            <a:ext cx="60228" cy="60228"/>
          </a:xfrm>
          <a:prstGeom prst="ellipse">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252728" y="2317211"/>
            <a:ext cx="502920" cy="120456"/>
          </a:xfrm>
          <a:prstGeom prst="roundRect">
            <a:avLst>
              <a:gd name="adj" fmla="val 3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673737" y="2347325"/>
            <a:ext cx="60228" cy="60228"/>
          </a:xfrm>
          <a:prstGeom prst="ellipse">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252728" y="2494727"/>
            <a:ext cx="502920" cy="120456"/>
          </a:xfrm>
          <a:prstGeom prst="roundRect">
            <a:avLst>
              <a:gd name="adj" fmla="val 3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673737" y="2524841"/>
            <a:ext cx="60228" cy="60228"/>
          </a:xfrm>
          <a:prstGeom prst="ellipse">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874519" y="1920240"/>
            <a:ext cx="1554480" cy="914400"/>
          </a:xfrm>
          <a:prstGeom prst="rect">
            <a:avLst/>
          </a:prstGeom>
          <a:noFill/>
        </p:spPr>
        <p:txBody>
          <a:bodyPr wrap="square" lIns="0" tIns="0" rIns="0" bIns="0" anchor="ctr">
            <a:spAutoFit/>
          </a:bodyPr>
          <a:lstStyle/>
          <a:p>
            <a:pPr algn="l">
              <a:lnSpc>
                <a:spcPct val="100000"/>
              </a:lnSpc>
            </a:pPr>
            <a:r>
              <a:rPr sz="1250" b="1" i="0" dirty="0">
                <a:solidFill>
                  <a:srgbClr val="FFFFFF"/>
                </a:solidFill>
                <a:latin typeface="Calibri"/>
              </a:rPr>
              <a:t>Model Hosting</a:t>
            </a:r>
          </a:p>
          <a:p>
            <a:pPr algn="l">
              <a:lnSpc>
                <a:spcPct val="100000"/>
              </a:lnSpc>
            </a:pPr>
            <a:r>
              <a:rPr sz="1250" b="1" i="0" dirty="0">
                <a:solidFill>
                  <a:srgbClr val="FFFFFF"/>
                </a:solidFill>
                <a:latin typeface="Calibri"/>
              </a:rPr>
              <a:t>Platform</a:t>
            </a:r>
          </a:p>
        </p:txBody>
      </p:sp>
      <p:sp>
        <p:nvSpPr>
          <p:cNvPr id="15" name="Parallelogram 14"/>
          <p:cNvSpPr/>
          <p:nvPr/>
        </p:nvSpPr>
        <p:spPr>
          <a:xfrm>
            <a:off x="5234940" y="1988820"/>
            <a:ext cx="1737360" cy="777240"/>
          </a:xfrm>
          <a:prstGeom prst="parallelogram">
            <a:avLst/>
          </a:prstGeom>
          <a:solidFill>
            <a:srgbClr val="0D1B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FFFFFF"/>
                </a:solidFill>
                <a:latin typeface="Calibri"/>
              </a:rPr>
              <a:t>{ JSON }</a:t>
            </a:r>
          </a:p>
        </p:txBody>
      </p:sp>
      <p:sp>
        <p:nvSpPr>
          <p:cNvPr id="16" name="TextBox 15"/>
          <p:cNvSpPr txBox="1"/>
          <p:nvPr/>
        </p:nvSpPr>
        <p:spPr>
          <a:xfrm>
            <a:off x="4960620" y="2820924"/>
            <a:ext cx="2286000" cy="228600"/>
          </a:xfrm>
          <a:prstGeom prst="rect">
            <a:avLst/>
          </a:prstGeom>
          <a:noFill/>
        </p:spPr>
        <p:txBody>
          <a:bodyPr wrap="square" lIns="0" tIns="0" rIns="0" bIns="0" anchor="t">
            <a:spAutoFit/>
          </a:bodyPr>
          <a:lstStyle/>
          <a:p>
            <a:pPr algn="ctr">
              <a:lnSpc>
                <a:spcPct val="100000"/>
              </a:lnSpc>
            </a:pPr>
            <a:r>
              <a:rPr sz="850" b="0" i="1">
                <a:solidFill>
                  <a:srgbClr val="7C8493"/>
                </a:solidFill>
                <a:latin typeface="Calibri"/>
              </a:rPr>
              <a:t>data payload</a:t>
            </a:r>
          </a:p>
        </p:txBody>
      </p:sp>
      <p:sp>
        <p:nvSpPr>
          <p:cNvPr id="17" name="Rounded Rectangle 16"/>
          <p:cNvSpPr/>
          <p:nvPr/>
        </p:nvSpPr>
        <p:spPr>
          <a:xfrm>
            <a:off x="8686800" y="1920240"/>
            <a:ext cx="2468880" cy="914400"/>
          </a:xfrm>
          <a:prstGeom prst="roundRect">
            <a:avLst>
              <a:gd name="adj" fmla="val 6000"/>
            </a:avLst>
          </a:prstGeom>
          <a:solidFill>
            <a:srgbClr val="FFFFFF"/>
          </a:solidFill>
          <a:ln w="19050">
            <a:solidFill>
              <a:srgbClr val="14255C"/>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686800" y="1920240"/>
            <a:ext cx="2468880" cy="219456"/>
          </a:xfrm>
          <a:prstGeom prst="roundRect">
            <a:avLst>
              <a:gd name="adj" fmla="val 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814816" y="1992660"/>
            <a:ext cx="74615" cy="7461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962583" y="1992660"/>
            <a:ext cx="74615" cy="7461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110350" y="1992660"/>
            <a:ext cx="74615" cy="7461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0" y="2223089"/>
            <a:ext cx="2468880" cy="277977"/>
          </a:xfrm>
          <a:prstGeom prst="rect">
            <a:avLst/>
          </a:prstGeom>
          <a:noFill/>
        </p:spPr>
        <p:txBody>
          <a:bodyPr wrap="square" lIns="0" tIns="0" rIns="0" bIns="0" anchor="ctr">
            <a:spAutoFit/>
          </a:bodyPr>
          <a:lstStyle/>
          <a:p>
            <a:pPr algn="ctr">
              <a:lnSpc>
                <a:spcPct val="100000"/>
              </a:lnSpc>
            </a:pPr>
            <a:r>
              <a:rPr sz="1300" b="1" i="0">
                <a:solidFill>
                  <a:srgbClr val="14255C"/>
                </a:solidFill>
                <a:latin typeface="Calibri"/>
              </a:rPr>
              <a:t>GWPC</a:t>
            </a:r>
          </a:p>
        </p:txBody>
      </p:sp>
      <p:sp>
        <p:nvSpPr>
          <p:cNvPr id="23" name="TextBox 22"/>
          <p:cNvSpPr txBox="1"/>
          <p:nvPr/>
        </p:nvSpPr>
        <p:spPr>
          <a:xfrm>
            <a:off x="8778240" y="2521915"/>
            <a:ext cx="2286000" cy="243230"/>
          </a:xfrm>
          <a:prstGeom prst="rect">
            <a:avLst/>
          </a:prstGeom>
          <a:noFill/>
        </p:spPr>
        <p:txBody>
          <a:bodyPr wrap="square" lIns="0" tIns="0" rIns="0" bIns="0" anchor="ctr">
            <a:spAutoFit/>
          </a:bodyPr>
          <a:lstStyle/>
          <a:p>
            <a:pPr algn="ctr">
              <a:lnSpc>
                <a:spcPct val="100000"/>
              </a:lnSpc>
            </a:pPr>
            <a:r>
              <a:rPr sz="850" b="0" i="1">
                <a:solidFill>
                  <a:srgbClr val="7C8493"/>
                </a:solidFill>
                <a:latin typeface="Calibri"/>
              </a:rPr>
              <a:t>(Guidewire PolicyCenter)</a:t>
            </a:r>
          </a:p>
        </p:txBody>
      </p:sp>
      <p:cxnSp>
        <p:nvCxnSpPr>
          <p:cNvPr id="24" name="Connector 23"/>
          <p:cNvCxnSpPr/>
          <p:nvPr/>
        </p:nvCxnSpPr>
        <p:spPr>
          <a:xfrm>
            <a:off x="3520440" y="2377440"/>
            <a:ext cx="1714500" cy="0"/>
          </a:xfrm>
          <a:prstGeom prst="line">
            <a:avLst/>
          </a:prstGeom>
          <a:ln w="25400">
            <a:solidFill>
              <a:srgbClr val="14255C"/>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972300" y="2377440"/>
            <a:ext cx="1714500" cy="0"/>
          </a:xfrm>
          <a:prstGeom prst="line">
            <a:avLst/>
          </a:prstGeom>
          <a:ln w="25400">
            <a:solidFill>
              <a:srgbClr val="14255C"/>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051560" y="3154680"/>
            <a:ext cx="10104120" cy="548640"/>
          </a:xfrm>
          <a:prstGeom prst="rect">
            <a:avLst/>
          </a:prstGeom>
          <a:noFill/>
        </p:spPr>
        <p:txBody>
          <a:bodyPr wrap="square" lIns="0" tIns="0" rIns="0" bIns="0" anchor="t">
            <a:spAutoFit/>
          </a:bodyPr>
          <a:lstStyle/>
          <a:p>
            <a:pPr algn="ctr">
              <a:lnSpc>
                <a:spcPct val="100000"/>
              </a:lnSpc>
            </a:pPr>
            <a:r>
              <a:rPr sz="1350" b="1" i="1" dirty="0">
                <a:solidFill>
                  <a:srgbClr val="14255C"/>
                </a:solidFill>
                <a:latin typeface="Calibri"/>
              </a:rPr>
              <a:t>Data transformation happens on the Model Hosting Platform — in real time, today.</a:t>
            </a:r>
          </a:p>
        </p:txBody>
      </p:sp>
      <p:sp>
        <p:nvSpPr>
          <p:cNvPr id="27" name="Rounded Rectangle 26"/>
          <p:cNvSpPr/>
          <p:nvPr/>
        </p:nvSpPr>
        <p:spPr>
          <a:xfrm>
            <a:off x="868680" y="4709159"/>
            <a:ext cx="2834640" cy="868680"/>
          </a:xfrm>
          <a:prstGeom prst="roundRect">
            <a:avLst>
              <a:gd name="adj" fmla="val 10000"/>
            </a:avLst>
          </a:prstGeom>
          <a:solidFill>
            <a:srgbClr val="B8872E"/>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an 27"/>
          <p:cNvSpPr/>
          <p:nvPr/>
        </p:nvSpPr>
        <p:spPr>
          <a:xfrm>
            <a:off x="1069848" y="4892040"/>
            <a:ext cx="457200" cy="502920"/>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645919" y="4709159"/>
            <a:ext cx="1920240" cy="868680"/>
          </a:xfrm>
          <a:prstGeom prst="rect">
            <a:avLst/>
          </a:prstGeom>
          <a:noFill/>
        </p:spPr>
        <p:txBody>
          <a:bodyPr wrap="square" lIns="0" tIns="0" rIns="0" bIns="0" anchor="ctr">
            <a:spAutoFit/>
          </a:bodyPr>
          <a:lstStyle/>
          <a:p>
            <a:pPr algn="l">
              <a:lnSpc>
                <a:spcPct val="100000"/>
              </a:lnSpc>
            </a:pPr>
            <a:r>
              <a:rPr sz="1150" b="1" i="0">
                <a:solidFill>
                  <a:srgbClr val="FFFFFF"/>
                </a:solidFill>
                <a:latin typeface="Calibri"/>
              </a:rPr>
              <a:t>Pre-Derived Data at</a:t>
            </a:r>
          </a:p>
          <a:p>
            <a:pPr algn="l">
              <a:lnSpc>
                <a:spcPct val="100000"/>
              </a:lnSpc>
            </a:pPr>
            <a:r>
              <a:rPr sz="1150" b="1" i="0">
                <a:solidFill>
                  <a:srgbClr val="FFFFFF"/>
                </a:solidFill>
                <a:latin typeface="Calibri"/>
              </a:rPr>
              <a:t>Customer Level</a:t>
            </a:r>
          </a:p>
        </p:txBody>
      </p:sp>
      <p:cxnSp>
        <p:nvCxnSpPr>
          <p:cNvPr id="30" name="Connector 29"/>
          <p:cNvCxnSpPr/>
          <p:nvPr/>
        </p:nvCxnSpPr>
        <p:spPr>
          <a:xfrm>
            <a:off x="2286000" y="4206240"/>
            <a:ext cx="0" cy="502919"/>
          </a:xfrm>
          <a:prstGeom prst="line">
            <a:avLst/>
          </a:prstGeom>
          <a:ln w="25400">
            <a:solidFill>
              <a:srgbClr val="B8872E"/>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069080" y="4709159"/>
            <a:ext cx="7635240" cy="868680"/>
          </a:xfrm>
          <a:prstGeom prst="rect">
            <a:avLst/>
          </a:prstGeom>
          <a:noFill/>
        </p:spPr>
        <p:txBody>
          <a:bodyPr wrap="square" lIns="0" tIns="0" rIns="0" bIns="0" anchor="ctr">
            <a:spAutoFit/>
          </a:bodyPr>
          <a:lstStyle/>
          <a:p>
            <a:pPr algn="l">
              <a:lnSpc>
                <a:spcPct val="115000"/>
              </a:lnSpc>
            </a:pPr>
            <a:r>
              <a:rPr sz="1250" b="0" i="1">
                <a:solidFill>
                  <a:srgbClr val="222733"/>
                </a:solidFill>
                <a:latin typeface="Calibri"/>
              </a:rPr>
              <a:t>Nothing stops us from also feeding pre-derived, already-computed features into that same real-time exchange — that's what this project builds.</a:t>
            </a:r>
          </a:p>
        </p:txBody>
      </p:sp>
      <p:cxnSp>
        <p:nvCxnSpPr>
          <p:cNvPr id="32" name="Connector 31"/>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11480" y="6528816"/>
            <a:ext cx="548640" cy="274320"/>
          </a:xfrm>
          <a:prstGeom prst="rect">
            <a:avLst/>
          </a:prstGeom>
          <a:noFill/>
        </p:spPr>
        <p:txBody>
          <a:bodyPr wrap="square" lIns="0" tIns="0" rIns="0" bIns="0" anchor="t">
            <a:spAutoFit/>
          </a:bodyPr>
          <a:lstStyle/>
          <a:p>
            <a:pPr algn="l">
              <a:lnSpc>
                <a:spcPct val="100000"/>
              </a:lnSpc>
            </a:pPr>
            <a:r>
              <a:rPr sz="1050" b="0" i="0">
                <a:solidFill>
                  <a:srgbClr val="7C8493"/>
                </a:solidFill>
                <a:latin typeface="Calibri"/>
              </a:rPr>
              <a:t>3</a:t>
            </a:r>
          </a:p>
        </p:txBody>
      </p:sp>
      <p:sp>
        <p:nvSpPr>
          <p:cNvPr id="34" name="Block Arc 33"/>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22992" y="6473952"/>
            <a:ext cx="1554480" cy="201168"/>
          </a:xfrm>
          <a:prstGeom prst="rect">
            <a:avLst/>
          </a:prstGeom>
          <a:noFill/>
        </p:spPr>
        <p:txBody>
          <a:bodyPr wrap="square" lIns="0" tIns="0" rIns="0" bIns="0" anchor="t">
            <a:spAutoFit/>
          </a:bodyPr>
          <a:lstStyle/>
          <a:p>
            <a:pPr algn="l">
              <a:lnSpc>
                <a:spcPct val="100000"/>
              </a:lnSpc>
            </a:pPr>
            <a:r>
              <a:rPr sz="1050" b="1" i="0">
                <a:solidFill>
                  <a:srgbClr val="14255C"/>
                </a:solidFill>
                <a:latin typeface="Calibri"/>
              </a:rPr>
              <a:t>FARMERS</a:t>
            </a:r>
          </a:p>
        </p:txBody>
      </p:sp>
      <p:sp>
        <p:nvSpPr>
          <p:cNvPr id="36" name="TextBox 35"/>
          <p:cNvSpPr txBox="1"/>
          <p:nvPr/>
        </p:nvSpPr>
        <p:spPr>
          <a:xfrm>
            <a:off x="10222992" y="6647688"/>
            <a:ext cx="1554480" cy="182880"/>
          </a:xfrm>
          <a:prstGeom prst="rect">
            <a:avLst/>
          </a:prstGeom>
          <a:noFill/>
        </p:spPr>
        <p:txBody>
          <a:bodyPr wrap="square" lIns="0" tIns="0" rIns="0" bIns="0" anchor="t">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0515600" cy="274320"/>
          </a:xfrm>
          <a:prstGeom prst="rect">
            <a:avLst/>
          </a:prstGeom>
          <a:noFill/>
        </p:spPr>
        <p:txBody>
          <a:bodyPr wrap="square" lIns="0" tIns="0" rIns="0" bIns="0" anchor="t">
            <a:spAutoFit/>
          </a:bodyPr>
          <a:lstStyle/>
          <a:p>
            <a:pPr algn="l">
              <a:lnSpc>
                <a:spcPct val="100000"/>
              </a:lnSpc>
            </a:pPr>
            <a:r>
              <a:rPr sz="1100" b="1" i="0">
                <a:solidFill>
                  <a:srgbClr val="B8872E"/>
                </a:solidFill>
                <a:latin typeface="Calibri"/>
              </a:rPr>
              <a:t>BACKGROUND &amp; PROBLEM</a:t>
            </a:r>
          </a:p>
        </p:txBody>
      </p:sp>
      <p:sp>
        <p:nvSpPr>
          <p:cNvPr id="3" name="TextBox 2"/>
          <p:cNvSpPr txBox="1"/>
          <p:nvPr/>
        </p:nvSpPr>
        <p:spPr>
          <a:xfrm>
            <a:off x="502920" y="438912"/>
            <a:ext cx="10515600" cy="594360"/>
          </a:xfrm>
          <a:prstGeom prst="rect">
            <a:avLst/>
          </a:prstGeom>
          <a:noFill/>
        </p:spPr>
        <p:txBody>
          <a:bodyPr wrap="square" lIns="0" tIns="0" rIns="0" bIns="0" anchor="t">
            <a:spAutoFit/>
          </a:bodyPr>
          <a:lstStyle/>
          <a:p>
            <a:pPr algn="l">
              <a:lnSpc>
                <a:spcPct val="100000"/>
              </a:lnSpc>
            </a:pPr>
            <a:r>
              <a:rPr sz="2600" b="1" i="0">
                <a:solidFill>
                  <a:srgbClr val="14255C"/>
                </a:solidFill>
                <a:latin typeface="Calibri"/>
              </a:rPr>
              <a:t>Today vs. Tomorrow: Two Patterns</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02920" y="1371600"/>
            <a:ext cx="5349240" cy="4297680"/>
          </a:xfrm>
          <a:prstGeom prst="roundRect">
            <a:avLst>
              <a:gd name="adj" fmla="val 5000"/>
            </a:avLst>
          </a:prstGeom>
          <a:solidFill>
            <a:srgbClr val="F3F1E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54480"/>
            <a:ext cx="4800600" cy="274320"/>
          </a:xfrm>
          <a:prstGeom prst="rect">
            <a:avLst/>
          </a:prstGeom>
          <a:noFill/>
        </p:spPr>
        <p:txBody>
          <a:bodyPr wrap="square" lIns="0" tIns="0" rIns="0" bIns="0" anchor="t">
            <a:spAutoFit/>
          </a:bodyPr>
          <a:lstStyle/>
          <a:p>
            <a:pPr algn="l">
              <a:lnSpc>
                <a:spcPct val="100000"/>
              </a:lnSpc>
            </a:pPr>
            <a:r>
              <a:rPr sz="1100" b="1" i="0">
                <a:solidFill>
                  <a:srgbClr val="7C8493"/>
                </a:solidFill>
                <a:latin typeface="Calibri"/>
              </a:rPr>
              <a:t>TODAY — NEW BUSINESS / QUOTES</a:t>
            </a:r>
          </a:p>
        </p:txBody>
      </p:sp>
      <p:sp>
        <p:nvSpPr>
          <p:cNvPr id="7" name="Rounded Rectangle 6"/>
          <p:cNvSpPr/>
          <p:nvPr/>
        </p:nvSpPr>
        <p:spPr>
          <a:xfrm>
            <a:off x="685800" y="2057400"/>
            <a:ext cx="1508760" cy="914400"/>
          </a:xfrm>
          <a:prstGeom prst="roundRect">
            <a:avLst>
              <a:gd name="adj" fmla="val 10000"/>
            </a:avLst>
          </a:prstGeom>
          <a:solidFill>
            <a:srgbClr val="394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057400"/>
            <a:ext cx="1508760" cy="914400"/>
          </a:xfrm>
          <a:prstGeom prst="rect">
            <a:avLst/>
          </a:prstGeom>
          <a:noFill/>
        </p:spPr>
        <p:txBody>
          <a:bodyPr wrap="square" lIns="0" tIns="0" rIns="0" bIns="0" anchor="ctr">
            <a:spAutoFit/>
          </a:bodyPr>
          <a:lstStyle/>
          <a:p>
            <a:pPr algn="ctr">
              <a:lnSpc>
                <a:spcPct val="95000"/>
              </a:lnSpc>
            </a:pPr>
            <a:r>
              <a:rPr sz="950" b="1" i="0">
                <a:solidFill>
                  <a:srgbClr val="FFFFFF"/>
                </a:solidFill>
                <a:latin typeface="Calibri"/>
              </a:rPr>
              <a:t>Rating</a:t>
            </a:r>
          </a:p>
          <a:p>
            <a:pPr algn="ctr">
              <a:lnSpc>
                <a:spcPct val="95000"/>
              </a:lnSpc>
            </a:pPr>
            <a:r>
              <a:rPr sz="950" b="1" i="0">
                <a:solidFill>
                  <a:srgbClr val="FFFFFF"/>
                </a:solidFill>
                <a:latin typeface="Calibri"/>
              </a:rPr>
              <a:t>Variables</a:t>
            </a:r>
          </a:p>
        </p:txBody>
      </p:sp>
      <p:sp>
        <p:nvSpPr>
          <p:cNvPr id="9" name="Rounded Rectangle 8"/>
          <p:cNvSpPr/>
          <p:nvPr/>
        </p:nvSpPr>
        <p:spPr>
          <a:xfrm>
            <a:off x="2423160" y="2057400"/>
            <a:ext cx="1508760" cy="914400"/>
          </a:xfrm>
          <a:prstGeom prst="roundRect">
            <a:avLst>
              <a:gd name="adj" fmla="val 10000"/>
            </a:avLst>
          </a:prstGeom>
          <a:solidFill>
            <a:srgbClr val="394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23160" y="2057400"/>
            <a:ext cx="1508760" cy="914400"/>
          </a:xfrm>
          <a:prstGeom prst="rect">
            <a:avLst/>
          </a:prstGeom>
          <a:noFill/>
        </p:spPr>
        <p:txBody>
          <a:bodyPr wrap="square" lIns="0" tIns="0" rIns="0" bIns="0" anchor="ctr">
            <a:spAutoFit/>
          </a:bodyPr>
          <a:lstStyle/>
          <a:p>
            <a:pPr algn="ctr">
              <a:lnSpc>
                <a:spcPct val="95000"/>
              </a:lnSpc>
            </a:pPr>
            <a:r>
              <a:rPr sz="950" b="1" i="0">
                <a:solidFill>
                  <a:srgbClr val="FFFFFF"/>
                </a:solidFill>
                <a:latin typeface="Calibri"/>
              </a:rPr>
              <a:t>Model Hosting</a:t>
            </a:r>
          </a:p>
          <a:p>
            <a:pPr algn="ctr">
              <a:lnSpc>
                <a:spcPct val="95000"/>
              </a:lnSpc>
            </a:pPr>
            <a:r>
              <a:rPr sz="950" b="1" i="0">
                <a:solidFill>
                  <a:srgbClr val="FFFFFF"/>
                </a:solidFill>
                <a:latin typeface="Calibri"/>
              </a:rPr>
              <a:t>Platform</a:t>
            </a:r>
          </a:p>
          <a:p>
            <a:pPr algn="ctr">
              <a:lnSpc>
                <a:spcPct val="95000"/>
              </a:lnSpc>
            </a:pPr>
            <a:r>
              <a:rPr sz="950" b="1" i="0">
                <a:solidFill>
                  <a:srgbClr val="FFFFFF"/>
                </a:solidFill>
                <a:latin typeface="Calibri"/>
              </a:rPr>
              <a:t>(real-time transform)</a:t>
            </a:r>
          </a:p>
        </p:txBody>
      </p:sp>
      <p:sp>
        <p:nvSpPr>
          <p:cNvPr id="11" name="Rounded Rectangle 10"/>
          <p:cNvSpPr/>
          <p:nvPr/>
        </p:nvSpPr>
        <p:spPr>
          <a:xfrm>
            <a:off x="4160520" y="2057400"/>
            <a:ext cx="1508760" cy="914400"/>
          </a:xfrm>
          <a:prstGeom prst="roundRect">
            <a:avLst>
              <a:gd name="adj" fmla="val 10000"/>
            </a:avLst>
          </a:prstGeom>
          <a:solidFill>
            <a:srgbClr val="394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60520" y="2057400"/>
            <a:ext cx="1508760" cy="914400"/>
          </a:xfrm>
          <a:prstGeom prst="rect">
            <a:avLst/>
          </a:prstGeom>
          <a:noFill/>
        </p:spPr>
        <p:txBody>
          <a:bodyPr wrap="square" lIns="0" tIns="0" rIns="0" bIns="0" anchor="ctr">
            <a:spAutoFit/>
          </a:bodyPr>
          <a:lstStyle/>
          <a:p>
            <a:pPr algn="ctr">
              <a:lnSpc>
                <a:spcPct val="95000"/>
              </a:lnSpc>
            </a:pPr>
            <a:r>
              <a:rPr sz="950" b="1" i="0">
                <a:solidFill>
                  <a:srgbClr val="FFFFFF"/>
                </a:solidFill>
                <a:latin typeface="Calibri"/>
              </a:rPr>
              <a:t>Response</a:t>
            </a:r>
          </a:p>
          <a:p>
            <a:pPr algn="ctr">
              <a:lnSpc>
                <a:spcPct val="95000"/>
              </a:lnSpc>
            </a:pPr>
            <a:r>
              <a:rPr sz="950" b="1" i="0">
                <a:solidFill>
                  <a:srgbClr val="FFFFFF"/>
                </a:solidFill>
                <a:latin typeface="Calibri"/>
              </a:rPr>
              <a:t>to Caller</a:t>
            </a:r>
          </a:p>
        </p:txBody>
      </p:sp>
      <p:cxnSp>
        <p:nvCxnSpPr>
          <p:cNvPr id="13" name="Connector 12"/>
          <p:cNvCxnSpPr/>
          <p:nvPr/>
        </p:nvCxnSpPr>
        <p:spPr>
          <a:xfrm>
            <a:off x="2194560" y="2514600"/>
            <a:ext cx="228600" cy="0"/>
          </a:xfrm>
          <a:prstGeom prst="line">
            <a:avLst/>
          </a:prstGeom>
          <a:ln w="22225">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931920" y="2514600"/>
            <a:ext cx="228600" cy="0"/>
          </a:xfrm>
          <a:prstGeom prst="line">
            <a:avLst/>
          </a:prstGeom>
          <a:ln w="22225">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91739" y="3154680"/>
            <a:ext cx="1371600" cy="365760"/>
          </a:xfrm>
          <a:prstGeom prst="roundRect">
            <a:avLst>
              <a:gd name="adj" fmla="val 5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491739" y="3154680"/>
            <a:ext cx="1371600" cy="365760"/>
          </a:xfrm>
          <a:prstGeom prst="rect">
            <a:avLst/>
          </a:prstGeom>
          <a:noFill/>
        </p:spPr>
        <p:txBody>
          <a:bodyPr wrap="square" lIns="0" tIns="0" rIns="0" bIns="0" anchor="ctr">
            <a:spAutoFit/>
          </a:bodyPr>
          <a:lstStyle/>
          <a:p>
            <a:pPr algn="ctr">
              <a:lnSpc>
                <a:spcPct val="100000"/>
              </a:lnSpc>
            </a:pPr>
            <a:r>
              <a:rPr sz="1000" b="1" i="0">
                <a:solidFill>
                  <a:srgbClr val="FFFFFF"/>
                </a:solidFill>
                <a:latin typeface="Calibri"/>
              </a:rPr>
              <a:t>~100 ms round trip</a:t>
            </a:r>
          </a:p>
        </p:txBody>
      </p:sp>
      <p:sp>
        <p:nvSpPr>
          <p:cNvPr id="17" name="TextBox 16"/>
          <p:cNvSpPr txBox="1"/>
          <p:nvPr/>
        </p:nvSpPr>
        <p:spPr>
          <a:xfrm>
            <a:off x="777240" y="3749039"/>
            <a:ext cx="4800600" cy="1188720"/>
          </a:xfrm>
          <a:prstGeom prst="rect">
            <a:avLst/>
          </a:prstGeom>
          <a:noFill/>
        </p:spPr>
        <p:txBody>
          <a:bodyPr wrap="square" lIns="0" tIns="0" rIns="0" bIns="0" anchor="t">
            <a:spAutoFit/>
          </a:bodyPr>
          <a:lstStyle/>
          <a:p>
            <a:pPr algn="l">
              <a:lnSpc>
                <a:spcPct val="105000"/>
              </a:lnSpc>
              <a:spcAft>
                <a:spcPts val="800"/>
              </a:spcAft>
            </a:pPr>
            <a:r>
              <a:rPr sz="1150">
                <a:solidFill>
                  <a:srgbClr val="222733"/>
                </a:solidFill>
                <a:latin typeface="Calibri"/>
              </a:rPr>
              <a:t>•  Brand-new customer — no prior history to draw on</a:t>
            </a:r>
          </a:p>
          <a:p>
            <a:pPr algn="l">
              <a:lnSpc>
                <a:spcPct val="105000"/>
              </a:lnSpc>
              <a:spcAft>
                <a:spcPts val="800"/>
              </a:spcAft>
            </a:pPr>
            <a:r>
              <a:rPr sz="1150">
                <a:solidFill>
                  <a:srgbClr val="222733"/>
                </a:solidFill>
                <a:latin typeface="Calibri"/>
              </a:rPr>
              <a:t>•  Every feature must be derived at the moment of the quote</a:t>
            </a:r>
          </a:p>
          <a:p>
            <a:pPr algn="l">
              <a:lnSpc>
                <a:spcPct val="105000"/>
              </a:lnSpc>
              <a:spcAft>
                <a:spcPts val="800"/>
              </a:spcAft>
            </a:pPr>
            <a:r>
              <a:rPr sz="1150">
                <a:solidFill>
                  <a:srgbClr val="222733"/>
                </a:solidFill>
                <a:latin typeface="Calibri"/>
              </a:rPr>
              <a:t>•  This is what most of our patterns focus on today</a:t>
            </a:r>
          </a:p>
        </p:txBody>
      </p:sp>
      <p:sp>
        <p:nvSpPr>
          <p:cNvPr id="18" name="Rounded Rectangle 17"/>
          <p:cNvSpPr/>
          <p:nvPr/>
        </p:nvSpPr>
        <p:spPr>
          <a:xfrm>
            <a:off x="6126479" y="1371600"/>
            <a:ext cx="5562295" cy="4297680"/>
          </a:xfrm>
          <a:prstGeom prst="roundRect">
            <a:avLst>
              <a:gd name="adj" fmla="val 5000"/>
            </a:avLst>
          </a:prstGeom>
          <a:solidFill>
            <a:srgbClr val="14255C"/>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799" y="1554480"/>
            <a:ext cx="5013655" cy="274320"/>
          </a:xfrm>
          <a:prstGeom prst="rect">
            <a:avLst/>
          </a:prstGeom>
          <a:noFill/>
        </p:spPr>
        <p:txBody>
          <a:bodyPr wrap="square" lIns="0" tIns="0" rIns="0" bIns="0" anchor="t">
            <a:spAutoFit/>
          </a:bodyPr>
          <a:lstStyle/>
          <a:p>
            <a:pPr algn="l">
              <a:lnSpc>
                <a:spcPct val="100000"/>
              </a:lnSpc>
            </a:pPr>
            <a:r>
              <a:rPr sz="1100" b="1" i="0">
                <a:solidFill>
                  <a:srgbClr val="FFFFFF"/>
                </a:solidFill>
                <a:latin typeface="Calibri"/>
              </a:rPr>
              <a:t>TOMORROW — EXISTING CUSTOMERS</a:t>
            </a:r>
          </a:p>
        </p:txBody>
      </p:sp>
      <p:sp>
        <p:nvSpPr>
          <p:cNvPr id="20" name="TextBox 19"/>
          <p:cNvSpPr txBox="1"/>
          <p:nvPr/>
        </p:nvSpPr>
        <p:spPr>
          <a:xfrm>
            <a:off x="6400799" y="2011680"/>
            <a:ext cx="5013655" cy="640080"/>
          </a:xfrm>
          <a:prstGeom prst="rect">
            <a:avLst/>
          </a:prstGeom>
          <a:noFill/>
        </p:spPr>
        <p:txBody>
          <a:bodyPr wrap="square" lIns="0" tIns="0" rIns="0" bIns="0" anchor="t">
            <a:spAutoFit/>
          </a:bodyPr>
          <a:lstStyle/>
          <a:p>
            <a:pPr algn="l">
              <a:lnSpc>
                <a:spcPct val="115000"/>
              </a:lnSpc>
            </a:pPr>
            <a:r>
              <a:rPr sz="1250" b="0" i="1">
                <a:solidFill>
                  <a:srgbClr val="C9D8EC"/>
                </a:solidFill>
                <a:latin typeface="Calibri"/>
              </a:rPr>
              <a:t>Think about how Uber already knows about you before you open the app — that's pre-derived data at the customer level.</a:t>
            </a:r>
          </a:p>
        </p:txBody>
      </p:sp>
      <p:sp>
        <p:nvSpPr>
          <p:cNvPr id="21" name="TextBox 20"/>
          <p:cNvSpPr txBox="1"/>
          <p:nvPr/>
        </p:nvSpPr>
        <p:spPr>
          <a:xfrm>
            <a:off x="6400799" y="2880360"/>
            <a:ext cx="5013655" cy="2377440"/>
          </a:xfrm>
          <a:prstGeom prst="rect">
            <a:avLst/>
          </a:prstGeom>
          <a:noFill/>
        </p:spPr>
        <p:txBody>
          <a:bodyPr wrap="square" lIns="0" tIns="0" rIns="0" bIns="0" anchor="t">
            <a:spAutoFit/>
          </a:bodyPr>
          <a:lstStyle/>
          <a:p>
            <a:pPr algn="l">
              <a:lnSpc>
                <a:spcPct val="105000"/>
              </a:lnSpc>
              <a:spcAft>
                <a:spcPts val="1200"/>
              </a:spcAft>
            </a:pPr>
            <a:r>
              <a:rPr sz="1250">
                <a:solidFill>
                  <a:srgbClr val="FFFFFF"/>
                </a:solidFill>
                <a:latin typeface="Calibri"/>
              </a:rPr>
              <a:t>•  Retention and other use cases already have transaction history</a:t>
            </a:r>
          </a:p>
          <a:p>
            <a:pPr algn="l">
              <a:lnSpc>
                <a:spcPct val="105000"/>
              </a:lnSpc>
              <a:spcAft>
                <a:spcPts val="1200"/>
              </a:spcAft>
            </a:pPr>
            <a:r>
              <a:rPr sz="1250">
                <a:solidFill>
                  <a:srgbClr val="FFFFFF"/>
                </a:solidFill>
                <a:latin typeface="Calibri"/>
              </a:rPr>
              <a:t>•  We don't need to compute everything at request time</a:t>
            </a:r>
          </a:p>
          <a:p>
            <a:pPr algn="l">
              <a:lnSpc>
                <a:spcPct val="105000"/>
              </a:lnSpc>
              <a:spcAft>
                <a:spcPts val="1200"/>
              </a:spcAft>
            </a:pPr>
            <a:r>
              <a:rPr sz="1250">
                <a:solidFill>
                  <a:srgbClr val="FFFFFF"/>
                </a:solidFill>
                <a:latin typeface="Calibri"/>
              </a:rPr>
              <a:t>•  This project explores how far that pattern can go</a:t>
            </a:r>
          </a:p>
        </p:txBody>
      </p:sp>
      <p:sp>
        <p:nvSpPr>
          <p:cNvPr id="22" name="TextBox 21"/>
          <p:cNvSpPr txBox="1"/>
          <p:nvPr/>
        </p:nvSpPr>
        <p:spPr>
          <a:xfrm>
            <a:off x="502920" y="5925312"/>
            <a:ext cx="11201400" cy="548640"/>
          </a:xfrm>
          <a:prstGeom prst="rect">
            <a:avLst/>
          </a:prstGeom>
          <a:noFill/>
        </p:spPr>
        <p:txBody>
          <a:bodyPr wrap="square" lIns="0" tIns="0" rIns="0" bIns="0" anchor="t">
            <a:spAutoFit/>
          </a:bodyPr>
          <a:lstStyle/>
          <a:p>
            <a:pPr algn="ctr">
              <a:lnSpc>
                <a:spcPct val="115000"/>
              </a:lnSpc>
            </a:pPr>
            <a:r>
              <a:rPr sz="1250" b="1" i="1">
                <a:solidFill>
                  <a:srgbClr val="14255C"/>
                </a:solidFill>
                <a:latin typeface="Calibri"/>
              </a:rPr>
              <a:t>Most industry focus — including ours today — has been perfecting the real-time, new-business pattern. This project asks: what's the best we can do with the other one?</a:t>
            </a:r>
          </a:p>
        </p:txBody>
      </p:sp>
      <p:cxnSp>
        <p:nvCxnSpPr>
          <p:cNvPr id="23" name="Connector 22"/>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11480" y="6528816"/>
            <a:ext cx="548640" cy="274320"/>
          </a:xfrm>
          <a:prstGeom prst="rect">
            <a:avLst/>
          </a:prstGeom>
          <a:noFill/>
        </p:spPr>
        <p:txBody>
          <a:bodyPr wrap="square" lIns="0" tIns="0" rIns="0" bIns="0" anchor="t">
            <a:spAutoFit/>
          </a:bodyPr>
          <a:lstStyle/>
          <a:p>
            <a:pPr algn="l">
              <a:lnSpc>
                <a:spcPct val="100000"/>
              </a:lnSpc>
            </a:pPr>
            <a:r>
              <a:rPr sz="1050" b="0" i="0">
                <a:solidFill>
                  <a:srgbClr val="7C8493"/>
                </a:solidFill>
                <a:latin typeface="Calibri"/>
              </a:rPr>
              <a:t>4</a:t>
            </a:r>
          </a:p>
        </p:txBody>
      </p:sp>
      <p:sp>
        <p:nvSpPr>
          <p:cNvPr id="25" name="Block Arc 24"/>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22992" y="6473952"/>
            <a:ext cx="1554480" cy="201168"/>
          </a:xfrm>
          <a:prstGeom prst="rect">
            <a:avLst/>
          </a:prstGeom>
          <a:noFill/>
        </p:spPr>
        <p:txBody>
          <a:bodyPr wrap="square" lIns="0" tIns="0" rIns="0" bIns="0" anchor="t">
            <a:spAutoFit/>
          </a:bodyPr>
          <a:lstStyle/>
          <a:p>
            <a:pPr algn="l">
              <a:lnSpc>
                <a:spcPct val="100000"/>
              </a:lnSpc>
            </a:pPr>
            <a:r>
              <a:rPr sz="1050" b="1" i="0">
                <a:solidFill>
                  <a:srgbClr val="14255C"/>
                </a:solidFill>
                <a:latin typeface="Calibri"/>
              </a:rPr>
              <a:t>FARMERS</a:t>
            </a:r>
          </a:p>
        </p:txBody>
      </p:sp>
      <p:sp>
        <p:nvSpPr>
          <p:cNvPr id="27" name="TextBox 26"/>
          <p:cNvSpPr txBox="1"/>
          <p:nvPr/>
        </p:nvSpPr>
        <p:spPr>
          <a:xfrm>
            <a:off x="10222992" y="6647688"/>
            <a:ext cx="1554480" cy="182880"/>
          </a:xfrm>
          <a:prstGeom prst="rect">
            <a:avLst/>
          </a:prstGeom>
          <a:noFill/>
        </p:spPr>
        <p:txBody>
          <a:bodyPr wrap="square" lIns="0" tIns="0" rIns="0" bIns="0" anchor="t">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0515600" cy="274320"/>
          </a:xfrm>
          <a:prstGeom prst="rect">
            <a:avLst/>
          </a:prstGeom>
          <a:noFill/>
        </p:spPr>
        <p:txBody>
          <a:bodyPr wrap="square" lIns="0" tIns="0" rIns="0" bIns="0" anchor="t">
            <a:spAutoFit/>
          </a:bodyPr>
          <a:lstStyle/>
          <a:p>
            <a:pPr algn="l">
              <a:lnSpc>
                <a:spcPct val="100000"/>
              </a:lnSpc>
            </a:pPr>
            <a:r>
              <a:rPr sz="1100" b="1" i="0">
                <a:solidFill>
                  <a:srgbClr val="B8872E"/>
                </a:solidFill>
                <a:latin typeface="Calibri"/>
              </a:rPr>
              <a:t>THE SOLUTION: FEATURE STORE</a:t>
            </a:r>
          </a:p>
        </p:txBody>
      </p:sp>
      <p:sp>
        <p:nvSpPr>
          <p:cNvPr id="3" name="TextBox 2"/>
          <p:cNvSpPr txBox="1"/>
          <p:nvPr/>
        </p:nvSpPr>
        <p:spPr>
          <a:xfrm>
            <a:off x="502920" y="438912"/>
            <a:ext cx="10515600" cy="594360"/>
          </a:xfrm>
          <a:prstGeom prst="rect">
            <a:avLst/>
          </a:prstGeom>
          <a:noFill/>
        </p:spPr>
        <p:txBody>
          <a:bodyPr wrap="square" lIns="0" tIns="0" rIns="0" bIns="0" anchor="t">
            <a:spAutoFit/>
          </a:bodyPr>
          <a:lstStyle/>
          <a:p>
            <a:pPr algn="l">
              <a:lnSpc>
                <a:spcPct val="100000"/>
              </a:lnSpc>
            </a:pPr>
            <a:r>
              <a:rPr sz="2600" b="1" i="0">
                <a:solidFill>
                  <a:srgbClr val="14255C"/>
                </a:solidFill>
                <a:latin typeface="Calibri"/>
              </a:rPr>
              <a:t>What Is a Feature Store?</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280160" y="1417320"/>
          <a:ext cx="9601200" cy="14630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487680">
                <a:tc>
                  <a:txBody>
                    <a:bodyPr/>
                    <a:lstStyle/>
                    <a:p>
                      <a:pPr algn="ctr"/>
                      <a:r>
                        <a:rPr sz="1000" b="1">
                          <a:solidFill>
                            <a:srgbClr val="FFFFFF"/>
                          </a:solidFill>
                          <a:latin typeface="Calibri"/>
                        </a:rPr>
                        <a:t>POLICY_ID</a:t>
                      </a:r>
                    </a:p>
                  </a:txBody>
                  <a:tcPr anchor="ctr">
                    <a:solidFill>
                      <a:srgbClr val="14255C"/>
                    </a:solidFill>
                  </a:tcPr>
                </a:tc>
                <a:tc>
                  <a:txBody>
                    <a:bodyPr/>
                    <a:lstStyle/>
                    <a:p>
                      <a:pPr algn="ctr"/>
                      <a:r>
                        <a:rPr sz="1000" b="1">
                          <a:solidFill>
                            <a:srgbClr val="FFFFFF"/>
                          </a:solidFill>
                          <a:latin typeface="Calibri"/>
                        </a:rPr>
                        <a:t>Feature 1</a:t>
                      </a:r>
                    </a:p>
                  </a:txBody>
                  <a:tcPr anchor="ctr">
                    <a:solidFill>
                      <a:srgbClr val="14255C"/>
                    </a:solidFill>
                  </a:tcPr>
                </a:tc>
                <a:tc>
                  <a:txBody>
                    <a:bodyPr/>
                    <a:lstStyle/>
                    <a:p>
                      <a:pPr algn="ctr"/>
                      <a:r>
                        <a:rPr sz="1000" b="1">
                          <a:solidFill>
                            <a:srgbClr val="FFFFFF"/>
                          </a:solidFill>
                          <a:latin typeface="Calibri"/>
                        </a:rPr>
                        <a:t>Feature 2</a:t>
                      </a:r>
                    </a:p>
                  </a:txBody>
                  <a:tcPr anchor="ctr">
                    <a:solidFill>
                      <a:srgbClr val="14255C"/>
                    </a:solidFill>
                  </a:tcPr>
                </a:tc>
                <a:tc>
                  <a:txBody>
                    <a:bodyPr/>
                    <a:lstStyle/>
                    <a:p>
                      <a:pPr algn="ctr"/>
                      <a:r>
                        <a:rPr sz="1000" b="1">
                          <a:solidFill>
                            <a:srgbClr val="FFFFFF"/>
                          </a:solidFill>
                          <a:latin typeface="Calibri"/>
                        </a:rPr>
                        <a:t>...</a:t>
                      </a:r>
                    </a:p>
                  </a:txBody>
                  <a:tcPr anchor="ctr">
                    <a:solidFill>
                      <a:srgbClr val="14255C"/>
                    </a:solidFill>
                  </a:tcPr>
                </a:tc>
                <a:tc>
                  <a:txBody>
                    <a:bodyPr/>
                    <a:lstStyle/>
                    <a:p>
                      <a:pPr algn="ctr"/>
                      <a:r>
                        <a:rPr sz="1000" b="1">
                          <a:solidFill>
                            <a:srgbClr val="FFFFFF"/>
                          </a:solidFill>
                          <a:latin typeface="Calibri"/>
                        </a:rPr>
                        <a:t>Feature N</a:t>
                      </a:r>
                    </a:p>
                  </a:txBody>
                  <a:tcPr anchor="ctr">
                    <a:solidFill>
                      <a:srgbClr val="14255C"/>
                    </a:solidFill>
                  </a:tcPr>
                </a:tc>
                <a:tc>
                  <a:txBody>
                    <a:bodyPr/>
                    <a:lstStyle/>
                    <a:p>
                      <a:pPr algn="ctr"/>
                      <a:r>
                        <a:rPr sz="1000" b="1">
                          <a:solidFill>
                            <a:srgbClr val="FFFFFF"/>
                          </a:solidFill>
                          <a:latin typeface="Calibri"/>
                        </a:rPr>
                        <a:t>Model Score 1</a:t>
                      </a:r>
                    </a:p>
                  </a:txBody>
                  <a:tcPr anchor="ctr">
                    <a:solidFill>
                      <a:srgbClr val="14255C"/>
                    </a:solidFill>
                  </a:tcPr>
                </a:tc>
                <a:tc>
                  <a:txBody>
                    <a:bodyPr/>
                    <a:lstStyle/>
                    <a:p>
                      <a:pPr algn="ctr"/>
                      <a:r>
                        <a:rPr sz="1000" b="1">
                          <a:solidFill>
                            <a:srgbClr val="FFFFFF"/>
                          </a:solidFill>
                          <a:latin typeface="Calibri"/>
                        </a:rPr>
                        <a:t>Model Score 2</a:t>
                      </a:r>
                    </a:p>
                  </a:txBody>
                  <a:tcPr anchor="ctr">
                    <a:solidFill>
                      <a:srgbClr val="14255C"/>
                    </a:solidFill>
                  </a:tcPr>
                </a:tc>
                <a:extLst>
                  <a:ext uri="{0D108BD9-81ED-4DB2-BD59-A6C34878D82A}">
                    <a16:rowId xmlns:a16="http://schemas.microsoft.com/office/drawing/2014/main" val="10000"/>
                  </a:ext>
                </a:extLst>
              </a:tr>
              <a:tr h="487680">
                <a:tc>
                  <a:txBody>
                    <a:bodyPr/>
                    <a:lstStyle/>
                    <a:p>
                      <a:pPr algn="ctr"/>
                      <a:r>
                        <a:rPr sz="1000">
                          <a:solidFill>
                            <a:srgbClr val="14255C"/>
                          </a:solidFill>
                          <a:latin typeface="Calibri"/>
                        </a:rPr>
                        <a:t>POLICY-1001</a:t>
                      </a:r>
                    </a:p>
                  </a:txBody>
                  <a:tcPr anchor="ctr">
                    <a:solidFill>
                      <a:srgbClr val="F0DDEC"/>
                    </a:solidFill>
                  </a:tcPr>
                </a:tc>
                <a:tc>
                  <a:txBody>
                    <a:bodyPr/>
                    <a:lstStyle/>
                    <a:p>
                      <a:pPr algn="ctr"/>
                      <a:r>
                        <a:rPr sz="1000">
                          <a:solidFill>
                            <a:srgbClr val="14255C"/>
                          </a:solidFill>
                          <a:latin typeface="Calibri"/>
                        </a:rPr>
                        <a:t>2</a:t>
                      </a:r>
                    </a:p>
                  </a:txBody>
                  <a:tcPr anchor="ctr">
                    <a:solidFill>
                      <a:srgbClr val="F0DDEC"/>
                    </a:solidFill>
                  </a:tcPr>
                </a:tc>
                <a:tc>
                  <a:txBody>
                    <a:bodyPr/>
                    <a:lstStyle/>
                    <a:p>
                      <a:pPr algn="ctr"/>
                      <a:r>
                        <a:rPr sz="1000">
                          <a:solidFill>
                            <a:srgbClr val="14255C"/>
                          </a:solidFill>
                          <a:latin typeface="Calibri"/>
                        </a:rPr>
                        <a:t>178</a:t>
                      </a:r>
                    </a:p>
                  </a:txBody>
                  <a:tcPr anchor="ctr">
                    <a:solidFill>
                      <a:srgbClr val="F0DDEC"/>
                    </a:solidFill>
                  </a:tcPr>
                </a:tc>
                <a:tc>
                  <a:txBody>
                    <a:bodyPr/>
                    <a:lstStyle/>
                    <a:p>
                      <a:pPr algn="ctr"/>
                      <a:r>
                        <a:rPr sz="1000">
                          <a:solidFill>
                            <a:srgbClr val="14255C"/>
                          </a:solidFill>
                          <a:latin typeface="Calibri"/>
                        </a:rPr>
                        <a:t>...</a:t>
                      </a:r>
                    </a:p>
                  </a:txBody>
                  <a:tcPr anchor="ctr">
                    <a:solidFill>
                      <a:srgbClr val="F0DDEC"/>
                    </a:solidFill>
                  </a:tcPr>
                </a:tc>
                <a:tc>
                  <a:txBody>
                    <a:bodyPr/>
                    <a:lstStyle/>
                    <a:p>
                      <a:pPr algn="ctr"/>
                      <a:r>
                        <a:rPr sz="1000">
                          <a:solidFill>
                            <a:srgbClr val="14255C"/>
                          </a:solidFill>
                          <a:latin typeface="Calibri"/>
                        </a:rPr>
                        <a:t>M</a:t>
                      </a:r>
                    </a:p>
                  </a:txBody>
                  <a:tcPr anchor="ctr">
                    <a:solidFill>
                      <a:srgbClr val="F0DDEC"/>
                    </a:solidFill>
                  </a:tcPr>
                </a:tc>
                <a:tc>
                  <a:txBody>
                    <a:bodyPr/>
                    <a:lstStyle/>
                    <a:p>
                      <a:pPr algn="ctr"/>
                      <a:r>
                        <a:rPr sz="1000">
                          <a:solidFill>
                            <a:srgbClr val="14255C"/>
                          </a:solidFill>
                          <a:latin typeface="Calibri"/>
                        </a:rPr>
                        <a:t>0.82</a:t>
                      </a:r>
                    </a:p>
                  </a:txBody>
                  <a:tcPr anchor="ctr">
                    <a:solidFill>
                      <a:srgbClr val="F0DDEC"/>
                    </a:solidFill>
                  </a:tcPr>
                </a:tc>
                <a:tc>
                  <a:txBody>
                    <a:bodyPr/>
                    <a:lstStyle/>
                    <a:p>
                      <a:pPr algn="ctr"/>
                      <a:r>
                        <a:rPr sz="1000">
                          <a:solidFill>
                            <a:srgbClr val="14255C"/>
                          </a:solidFill>
                          <a:latin typeface="Calibri"/>
                        </a:rPr>
                        <a:t>0.14</a:t>
                      </a:r>
                    </a:p>
                  </a:txBody>
                  <a:tcPr anchor="ctr">
                    <a:solidFill>
                      <a:srgbClr val="F0DDEC"/>
                    </a:solidFill>
                  </a:tcPr>
                </a:tc>
                <a:extLst>
                  <a:ext uri="{0D108BD9-81ED-4DB2-BD59-A6C34878D82A}">
                    <a16:rowId xmlns:a16="http://schemas.microsoft.com/office/drawing/2014/main" val="10001"/>
                  </a:ext>
                </a:extLst>
              </a:tr>
              <a:tr h="487680">
                <a:tc>
                  <a:txBody>
                    <a:bodyPr/>
                    <a:lstStyle/>
                    <a:p>
                      <a:pPr algn="ctr"/>
                      <a:r>
                        <a:rPr sz="1000">
                          <a:solidFill>
                            <a:srgbClr val="14255C"/>
                          </a:solidFill>
                          <a:latin typeface="Calibri"/>
                        </a:rPr>
                        <a:t>POLICY-1002</a:t>
                      </a:r>
                    </a:p>
                  </a:txBody>
                  <a:tcPr anchor="ctr">
                    <a:solidFill>
                      <a:srgbClr val="FFFFFF"/>
                    </a:solidFill>
                  </a:tcPr>
                </a:tc>
                <a:tc>
                  <a:txBody>
                    <a:bodyPr/>
                    <a:lstStyle/>
                    <a:p>
                      <a:pPr algn="ctr"/>
                      <a:r>
                        <a:rPr sz="1000">
                          <a:solidFill>
                            <a:srgbClr val="14255C"/>
                          </a:solidFill>
                          <a:latin typeface="Calibri"/>
                        </a:rPr>
                        <a:t>1</a:t>
                      </a:r>
                    </a:p>
                  </a:txBody>
                  <a:tcPr anchor="ctr">
                    <a:solidFill>
                      <a:srgbClr val="FFFFFF"/>
                    </a:solidFill>
                  </a:tcPr>
                </a:tc>
                <a:tc>
                  <a:txBody>
                    <a:bodyPr/>
                    <a:lstStyle/>
                    <a:p>
                      <a:pPr algn="ctr"/>
                      <a:r>
                        <a:rPr sz="1000">
                          <a:solidFill>
                            <a:srgbClr val="14255C"/>
                          </a:solidFill>
                          <a:latin typeface="Calibri"/>
                        </a:rPr>
                        <a:t>282</a:t>
                      </a:r>
                    </a:p>
                  </a:txBody>
                  <a:tcPr anchor="ctr">
                    <a:solidFill>
                      <a:srgbClr val="FFFFFF"/>
                    </a:solidFill>
                  </a:tcPr>
                </a:tc>
                <a:tc>
                  <a:txBody>
                    <a:bodyPr/>
                    <a:lstStyle/>
                    <a:p>
                      <a:pPr algn="ctr"/>
                      <a:r>
                        <a:rPr sz="1000">
                          <a:solidFill>
                            <a:srgbClr val="14255C"/>
                          </a:solidFill>
                          <a:latin typeface="Calibri"/>
                        </a:rPr>
                        <a:t>...</a:t>
                      </a:r>
                    </a:p>
                  </a:txBody>
                  <a:tcPr anchor="ctr">
                    <a:solidFill>
                      <a:srgbClr val="FFFFFF"/>
                    </a:solidFill>
                  </a:tcPr>
                </a:tc>
                <a:tc>
                  <a:txBody>
                    <a:bodyPr/>
                    <a:lstStyle/>
                    <a:p>
                      <a:pPr algn="ctr"/>
                      <a:r>
                        <a:rPr sz="1000">
                          <a:solidFill>
                            <a:srgbClr val="14255C"/>
                          </a:solidFill>
                          <a:latin typeface="Calibri"/>
                        </a:rPr>
                        <a:t>M</a:t>
                      </a:r>
                    </a:p>
                  </a:txBody>
                  <a:tcPr anchor="ctr">
                    <a:solidFill>
                      <a:srgbClr val="FFFFFF"/>
                    </a:solidFill>
                  </a:tcPr>
                </a:tc>
                <a:tc>
                  <a:txBody>
                    <a:bodyPr/>
                    <a:lstStyle/>
                    <a:p>
                      <a:pPr algn="ctr"/>
                      <a:r>
                        <a:rPr sz="1000">
                          <a:solidFill>
                            <a:srgbClr val="14255C"/>
                          </a:solidFill>
                          <a:latin typeface="Calibri"/>
                        </a:rPr>
                        <a:t>0.37</a:t>
                      </a:r>
                    </a:p>
                  </a:txBody>
                  <a:tcPr anchor="ctr">
                    <a:solidFill>
                      <a:srgbClr val="FFFFFF"/>
                    </a:solidFill>
                  </a:tcPr>
                </a:tc>
                <a:tc>
                  <a:txBody>
                    <a:bodyPr/>
                    <a:lstStyle/>
                    <a:p>
                      <a:pPr algn="ctr"/>
                      <a:r>
                        <a:rPr sz="1000">
                          <a:solidFill>
                            <a:srgbClr val="14255C"/>
                          </a:solidFill>
                          <a:latin typeface="Calibri"/>
                        </a:rPr>
                        <a:t>0.51</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6" name="Rounded Rectangle 5"/>
          <p:cNvSpPr/>
          <p:nvPr/>
        </p:nvSpPr>
        <p:spPr>
          <a:xfrm>
            <a:off x="2651760" y="3108960"/>
            <a:ext cx="6858000" cy="548640"/>
          </a:xfrm>
          <a:prstGeom prst="roundRect">
            <a:avLst>
              <a:gd name="adj" fmla="val 30000"/>
            </a:avLst>
          </a:prstGeom>
          <a:solidFill>
            <a:srgbClr val="B8872E"/>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51760" y="3108960"/>
            <a:ext cx="6858000" cy="548640"/>
          </a:xfrm>
          <a:prstGeom prst="rect">
            <a:avLst/>
          </a:prstGeom>
          <a:noFill/>
        </p:spPr>
        <p:txBody>
          <a:bodyPr wrap="square" lIns="0" tIns="0" rIns="0" bIns="0" anchor="ctr">
            <a:spAutoFit/>
          </a:bodyPr>
          <a:lstStyle/>
          <a:p>
            <a:pPr algn="ctr">
              <a:lnSpc>
                <a:spcPct val="100000"/>
              </a:lnSpc>
            </a:pPr>
            <a:r>
              <a:rPr sz="1300" b="1" i="0">
                <a:solidFill>
                  <a:srgbClr val="FFFFFF"/>
                </a:solidFill>
                <a:latin typeface="Calibri"/>
              </a:rPr>
              <a:t>1 row = 1 policy  ·  ~100 features  ·  ~10 model scores  ·  always current</a:t>
            </a:r>
          </a:p>
        </p:txBody>
      </p:sp>
      <p:sp>
        <p:nvSpPr>
          <p:cNvPr id="8" name="TextBox 7"/>
          <p:cNvSpPr txBox="1"/>
          <p:nvPr/>
        </p:nvSpPr>
        <p:spPr>
          <a:xfrm>
            <a:off x="822960" y="3931920"/>
            <a:ext cx="10515600" cy="1554480"/>
          </a:xfrm>
          <a:prstGeom prst="rect">
            <a:avLst/>
          </a:prstGeom>
          <a:noFill/>
        </p:spPr>
        <p:txBody>
          <a:bodyPr wrap="square" lIns="0" tIns="0" rIns="0" bIns="0" anchor="t">
            <a:spAutoFit/>
          </a:bodyPr>
          <a:lstStyle/>
          <a:p>
            <a:pPr algn="l">
              <a:lnSpc>
                <a:spcPct val="110000"/>
              </a:lnSpc>
              <a:spcAft>
                <a:spcPts val="1000"/>
              </a:spcAft>
            </a:pPr>
            <a:r>
              <a:rPr sz="1300">
                <a:solidFill>
                  <a:srgbClr val="222733"/>
                </a:solidFill>
                <a:latin typeface="Calibri"/>
              </a:rPr>
              <a:t>•  Features and their model scores need to refresh weekly, daily, or nearer real time — it depends on the use case.</a:t>
            </a:r>
          </a:p>
          <a:p>
            <a:pPr algn="l">
              <a:lnSpc>
                <a:spcPct val="110000"/>
              </a:lnSpc>
              <a:spcAft>
                <a:spcPts val="1000"/>
              </a:spcAft>
            </a:pPr>
            <a:r>
              <a:rPr sz="1300">
                <a:solidFill>
                  <a:srgbClr val="222733"/>
                </a:solidFill>
                <a:latin typeface="Calibri"/>
              </a:rPr>
              <a:t>•  We want one pattern that works for today's needs and scales to tomorrow's.</a:t>
            </a:r>
          </a:p>
          <a:p>
            <a:pPr algn="l">
              <a:lnSpc>
                <a:spcPct val="110000"/>
              </a:lnSpc>
              <a:spcAft>
                <a:spcPts val="1000"/>
              </a:spcAft>
            </a:pPr>
            <a:r>
              <a:rPr sz="1300">
                <a:solidFill>
                  <a:srgbClr val="222733"/>
                </a:solidFill>
                <a:latin typeface="Calibri"/>
              </a:rPr>
              <a:t>•  Real-time feature store: computed on request. Online feature store: pre-computed and simply looked up — that's what we're building.</a:t>
            </a:r>
          </a:p>
        </p:txBody>
      </p:sp>
      <p:cxnSp>
        <p:nvCxnSpPr>
          <p:cNvPr id="9" name="Connector 8"/>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11480" y="6528816"/>
            <a:ext cx="548640" cy="274320"/>
          </a:xfrm>
          <a:prstGeom prst="rect">
            <a:avLst/>
          </a:prstGeom>
          <a:noFill/>
        </p:spPr>
        <p:txBody>
          <a:bodyPr wrap="square" lIns="0" tIns="0" rIns="0" bIns="0" anchor="t">
            <a:spAutoFit/>
          </a:bodyPr>
          <a:lstStyle/>
          <a:p>
            <a:pPr algn="l">
              <a:lnSpc>
                <a:spcPct val="100000"/>
              </a:lnSpc>
            </a:pPr>
            <a:r>
              <a:rPr sz="1050" b="0" i="0">
                <a:solidFill>
                  <a:srgbClr val="7C8493"/>
                </a:solidFill>
                <a:latin typeface="Calibri"/>
              </a:rPr>
              <a:t>5</a:t>
            </a:r>
          </a:p>
        </p:txBody>
      </p:sp>
      <p:sp>
        <p:nvSpPr>
          <p:cNvPr id="11" name="Block Arc 10"/>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22992" y="6473952"/>
            <a:ext cx="1554480" cy="201168"/>
          </a:xfrm>
          <a:prstGeom prst="rect">
            <a:avLst/>
          </a:prstGeom>
          <a:noFill/>
        </p:spPr>
        <p:txBody>
          <a:bodyPr wrap="square" lIns="0" tIns="0" rIns="0" bIns="0" anchor="t">
            <a:spAutoFit/>
          </a:bodyPr>
          <a:lstStyle/>
          <a:p>
            <a:pPr algn="l">
              <a:lnSpc>
                <a:spcPct val="100000"/>
              </a:lnSpc>
            </a:pPr>
            <a:r>
              <a:rPr sz="1050" b="1" i="0">
                <a:solidFill>
                  <a:srgbClr val="14255C"/>
                </a:solidFill>
                <a:latin typeface="Calibri"/>
              </a:rPr>
              <a:t>FARMERS</a:t>
            </a:r>
          </a:p>
        </p:txBody>
      </p:sp>
      <p:sp>
        <p:nvSpPr>
          <p:cNvPr id="13" name="TextBox 12"/>
          <p:cNvSpPr txBox="1"/>
          <p:nvPr/>
        </p:nvSpPr>
        <p:spPr>
          <a:xfrm>
            <a:off x="10222992" y="6647688"/>
            <a:ext cx="1554480" cy="182880"/>
          </a:xfrm>
          <a:prstGeom prst="rect">
            <a:avLst/>
          </a:prstGeom>
          <a:noFill/>
        </p:spPr>
        <p:txBody>
          <a:bodyPr wrap="square" lIns="0" tIns="0" rIns="0" bIns="0" anchor="t">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0515600" cy="274320"/>
          </a:xfrm>
          <a:prstGeom prst="rect">
            <a:avLst/>
          </a:prstGeom>
          <a:noFill/>
        </p:spPr>
        <p:txBody>
          <a:bodyPr wrap="square" lIns="0" tIns="0" rIns="0" bIns="0" anchor="t">
            <a:spAutoFit/>
          </a:bodyPr>
          <a:lstStyle/>
          <a:p>
            <a:pPr algn="l">
              <a:lnSpc>
                <a:spcPct val="100000"/>
              </a:lnSpc>
            </a:pPr>
            <a:r>
              <a:rPr sz="1100" b="1" i="0">
                <a:solidFill>
                  <a:srgbClr val="B8872E"/>
                </a:solidFill>
                <a:latin typeface="Calibri"/>
              </a:rPr>
              <a:t>IMPLEMENTATION &amp; IMPACT</a:t>
            </a:r>
          </a:p>
        </p:txBody>
      </p:sp>
      <p:sp>
        <p:nvSpPr>
          <p:cNvPr id="3" name="TextBox 2"/>
          <p:cNvSpPr txBox="1"/>
          <p:nvPr/>
        </p:nvSpPr>
        <p:spPr>
          <a:xfrm>
            <a:off x="502920" y="438912"/>
            <a:ext cx="10515600" cy="594360"/>
          </a:xfrm>
          <a:prstGeom prst="rect">
            <a:avLst/>
          </a:prstGeom>
          <a:noFill/>
        </p:spPr>
        <p:txBody>
          <a:bodyPr wrap="square" lIns="0" tIns="0" rIns="0" bIns="0" anchor="t">
            <a:spAutoFit/>
          </a:bodyPr>
          <a:lstStyle/>
          <a:p>
            <a:pPr algn="l">
              <a:lnSpc>
                <a:spcPct val="100000"/>
              </a:lnSpc>
            </a:pPr>
            <a:r>
              <a:rPr sz="2600" b="1" i="0">
                <a:solidFill>
                  <a:srgbClr val="14255C"/>
                </a:solidFill>
                <a:latin typeface="Calibri"/>
              </a:rPr>
              <a:t>The Policy Lifecycle: One Record, Continuously Updated</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1078992"/>
            <a:ext cx="11201400" cy="228600"/>
          </a:xfrm>
          <a:prstGeom prst="rect">
            <a:avLst/>
          </a:prstGeom>
          <a:noFill/>
        </p:spPr>
        <p:txBody>
          <a:bodyPr wrap="square" lIns="0" tIns="0" rIns="0" bIns="0" anchor="t">
            <a:spAutoFit/>
          </a:bodyPr>
          <a:lstStyle/>
          <a:p>
            <a:pPr algn="ctr">
              <a:lnSpc>
                <a:spcPct val="100000"/>
              </a:lnSpc>
            </a:pPr>
            <a:r>
              <a:rPr sz="1050" b="1" i="0">
                <a:solidFill>
                  <a:srgbClr val="7C8493"/>
                </a:solidFill>
                <a:latin typeface="Calibri"/>
              </a:rPr>
              <a:t>EXAMPLE — POLICY-1001</a:t>
            </a:r>
          </a:p>
        </p:txBody>
      </p:sp>
      <p:sp>
        <p:nvSpPr>
          <p:cNvPr id="6" name="Rounded Rectangle 5"/>
          <p:cNvSpPr/>
          <p:nvPr/>
        </p:nvSpPr>
        <p:spPr>
          <a:xfrm>
            <a:off x="609447" y="1353312"/>
            <a:ext cx="2606040" cy="1234440"/>
          </a:xfrm>
          <a:prstGeom prst="roundRect">
            <a:avLst>
              <a:gd name="adj" fmla="val 10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lIns="109728" tIns="91440" rIns="109728" rtlCol="0" anchor="t"/>
          <a:lstStyle/>
          <a:p>
            <a:pPr algn="ctr"/>
            <a:r>
              <a:rPr sz="1300" b="1">
                <a:solidFill>
                  <a:srgbClr val="FFFFFF"/>
                </a:solidFill>
                <a:latin typeface="Calibri"/>
              </a:rPr>
              <a:t>New Business</a:t>
            </a:r>
          </a:p>
          <a:p>
            <a:pPr algn="ctr">
              <a:spcBef>
                <a:spcPts val="200"/>
              </a:spcBef>
            </a:pPr>
            <a:r>
              <a:rPr sz="900" i="1">
                <a:solidFill>
                  <a:srgbClr val="E3E9F2"/>
                </a:solidFill>
                <a:latin typeface="Calibri"/>
              </a:rPr>
              <a:t>T0 · Jan 2026</a:t>
            </a:r>
          </a:p>
          <a:p>
            <a:pPr algn="ctr">
              <a:lnSpc>
                <a:spcPct val="100000"/>
              </a:lnSpc>
              <a:spcBef>
                <a:spcPts val="800"/>
              </a:spcBef>
            </a:pPr>
            <a:r>
              <a:rPr sz="1000" b="1">
                <a:solidFill>
                  <a:srgbClr val="FFFFFF"/>
                </a:solidFill>
                <a:latin typeface="Calibri"/>
              </a:rPr>
              <a:t>2 vehicles, 2 drivers —
baseline established</a:t>
            </a:r>
          </a:p>
        </p:txBody>
      </p:sp>
      <p:sp>
        <p:nvSpPr>
          <p:cNvPr id="7" name="Rounded Rectangle 6"/>
          <p:cNvSpPr/>
          <p:nvPr/>
        </p:nvSpPr>
        <p:spPr>
          <a:xfrm>
            <a:off x="3398367" y="1353312"/>
            <a:ext cx="2606040" cy="1234440"/>
          </a:xfrm>
          <a:prstGeom prst="roundRect">
            <a:avLst>
              <a:gd name="adj" fmla="val 10000"/>
            </a:avLst>
          </a:prstGeom>
          <a:solidFill>
            <a:srgbClr val="2E63A6"/>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lIns="109728" tIns="91440" rIns="109728" rtlCol="0" anchor="t"/>
          <a:lstStyle/>
          <a:p>
            <a:pPr algn="ctr"/>
            <a:r>
              <a:rPr sz="1300" b="1" dirty="0">
                <a:solidFill>
                  <a:srgbClr val="FFFFFF"/>
                </a:solidFill>
                <a:latin typeface="Calibri"/>
              </a:rPr>
              <a:t>Endorsement 1</a:t>
            </a:r>
          </a:p>
          <a:p>
            <a:pPr algn="ctr">
              <a:spcBef>
                <a:spcPts val="200"/>
              </a:spcBef>
            </a:pPr>
            <a:r>
              <a:rPr sz="900" i="1" dirty="0">
                <a:solidFill>
                  <a:srgbClr val="E3E9F2"/>
                </a:solidFill>
                <a:latin typeface="Calibri"/>
              </a:rPr>
              <a:t>T1 · Apr 2026</a:t>
            </a:r>
          </a:p>
          <a:p>
            <a:pPr algn="ctr">
              <a:lnSpc>
                <a:spcPct val="100000"/>
              </a:lnSpc>
              <a:spcBef>
                <a:spcPts val="800"/>
              </a:spcBef>
            </a:pPr>
            <a:r>
              <a:rPr sz="1000" b="1" dirty="0">
                <a:solidFill>
                  <a:srgbClr val="FFFFFF"/>
                </a:solidFill>
                <a:latin typeface="Calibri"/>
              </a:rPr>
              <a:t>+1 vehicle →
VEH_CNT 2 → 3</a:t>
            </a:r>
          </a:p>
        </p:txBody>
      </p:sp>
      <p:sp>
        <p:nvSpPr>
          <p:cNvPr id="8" name="Rounded Rectangle 7"/>
          <p:cNvSpPr/>
          <p:nvPr/>
        </p:nvSpPr>
        <p:spPr>
          <a:xfrm>
            <a:off x="6187287" y="1353312"/>
            <a:ext cx="2606040" cy="1234440"/>
          </a:xfrm>
          <a:prstGeom prst="roundRect">
            <a:avLst>
              <a:gd name="adj" fmla="val 10000"/>
            </a:avLst>
          </a:prstGeom>
          <a:solidFill>
            <a:srgbClr val="2E63A6"/>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lIns="109728" tIns="91440" rIns="109728" rtlCol="0" anchor="t"/>
          <a:lstStyle/>
          <a:p>
            <a:pPr algn="ctr"/>
            <a:r>
              <a:rPr sz="1300" b="1">
                <a:solidFill>
                  <a:srgbClr val="FFFFFF"/>
                </a:solidFill>
                <a:latin typeface="Calibri"/>
              </a:rPr>
              <a:t>Endorsement 2</a:t>
            </a:r>
          </a:p>
          <a:p>
            <a:pPr algn="ctr">
              <a:spcBef>
                <a:spcPts val="200"/>
              </a:spcBef>
            </a:pPr>
            <a:r>
              <a:rPr sz="900" i="1">
                <a:solidFill>
                  <a:srgbClr val="E3E9F2"/>
                </a:solidFill>
                <a:latin typeface="Calibri"/>
              </a:rPr>
              <a:t>T2 · Aug 2026</a:t>
            </a:r>
          </a:p>
          <a:p>
            <a:pPr algn="ctr">
              <a:lnSpc>
                <a:spcPct val="100000"/>
              </a:lnSpc>
              <a:spcBef>
                <a:spcPts val="800"/>
              </a:spcBef>
            </a:pPr>
            <a:r>
              <a:rPr sz="1000" b="1">
                <a:solidFill>
                  <a:srgbClr val="FFFFFF"/>
                </a:solidFill>
                <a:latin typeface="Calibri"/>
              </a:rPr>
              <a:t>+Comprehensive coverage →
COMP_COVERAGE_ADDED = 1</a:t>
            </a:r>
          </a:p>
        </p:txBody>
      </p:sp>
      <p:sp>
        <p:nvSpPr>
          <p:cNvPr id="9" name="Rounded Rectangle 8"/>
          <p:cNvSpPr/>
          <p:nvPr/>
        </p:nvSpPr>
        <p:spPr>
          <a:xfrm>
            <a:off x="8976207" y="1353312"/>
            <a:ext cx="2606040" cy="1234440"/>
          </a:xfrm>
          <a:prstGeom prst="roundRect">
            <a:avLst>
              <a:gd name="adj" fmla="val 10000"/>
            </a:avLst>
          </a:prstGeom>
          <a:solidFill>
            <a:srgbClr val="B8872E"/>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lIns="109728" tIns="91440" rIns="109728" rtlCol="0" anchor="t"/>
          <a:lstStyle/>
          <a:p>
            <a:pPr algn="ctr"/>
            <a:r>
              <a:rPr sz="1300" b="1">
                <a:solidFill>
                  <a:srgbClr val="FFFFFF"/>
                </a:solidFill>
                <a:latin typeface="Calibri"/>
              </a:rPr>
              <a:t>Renewal</a:t>
            </a:r>
          </a:p>
          <a:p>
            <a:pPr algn="ctr">
              <a:spcBef>
                <a:spcPts val="200"/>
              </a:spcBef>
            </a:pPr>
            <a:r>
              <a:rPr sz="900" i="1">
                <a:solidFill>
                  <a:srgbClr val="E3E9F2"/>
                </a:solidFill>
                <a:latin typeface="Calibri"/>
              </a:rPr>
              <a:t>T3 · Jan 2027</a:t>
            </a:r>
          </a:p>
          <a:p>
            <a:pPr algn="ctr">
              <a:lnSpc>
                <a:spcPct val="100000"/>
              </a:lnSpc>
              <a:spcBef>
                <a:spcPts val="800"/>
              </a:spcBef>
            </a:pPr>
            <a:r>
              <a:rPr sz="1000" b="1">
                <a:solidFill>
                  <a:srgbClr val="FFFFFF"/>
                </a:solidFill>
                <a:latin typeface="Calibri"/>
              </a:rPr>
              <a:t>No vehicle/driver change →
TENURE_YRS 0 → 1</a:t>
            </a:r>
          </a:p>
        </p:txBody>
      </p:sp>
      <p:cxnSp>
        <p:nvCxnSpPr>
          <p:cNvPr id="10" name="Connector 9"/>
          <p:cNvCxnSpPr/>
          <p:nvPr/>
        </p:nvCxnSpPr>
        <p:spPr>
          <a:xfrm>
            <a:off x="3215487" y="1723644"/>
            <a:ext cx="182880" cy="0"/>
          </a:xfrm>
          <a:prstGeom prst="line">
            <a:avLst/>
          </a:prstGeom>
          <a:ln w="19050">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04407" y="1723644"/>
            <a:ext cx="182880" cy="0"/>
          </a:xfrm>
          <a:prstGeom prst="line">
            <a:avLst/>
          </a:prstGeom>
          <a:ln w="19050">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793327" y="1723644"/>
            <a:ext cx="182880" cy="0"/>
          </a:xfrm>
          <a:prstGeom prst="line">
            <a:avLst/>
          </a:prstGeom>
          <a:ln w="19050">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912467" y="2587752"/>
            <a:ext cx="1108710" cy="594360"/>
          </a:xfrm>
          <a:prstGeom prst="line">
            <a:avLst/>
          </a:prstGeom>
          <a:ln w="15875">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4278477" y="2587752"/>
            <a:ext cx="422910" cy="594360"/>
          </a:xfrm>
          <a:prstGeom prst="line">
            <a:avLst/>
          </a:prstGeom>
          <a:ln w="15875">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5535777" y="2587752"/>
            <a:ext cx="1954530" cy="594360"/>
          </a:xfrm>
          <a:prstGeom prst="line">
            <a:avLst/>
          </a:prstGeom>
          <a:ln w="15875">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6793077" y="2587752"/>
            <a:ext cx="3486150" cy="594360"/>
          </a:xfrm>
          <a:prstGeom prst="line">
            <a:avLst/>
          </a:prstGeom>
          <a:ln w="15875">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392527" y="3182112"/>
            <a:ext cx="5029200" cy="868680"/>
          </a:xfrm>
          <a:prstGeom prst="roundRect">
            <a:avLst>
              <a:gd name="adj" fmla="val 12000"/>
            </a:avLst>
          </a:prstGeom>
          <a:solidFill>
            <a:srgbClr val="0D1B42"/>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92527" y="3291840"/>
            <a:ext cx="5029200" cy="365760"/>
          </a:xfrm>
          <a:prstGeom prst="rect">
            <a:avLst/>
          </a:prstGeom>
          <a:noFill/>
        </p:spPr>
        <p:txBody>
          <a:bodyPr wrap="square" lIns="0" tIns="0" rIns="0" bIns="0" anchor="t">
            <a:spAutoFit/>
          </a:bodyPr>
          <a:lstStyle/>
          <a:p>
            <a:pPr algn="ctr">
              <a:lnSpc>
                <a:spcPct val="100000"/>
              </a:lnSpc>
            </a:pPr>
            <a:r>
              <a:rPr sz="1400" b="1" i="0">
                <a:solidFill>
                  <a:srgbClr val="FFFFFF"/>
                </a:solidFill>
                <a:latin typeface="Calibri"/>
              </a:rPr>
              <a:t>AUTO_FEATURES_ACTIVE</a:t>
            </a:r>
          </a:p>
        </p:txBody>
      </p:sp>
      <p:sp>
        <p:nvSpPr>
          <p:cNvPr id="19" name="TextBox 18"/>
          <p:cNvSpPr txBox="1"/>
          <p:nvPr/>
        </p:nvSpPr>
        <p:spPr>
          <a:xfrm>
            <a:off x="2392527" y="3657600"/>
            <a:ext cx="5029200" cy="320040"/>
          </a:xfrm>
          <a:prstGeom prst="rect">
            <a:avLst/>
          </a:prstGeom>
          <a:noFill/>
        </p:spPr>
        <p:txBody>
          <a:bodyPr wrap="square" lIns="0" tIns="0" rIns="0" bIns="0" anchor="t">
            <a:spAutoFit/>
          </a:bodyPr>
          <a:lstStyle/>
          <a:p>
            <a:pPr algn="ctr">
              <a:lnSpc>
                <a:spcPct val="100000"/>
              </a:lnSpc>
            </a:pPr>
            <a:r>
              <a:rPr sz="1100" b="0" i="1">
                <a:solidFill>
                  <a:srgbClr val="C9D8EC"/>
                </a:solidFill>
                <a:latin typeface="Calibri"/>
              </a:rPr>
              <a:t>1 row per policy — always current</a:t>
            </a:r>
          </a:p>
        </p:txBody>
      </p:sp>
      <p:sp>
        <p:nvSpPr>
          <p:cNvPr id="20" name="Rounded Rectangle 19"/>
          <p:cNvSpPr/>
          <p:nvPr/>
        </p:nvSpPr>
        <p:spPr>
          <a:xfrm>
            <a:off x="7833207" y="3296412"/>
            <a:ext cx="1965960" cy="640080"/>
          </a:xfrm>
          <a:prstGeom prst="roundRect">
            <a:avLst>
              <a:gd name="adj" fmla="val 12000"/>
            </a:avLst>
          </a:prstGeom>
          <a:solidFill>
            <a:srgbClr val="7C8493"/>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833207" y="3369564"/>
            <a:ext cx="1965960" cy="274320"/>
          </a:xfrm>
          <a:prstGeom prst="rect">
            <a:avLst/>
          </a:prstGeom>
          <a:noFill/>
        </p:spPr>
        <p:txBody>
          <a:bodyPr wrap="square" lIns="0" tIns="0" rIns="0" bIns="0" anchor="t">
            <a:spAutoFit/>
          </a:bodyPr>
          <a:lstStyle/>
          <a:p>
            <a:pPr algn="ctr">
              <a:lnSpc>
                <a:spcPct val="100000"/>
              </a:lnSpc>
            </a:pPr>
            <a:r>
              <a:rPr sz="1150" b="1" i="0">
                <a:solidFill>
                  <a:srgbClr val="FFFFFF"/>
                </a:solidFill>
                <a:latin typeface="Calibri"/>
              </a:rPr>
              <a:t>HISTORY</a:t>
            </a:r>
          </a:p>
        </p:txBody>
      </p:sp>
      <p:sp>
        <p:nvSpPr>
          <p:cNvPr id="22" name="TextBox 21"/>
          <p:cNvSpPr txBox="1"/>
          <p:nvPr/>
        </p:nvSpPr>
        <p:spPr>
          <a:xfrm>
            <a:off x="7833207" y="3625596"/>
            <a:ext cx="1965960" cy="274320"/>
          </a:xfrm>
          <a:prstGeom prst="rect">
            <a:avLst/>
          </a:prstGeom>
          <a:noFill/>
        </p:spPr>
        <p:txBody>
          <a:bodyPr wrap="square" lIns="0" tIns="0" rIns="0" bIns="0" anchor="t">
            <a:spAutoFit/>
          </a:bodyPr>
          <a:lstStyle/>
          <a:p>
            <a:pPr algn="ctr">
              <a:lnSpc>
                <a:spcPct val="95000"/>
              </a:lnSpc>
            </a:pPr>
            <a:r>
              <a:rPr sz="800" b="0" i="1">
                <a:solidFill>
                  <a:srgbClr val="FFFFFF"/>
                </a:solidFill>
                <a:latin typeface="Calibri"/>
              </a:rPr>
              <a:t>every step preserved</a:t>
            </a:r>
          </a:p>
          <a:p>
            <a:pPr algn="ctr">
              <a:lnSpc>
                <a:spcPct val="95000"/>
              </a:lnSpc>
            </a:pPr>
            <a:r>
              <a:rPr sz="800" b="0" i="1">
                <a:solidFill>
                  <a:srgbClr val="FFFFFF"/>
                </a:solidFill>
                <a:latin typeface="Calibri"/>
              </a:rPr>
              <a:t>(SCD Type 2)</a:t>
            </a:r>
          </a:p>
        </p:txBody>
      </p:sp>
      <p:cxnSp>
        <p:nvCxnSpPr>
          <p:cNvPr id="23" name="Connector 22"/>
          <p:cNvCxnSpPr/>
          <p:nvPr/>
        </p:nvCxnSpPr>
        <p:spPr>
          <a:xfrm>
            <a:off x="7421727" y="3616452"/>
            <a:ext cx="411480" cy="0"/>
          </a:xfrm>
          <a:prstGeom prst="line">
            <a:avLst/>
          </a:prstGeom>
          <a:ln w="19050">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2920" y="4370831"/>
            <a:ext cx="11201400" cy="1143000"/>
          </a:xfrm>
          <a:prstGeom prst="roundRect">
            <a:avLst>
              <a:gd name="adj" fmla="val 6000"/>
            </a:avLst>
          </a:prstGeom>
          <a:solidFill>
            <a:srgbClr val="F0DDEC"/>
          </a:solidFill>
          <a:ln w="12700">
            <a:solidFill>
              <a:srgbClr val="E3B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462271"/>
            <a:ext cx="2743200" cy="274320"/>
          </a:xfrm>
          <a:prstGeom prst="rect">
            <a:avLst/>
          </a:prstGeom>
          <a:noFill/>
        </p:spPr>
        <p:txBody>
          <a:bodyPr wrap="square" lIns="0" tIns="0" rIns="0" bIns="0" anchor="t">
            <a:spAutoFit/>
          </a:bodyPr>
          <a:lstStyle/>
          <a:p>
            <a:pPr algn="l">
              <a:lnSpc>
                <a:spcPct val="100000"/>
              </a:lnSpc>
            </a:pPr>
            <a:r>
              <a:rPr sz="1100" b="1" i="0">
                <a:solidFill>
                  <a:srgbClr val="14255C"/>
                </a:solidFill>
                <a:latin typeface="Calibri"/>
              </a:rPr>
              <a:t>BUSINESS IMPACT</a:t>
            </a:r>
          </a:p>
        </p:txBody>
      </p:sp>
      <p:sp>
        <p:nvSpPr>
          <p:cNvPr id="26" name="TextBox 25"/>
          <p:cNvSpPr txBox="1"/>
          <p:nvPr/>
        </p:nvSpPr>
        <p:spPr>
          <a:xfrm>
            <a:off x="731520" y="4754879"/>
            <a:ext cx="10698480" cy="731520"/>
          </a:xfrm>
          <a:prstGeom prst="rect">
            <a:avLst/>
          </a:prstGeom>
          <a:noFill/>
        </p:spPr>
        <p:txBody>
          <a:bodyPr wrap="square" lIns="0" tIns="0" rIns="0" bIns="0" anchor="t">
            <a:spAutoFit/>
          </a:bodyPr>
          <a:lstStyle/>
          <a:p>
            <a:pPr algn="l">
              <a:lnSpc>
                <a:spcPct val="100000"/>
              </a:lnSpc>
              <a:spcAft>
                <a:spcPts val="300"/>
              </a:spcAft>
            </a:pPr>
            <a:r>
              <a:rPr sz="1050" dirty="0">
                <a:solidFill>
                  <a:srgbClr val="222733"/>
                </a:solidFill>
                <a:latin typeface="Calibri"/>
              </a:rPr>
              <a:t>•  Retention and underwriting models always see the current vehicle, driver, and coverage picture.</a:t>
            </a:r>
          </a:p>
          <a:p>
            <a:pPr algn="l">
              <a:lnSpc>
                <a:spcPct val="100000"/>
              </a:lnSpc>
              <a:spcAft>
                <a:spcPts val="300"/>
              </a:spcAft>
            </a:pPr>
            <a:r>
              <a:rPr sz="1050" dirty="0">
                <a:solidFill>
                  <a:srgbClr val="222733"/>
                </a:solidFill>
                <a:latin typeface="Calibri"/>
              </a:rPr>
              <a:t>•  New business, endorsements, and renewals all update the same record — computed once, not per model.</a:t>
            </a:r>
          </a:p>
          <a:p>
            <a:pPr algn="l">
              <a:lnSpc>
                <a:spcPct val="100000"/>
              </a:lnSpc>
              <a:spcAft>
                <a:spcPts val="300"/>
              </a:spcAft>
            </a:pPr>
            <a:r>
              <a:rPr sz="1050" dirty="0">
                <a:solidFill>
                  <a:srgbClr val="222733"/>
                </a:solidFill>
                <a:latin typeface="Calibri"/>
              </a:rPr>
              <a:t>•  Every change is preserved, so "what did we know, and when" is always answerable.</a:t>
            </a:r>
          </a:p>
        </p:txBody>
      </p:sp>
      <p:cxnSp>
        <p:nvCxnSpPr>
          <p:cNvPr id="27" name="Connector 26"/>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11480" y="6528816"/>
            <a:ext cx="548640" cy="274320"/>
          </a:xfrm>
          <a:prstGeom prst="rect">
            <a:avLst/>
          </a:prstGeom>
          <a:noFill/>
        </p:spPr>
        <p:txBody>
          <a:bodyPr wrap="square" lIns="0" tIns="0" rIns="0" bIns="0" anchor="t">
            <a:spAutoFit/>
          </a:bodyPr>
          <a:lstStyle/>
          <a:p>
            <a:pPr algn="l">
              <a:lnSpc>
                <a:spcPct val="100000"/>
              </a:lnSpc>
            </a:pPr>
            <a:r>
              <a:rPr sz="1050" b="0" i="0">
                <a:solidFill>
                  <a:srgbClr val="7C8493"/>
                </a:solidFill>
                <a:latin typeface="Calibri"/>
              </a:rPr>
              <a:t>6</a:t>
            </a:r>
          </a:p>
        </p:txBody>
      </p:sp>
      <p:sp>
        <p:nvSpPr>
          <p:cNvPr id="29" name="Block Arc 28"/>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222992" y="6473952"/>
            <a:ext cx="1554480" cy="201168"/>
          </a:xfrm>
          <a:prstGeom prst="rect">
            <a:avLst/>
          </a:prstGeom>
          <a:noFill/>
        </p:spPr>
        <p:txBody>
          <a:bodyPr wrap="square" lIns="0" tIns="0" rIns="0" bIns="0" anchor="t">
            <a:spAutoFit/>
          </a:bodyPr>
          <a:lstStyle/>
          <a:p>
            <a:pPr algn="l">
              <a:lnSpc>
                <a:spcPct val="100000"/>
              </a:lnSpc>
            </a:pPr>
            <a:r>
              <a:rPr sz="1050" b="1" i="0">
                <a:solidFill>
                  <a:srgbClr val="14255C"/>
                </a:solidFill>
                <a:latin typeface="Calibri"/>
              </a:rPr>
              <a:t>FARMERS</a:t>
            </a:r>
          </a:p>
        </p:txBody>
      </p:sp>
      <p:sp>
        <p:nvSpPr>
          <p:cNvPr id="31" name="TextBox 30"/>
          <p:cNvSpPr txBox="1"/>
          <p:nvPr/>
        </p:nvSpPr>
        <p:spPr>
          <a:xfrm>
            <a:off x="10222992" y="6647688"/>
            <a:ext cx="1554480" cy="182880"/>
          </a:xfrm>
          <a:prstGeom prst="rect">
            <a:avLst/>
          </a:prstGeom>
          <a:noFill/>
        </p:spPr>
        <p:txBody>
          <a:bodyPr wrap="square" lIns="0" tIns="0" rIns="0" bIns="0" anchor="t">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0515600" cy="274320"/>
          </a:xfrm>
          <a:prstGeom prst="rect">
            <a:avLst/>
          </a:prstGeom>
          <a:noFill/>
        </p:spPr>
        <p:txBody>
          <a:bodyPr wrap="square" lIns="0" tIns="0" rIns="0" bIns="0" anchor="t">
            <a:spAutoFit/>
          </a:bodyPr>
          <a:lstStyle/>
          <a:p>
            <a:pPr algn="l">
              <a:lnSpc>
                <a:spcPct val="100000"/>
              </a:lnSpc>
            </a:pPr>
            <a:r>
              <a:rPr sz="1100" b="1" i="0">
                <a:solidFill>
                  <a:srgbClr val="B8872E"/>
                </a:solidFill>
                <a:latin typeface="Calibri"/>
              </a:rPr>
              <a:t>IMPLEMENTATION &amp; IMPACT</a:t>
            </a:r>
          </a:p>
        </p:txBody>
      </p:sp>
      <p:sp>
        <p:nvSpPr>
          <p:cNvPr id="3" name="TextBox 2"/>
          <p:cNvSpPr txBox="1"/>
          <p:nvPr/>
        </p:nvSpPr>
        <p:spPr>
          <a:xfrm>
            <a:off x="502920" y="438912"/>
            <a:ext cx="10515600" cy="594360"/>
          </a:xfrm>
          <a:prstGeom prst="rect">
            <a:avLst/>
          </a:prstGeom>
          <a:noFill/>
        </p:spPr>
        <p:txBody>
          <a:bodyPr wrap="square" lIns="0" tIns="0" rIns="0" bIns="0" anchor="t">
            <a:spAutoFit/>
          </a:bodyPr>
          <a:lstStyle/>
          <a:p>
            <a:pPr algn="l">
              <a:lnSpc>
                <a:spcPct val="100000"/>
              </a:lnSpc>
            </a:pPr>
            <a:r>
              <a:rPr sz="2600" b="1" i="0">
                <a:solidFill>
                  <a:srgbClr val="14255C"/>
                </a:solidFill>
                <a:latin typeface="Calibri"/>
              </a:rPr>
              <a:t>Beyond Insurance: Where This Pattern Shows Up</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02920" y="1371600"/>
            <a:ext cx="5440680" cy="160020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1371600"/>
            <a:ext cx="73152" cy="1600200"/>
          </a:xfrm>
          <a:prstGeom prst="roundRect">
            <a:avLst>
              <a:gd name="adj" fmla="val 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 y="1499616"/>
            <a:ext cx="4937760" cy="292608"/>
          </a:xfrm>
          <a:prstGeom prst="rect">
            <a:avLst/>
          </a:prstGeom>
          <a:noFill/>
        </p:spPr>
        <p:txBody>
          <a:bodyPr wrap="square" lIns="0" tIns="0" rIns="0" bIns="0" anchor="t">
            <a:spAutoFit/>
          </a:bodyPr>
          <a:lstStyle/>
          <a:p>
            <a:pPr algn="l">
              <a:lnSpc>
                <a:spcPct val="100000"/>
              </a:lnSpc>
            </a:pPr>
            <a:r>
              <a:rPr sz="1400" b="1" i="0">
                <a:solidFill>
                  <a:srgbClr val="14255C"/>
                </a:solidFill>
                <a:latin typeface="Calibri"/>
              </a:rPr>
              <a:t>Recommendation Systems</a:t>
            </a:r>
          </a:p>
        </p:txBody>
      </p:sp>
      <p:sp>
        <p:nvSpPr>
          <p:cNvPr id="8" name="TextBox 7"/>
          <p:cNvSpPr txBox="1"/>
          <p:nvPr/>
        </p:nvSpPr>
        <p:spPr>
          <a:xfrm>
            <a:off x="758952" y="1810512"/>
            <a:ext cx="4937760" cy="228600"/>
          </a:xfrm>
          <a:prstGeom prst="rect">
            <a:avLst/>
          </a:prstGeom>
          <a:noFill/>
        </p:spPr>
        <p:txBody>
          <a:bodyPr wrap="square" lIns="0" tIns="0" rIns="0" bIns="0" anchor="t">
            <a:spAutoFit/>
          </a:bodyPr>
          <a:lstStyle/>
          <a:p>
            <a:pPr algn="l">
              <a:lnSpc>
                <a:spcPct val="100000"/>
              </a:lnSpc>
            </a:pPr>
            <a:r>
              <a:rPr sz="950" b="1" i="0">
                <a:solidFill>
                  <a:srgbClr val="7C8493"/>
                </a:solidFill>
                <a:latin typeface="Calibri"/>
              </a:rPr>
              <a:t>E-COMMERCE &amp; STREAMING</a:t>
            </a:r>
          </a:p>
        </p:txBody>
      </p:sp>
      <p:sp>
        <p:nvSpPr>
          <p:cNvPr id="9" name="TextBox 8"/>
          <p:cNvSpPr txBox="1"/>
          <p:nvPr/>
        </p:nvSpPr>
        <p:spPr>
          <a:xfrm>
            <a:off x="758952" y="2103120"/>
            <a:ext cx="4937760" cy="777240"/>
          </a:xfrm>
          <a:prstGeom prst="rect">
            <a:avLst/>
          </a:prstGeom>
          <a:noFill/>
        </p:spPr>
        <p:txBody>
          <a:bodyPr wrap="square" lIns="0" tIns="0" rIns="0" bIns="0" anchor="t">
            <a:spAutoFit/>
          </a:bodyPr>
          <a:lstStyle/>
          <a:p>
            <a:pPr algn="l">
              <a:lnSpc>
                <a:spcPct val="110000"/>
              </a:lnSpc>
            </a:pPr>
            <a:r>
              <a:rPr sz="1050" b="0" i="0">
                <a:solidFill>
                  <a:srgbClr val="222733"/>
                </a:solidFill>
                <a:latin typeface="Calibri"/>
              </a:rPr>
              <a:t>Precomputed user and item signals — purchase history, watch history — served instantly instead of recalculated on every page load.</a:t>
            </a:r>
          </a:p>
        </p:txBody>
      </p:sp>
      <p:sp>
        <p:nvSpPr>
          <p:cNvPr id="10" name="Rounded Rectangle 9"/>
          <p:cNvSpPr/>
          <p:nvPr/>
        </p:nvSpPr>
        <p:spPr>
          <a:xfrm>
            <a:off x="6263640" y="1371600"/>
            <a:ext cx="5440680" cy="160020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63640" y="1371600"/>
            <a:ext cx="73152" cy="1600200"/>
          </a:xfrm>
          <a:prstGeom prst="roundRect">
            <a:avLst>
              <a:gd name="adj" fmla="val 0"/>
            </a:avLst>
          </a:prstGeom>
          <a:solidFill>
            <a:srgbClr val="B88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9672" y="1499616"/>
            <a:ext cx="4937760" cy="292608"/>
          </a:xfrm>
          <a:prstGeom prst="rect">
            <a:avLst/>
          </a:prstGeom>
          <a:noFill/>
        </p:spPr>
        <p:txBody>
          <a:bodyPr wrap="square" lIns="0" tIns="0" rIns="0" bIns="0" anchor="t">
            <a:spAutoFit/>
          </a:bodyPr>
          <a:lstStyle/>
          <a:p>
            <a:pPr algn="l">
              <a:lnSpc>
                <a:spcPct val="100000"/>
              </a:lnSpc>
            </a:pPr>
            <a:r>
              <a:rPr sz="1400" b="1" i="0">
                <a:solidFill>
                  <a:srgbClr val="14255C"/>
                </a:solidFill>
                <a:latin typeface="Calibri"/>
              </a:rPr>
              <a:t>Fraud &amp; Risk Scoring</a:t>
            </a:r>
          </a:p>
        </p:txBody>
      </p:sp>
      <p:sp>
        <p:nvSpPr>
          <p:cNvPr id="13" name="TextBox 12"/>
          <p:cNvSpPr txBox="1"/>
          <p:nvPr/>
        </p:nvSpPr>
        <p:spPr>
          <a:xfrm>
            <a:off x="6519672" y="1810512"/>
            <a:ext cx="4937760" cy="228600"/>
          </a:xfrm>
          <a:prstGeom prst="rect">
            <a:avLst/>
          </a:prstGeom>
          <a:noFill/>
        </p:spPr>
        <p:txBody>
          <a:bodyPr wrap="square" lIns="0" tIns="0" rIns="0" bIns="0" anchor="t">
            <a:spAutoFit/>
          </a:bodyPr>
          <a:lstStyle/>
          <a:p>
            <a:pPr algn="l">
              <a:lnSpc>
                <a:spcPct val="100000"/>
              </a:lnSpc>
            </a:pPr>
            <a:r>
              <a:rPr sz="950" b="1" i="0">
                <a:solidFill>
                  <a:srgbClr val="7C8493"/>
                </a:solidFill>
                <a:latin typeface="Calibri"/>
              </a:rPr>
              <a:t>PAYMENTS &amp; BANKING</a:t>
            </a:r>
          </a:p>
        </p:txBody>
      </p:sp>
      <p:sp>
        <p:nvSpPr>
          <p:cNvPr id="14" name="TextBox 13"/>
          <p:cNvSpPr txBox="1"/>
          <p:nvPr/>
        </p:nvSpPr>
        <p:spPr>
          <a:xfrm>
            <a:off x="6519672" y="2103120"/>
            <a:ext cx="4937760" cy="777240"/>
          </a:xfrm>
          <a:prstGeom prst="rect">
            <a:avLst/>
          </a:prstGeom>
          <a:noFill/>
        </p:spPr>
        <p:txBody>
          <a:bodyPr wrap="square" lIns="0" tIns="0" rIns="0" bIns="0" anchor="t">
            <a:spAutoFit/>
          </a:bodyPr>
          <a:lstStyle/>
          <a:p>
            <a:pPr algn="l">
              <a:lnSpc>
                <a:spcPct val="110000"/>
              </a:lnSpc>
            </a:pPr>
            <a:r>
              <a:rPr sz="1050" b="0" i="0">
                <a:solidFill>
                  <a:srgbClr val="222733"/>
                </a:solidFill>
                <a:latin typeface="Calibri"/>
              </a:rPr>
              <a:t>Behavioral aggregates like transaction velocity and spending patterns, precomputed and looked up in milliseconds during a live transaction.</a:t>
            </a:r>
          </a:p>
        </p:txBody>
      </p:sp>
      <p:sp>
        <p:nvSpPr>
          <p:cNvPr id="15" name="Rounded Rectangle 14"/>
          <p:cNvSpPr/>
          <p:nvPr/>
        </p:nvSpPr>
        <p:spPr>
          <a:xfrm>
            <a:off x="502920" y="3154680"/>
            <a:ext cx="5440680" cy="160020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154680"/>
            <a:ext cx="73152" cy="1600200"/>
          </a:xfrm>
          <a:prstGeom prst="roundRect">
            <a:avLst>
              <a:gd name="adj" fmla="val 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952" y="3282696"/>
            <a:ext cx="4937760" cy="292608"/>
          </a:xfrm>
          <a:prstGeom prst="rect">
            <a:avLst/>
          </a:prstGeom>
          <a:noFill/>
        </p:spPr>
        <p:txBody>
          <a:bodyPr wrap="square" lIns="0" tIns="0" rIns="0" bIns="0" anchor="t">
            <a:spAutoFit/>
          </a:bodyPr>
          <a:lstStyle/>
          <a:p>
            <a:pPr algn="l">
              <a:lnSpc>
                <a:spcPct val="100000"/>
              </a:lnSpc>
            </a:pPr>
            <a:r>
              <a:rPr sz="1400" b="1" i="0">
                <a:solidFill>
                  <a:srgbClr val="14255C"/>
                </a:solidFill>
                <a:latin typeface="Calibri"/>
              </a:rPr>
              <a:t>Personalization &amp; Pricing</a:t>
            </a:r>
          </a:p>
        </p:txBody>
      </p:sp>
      <p:sp>
        <p:nvSpPr>
          <p:cNvPr id="18" name="TextBox 17"/>
          <p:cNvSpPr txBox="1"/>
          <p:nvPr/>
        </p:nvSpPr>
        <p:spPr>
          <a:xfrm>
            <a:off x="758952" y="3593592"/>
            <a:ext cx="4937760" cy="228600"/>
          </a:xfrm>
          <a:prstGeom prst="rect">
            <a:avLst/>
          </a:prstGeom>
          <a:noFill/>
        </p:spPr>
        <p:txBody>
          <a:bodyPr wrap="square" lIns="0" tIns="0" rIns="0" bIns="0" anchor="t">
            <a:spAutoFit/>
          </a:bodyPr>
          <a:lstStyle/>
          <a:p>
            <a:pPr algn="l">
              <a:lnSpc>
                <a:spcPct val="100000"/>
              </a:lnSpc>
            </a:pPr>
            <a:r>
              <a:rPr sz="950" b="1" i="0">
                <a:solidFill>
                  <a:srgbClr val="7C8493"/>
                </a:solidFill>
                <a:latin typeface="Calibri"/>
              </a:rPr>
              <a:t>RETAIL &amp; TRAVEL</a:t>
            </a:r>
          </a:p>
        </p:txBody>
      </p:sp>
      <p:sp>
        <p:nvSpPr>
          <p:cNvPr id="19" name="TextBox 18"/>
          <p:cNvSpPr txBox="1"/>
          <p:nvPr/>
        </p:nvSpPr>
        <p:spPr>
          <a:xfrm>
            <a:off x="758952" y="3886200"/>
            <a:ext cx="4937760" cy="777240"/>
          </a:xfrm>
          <a:prstGeom prst="rect">
            <a:avLst/>
          </a:prstGeom>
          <a:noFill/>
        </p:spPr>
        <p:txBody>
          <a:bodyPr wrap="square" lIns="0" tIns="0" rIns="0" bIns="0" anchor="t">
            <a:spAutoFit/>
          </a:bodyPr>
          <a:lstStyle/>
          <a:p>
            <a:pPr algn="l">
              <a:lnSpc>
                <a:spcPct val="110000"/>
              </a:lnSpc>
            </a:pPr>
            <a:r>
              <a:rPr sz="1050" b="0" i="0">
                <a:solidFill>
                  <a:srgbClr val="222733"/>
                </a:solidFill>
                <a:latin typeface="Calibri"/>
              </a:rPr>
              <a:t>Customer-level features — browsing behavior, price sensitivity — kept current and reused across every personalization model, not recomputed per request.</a:t>
            </a:r>
          </a:p>
        </p:txBody>
      </p:sp>
      <p:sp>
        <p:nvSpPr>
          <p:cNvPr id="20" name="Rounded Rectangle 19"/>
          <p:cNvSpPr/>
          <p:nvPr/>
        </p:nvSpPr>
        <p:spPr>
          <a:xfrm>
            <a:off x="6263640" y="3154680"/>
            <a:ext cx="5440680" cy="160020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63640" y="3154680"/>
            <a:ext cx="73152" cy="1600200"/>
          </a:xfrm>
          <a:prstGeom prst="roundRect">
            <a:avLst>
              <a:gd name="adj" fmla="val 0"/>
            </a:avLst>
          </a:prstGeom>
          <a:solidFill>
            <a:srgbClr val="B88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19672" y="3282696"/>
            <a:ext cx="4937760" cy="292608"/>
          </a:xfrm>
          <a:prstGeom prst="rect">
            <a:avLst/>
          </a:prstGeom>
          <a:noFill/>
        </p:spPr>
        <p:txBody>
          <a:bodyPr wrap="square" lIns="0" tIns="0" rIns="0" bIns="0" anchor="t">
            <a:spAutoFit/>
          </a:bodyPr>
          <a:lstStyle/>
          <a:p>
            <a:pPr algn="l">
              <a:lnSpc>
                <a:spcPct val="100000"/>
              </a:lnSpc>
            </a:pPr>
            <a:r>
              <a:rPr sz="1400" b="1" i="0">
                <a:solidFill>
                  <a:srgbClr val="14255C"/>
                </a:solidFill>
                <a:latin typeface="Calibri"/>
              </a:rPr>
              <a:t>Retention &amp; Underwriting</a:t>
            </a:r>
          </a:p>
        </p:txBody>
      </p:sp>
      <p:sp>
        <p:nvSpPr>
          <p:cNvPr id="23" name="TextBox 22"/>
          <p:cNvSpPr txBox="1"/>
          <p:nvPr/>
        </p:nvSpPr>
        <p:spPr>
          <a:xfrm>
            <a:off x="6519672" y="3593592"/>
            <a:ext cx="4937760" cy="228600"/>
          </a:xfrm>
          <a:prstGeom prst="rect">
            <a:avLst/>
          </a:prstGeom>
          <a:noFill/>
        </p:spPr>
        <p:txBody>
          <a:bodyPr wrap="square" lIns="0" tIns="0" rIns="0" bIns="0" anchor="t">
            <a:spAutoFit/>
          </a:bodyPr>
          <a:lstStyle/>
          <a:p>
            <a:pPr algn="l">
              <a:lnSpc>
                <a:spcPct val="100000"/>
              </a:lnSpc>
            </a:pPr>
            <a:r>
              <a:rPr sz="950" b="1" i="0">
                <a:solidFill>
                  <a:srgbClr val="7C8493"/>
                </a:solidFill>
                <a:latin typeface="Calibri"/>
              </a:rPr>
              <a:t>THIS PROJECT</a:t>
            </a:r>
          </a:p>
        </p:txBody>
      </p:sp>
      <p:sp>
        <p:nvSpPr>
          <p:cNvPr id="24" name="TextBox 23"/>
          <p:cNvSpPr txBox="1"/>
          <p:nvPr/>
        </p:nvSpPr>
        <p:spPr>
          <a:xfrm>
            <a:off x="6519672" y="3886200"/>
            <a:ext cx="4937760" cy="777240"/>
          </a:xfrm>
          <a:prstGeom prst="rect">
            <a:avLst/>
          </a:prstGeom>
          <a:noFill/>
        </p:spPr>
        <p:txBody>
          <a:bodyPr wrap="square" lIns="0" tIns="0" rIns="0" bIns="0" anchor="t">
            <a:spAutoFit/>
          </a:bodyPr>
          <a:lstStyle/>
          <a:p>
            <a:pPr algn="l">
              <a:lnSpc>
                <a:spcPct val="110000"/>
              </a:lnSpc>
            </a:pPr>
            <a:r>
              <a:rPr sz="1050" b="0" i="0">
                <a:solidFill>
                  <a:srgbClr val="222733"/>
                </a:solidFill>
                <a:latin typeface="Calibri"/>
              </a:rPr>
              <a:t>The same pattern behind what we built: one governed feature set per policy, computed once, reused by every model that touches that customer.</a:t>
            </a:r>
          </a:p>
        </p:txBody>
      </p:sp>
      <p:sp>
        <p:nvSpPr>
          <p:cNvPr id="25" name="Rounded Rectangle 24"/>
          <p:cNvSpPr/>
          <p:nvPr/>
        </p:nvSpPr>
        <p:spPr>
          <a:xfrm>
            <a:off x="502920" y="4937760"/>
            <a:ext cx="11201400" cy="868680"/>
          </a:xfrm>
          <a:prstGeom prst="roundRect">
            <a:avLst>
              <a:gd name="adj" fmla="val 10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5047488"/>
            <a:ext cx="10698480" cy="685800"/>
          </a:xfrm>
          <a:prstGeom prst="rect">
            <a:avLst/>
          </a:prstGeom>
          <a:noFill/>
        </p:spPr>
        <p:txBody>
          <a:bodyPr wrap="square" lIns="0" tIns="0" rIns="0" bIns="0" anchor="t">
            <a:spAutoFit/>
          </a:bodyPr>
          <a:lstStyle/>
          <a:p>
            <a:pPr algn="l">
              <a:lnSpc>
                <a:spcPct val="100000"/>
              </a:lnSpc>
              <a:spcAft>
                <a:spcPts val="300"/>
              </a:spcAft>
            </a:pPr>
            <a:r>
              <a:rPr sz="1100">
                <a:solidFill>
                  <a:srgbClr val="FFFFFF"/>
                </a:solidFill>
                <a:latin typeface="Calibri"/>
              </a:rPr>
              <a:t>•  Faster decisions — a lookup instead of on-the-fly computation.</a:t>
            </a:r>
          </a:p>
          <a:p>
            <a:pPr algn="l">
              <a:lnSpc>
                <a:spcPct val="100000"/>
              </a:lnSpc>
              <a:spcAft>
                <a:spcPts val="300"/>
              </a:spcAft>
            </a:pPr>
            <a:r>
              <a:rPr sz="1100">
                <a:solidFill>
                  <a:srgbClr val="FFFFFF"/>
                </a:solidFill>
                <a:latin typeface="Calibri"/>
              </a:rPr>
              <a:t>•  Consistent signals — every model reads the same governed values.</a:t>
            </a:r>
          </a:p>
          <a:p>
            <a:pPr algn="l">
              <a:lnSpc>
                <a:spcPct val="100000"/>
              </a:lnSpc>
              <a:spcAft>
                <a:spcPts val="300"/>
              </a:spcAft>
            </a:pPr>
            <a:r>
              <a:rPr sz="1100">
                <a:solidFill>
                  <a:srgbClr val="FFFFFF"/>
                </a:solidFill>
                <a:latin typeface="Calibri"/>
              </a:rPr>
              <a:t>•  Less duplicated engineering — one pipeline instead of one-off logic per team.</a:t>
            </a:r>
          </a:p>
        </p:txBody>
      </p:sp>
      <p:cxnSp>
        <p:nvCxnSpPr>
          <p:cNvPr id="27" name="Connector 26"/>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11480" y="6528816"/>
            <a:ext cx="548640" cy="274320"/>
          </a:xfrm>
          <a:prstGeom prst="rect">
            <a:avLst/>
          </a:prstGeom>
          <a:noFill/>
        </p:spPr>
        <p:txBody>
          <a:bodyPr wrap="square" lIns="0" tIns="0" rIns="0" bIns="0" anchor="t">
            <a:spAutoFit/>
          </a:bodyPr>
          <a:lstStyle/>
          <a:p>
            <a:pPr algn="l">
              <a:lnSpc>
                <a:spcPct val="100000"/>
              </a:lnSpc>
            </a:pPr>
            <a:r>
              <a:rPr sz="1050" b="0" i="0">
                <a:solidFill>
                  <a:srgbClr val="7C8493"/>
                </a:solidFill>
                <a:latin typeface="Calibri"/>
              </a:rPr>
              <a:t>7</a:t>
            </a:r>
          </a:p>
        </p:txBody>
      </p:sp>
      <p:sp>
        <p:nvSpPr>
          <p:cNvPr id="29" name="Block Arc 28"/>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222992" y="6473952"/>
            <a:ext cx="1554480" cy="201168"/>
          </a:xfrm>
          <a:prstGeom prst="rect">
            <a:avLst/>
          </a:prstGeom>
          <a:noFill/>
        </p:spPr>
        <p:txBody>
          <a:bodyPr wrap="square" lIns="0" tIns="0" rIns="0" bIns="0" anchor="t">
            <a:spAutoFit/>
          </a:bodyPr>
          <a:lstStyle/>
          <a:p>
            <a:pPr algn="l">
              <a:lnSpc>
                <a:spcPct val="100000"/>
              </a:lnSpc>
            </a:pPr>
            <a:r>
              <a:rPr sz="1050" b="1" i="0">
                <a:solidFill>
                  <a:srgbClr val="14255C"/>
                </a:solidFill>
                <a:latin typeface="Calibri"/>
              </a:rPr>
              <a:t>FARMERS</a:t>
            </a:r>
          </a:p>
        </p:txBody>
      </p:sp>
      <p:sp>
        <p:nvSpPr>
          <p:cNvPr id="31" name="TextBox 30"/>
          <p:cNvSpPr txBox="1"/>
          <p:nvPr/>
        </p:nvSpPr>
        <p:spPr>
          <a:xfrm>
            <a:off x="10222992" y="6647688"/>
            <a:ext cx="1554480" cy="182880"/>
          </a:xfrm>
          <a:prstGeom prst="rect">
            <a:avLst/>
          </a:prstGeom>
          <a:noFill/>
        </p:spPr>
        <p:txBody>
          <a:bodyPr wrap="square" lIns="0" tIns="0" rIns="0" bIns="0" anchor="t">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E9CC2"/>
        </a:solidFill>
        <a:effectLst/>
      </p:bgPr>
    </p:bg>
    <p:spTree>
      <p:nvGrpSpPr>
        <p:cNvPr id="1" name=""/>
        <p:cNvGrpSpPr/>
        <p:nvPr/>
      </p:nvGrpSpPr>
      <p:grpSpPr>
        <a:xfrm>
          <a:off x="0" y="0"/>
          <a:ext cx="0" cy="0"/>
          <a:chOff x="0" y="0"/>
          <a:chExt cx="0" cy="0"/>
        </a:xfrm>
      </p:grpSpPr>
      <p:sp>
        <p:nvSpPr>
          <p:cNvPr id="2" name="TextBox 1"/>
          <p:cNvSpPr txBox="1"/>
          <p:nvPr/>
        </p:nvSpPr>
        <p:spPr>
          <a:xfrm>
            <a:off x="0" y="2331720"/>
            <a:ext cx="12191695" cy="914400"/>
          </a:xfrm>
          <a:prstGeom prst="rect">
            <a:avLst/>
          </a:prstGeom>
          <a:noFill/>
        </p:spPr>
        <p:txBody>
          <a:bodyPr wrap="square" lIns="0" tIns="0" rIns="0" bIns="0" anchor="t">
            <a:spAutoFit/>
          </a:bodyPr>
          <a:lstStyle/>
          <a:p>
            <a:pPr algn="ctr">
              <a:lnSpc>
                <a:spcPct val="100000"/>
              </a:lnSpc>
            </a:pPr>
            <a:r>
              <a:rPr sz="4400" b="1" i="0">
                <a:solidFill>
                  <a:srgbClr val="FFFFFF"/>
                </a:solidFill>
                <a:latin typeface="Calibri"/>
              </a:rPr>
              <a:t>Demo</a:t>
            </a:r>
          </a:p>
        </p:txBody>
      </p:sp>
      <p:sp>
        <p:nvSpPr>
          <p:cNvPr id="3" name="TextBox 2"/>
          <p:cNvSpPr txBox="1"/>
          <p:nvPr/>
        </p:nvSpPr>
        <p:spPr>
          <a:xfrm>
            <a:off x="3108960" y="3520440"/>
            <a:ext cx="5943600" cy="1554480"/>
          </a:xfrm>
          <a:prstGeom prst="rect">
            <a:avLst/>
          </a:prstGeom>
          <a:noFill/>
        </p:spPr>
        <p:txBody>
          <a:bodyPr wrap="square" lIns="0" tIns="0" rIns="0" bIns="0" anchor="t">
            <a:spAutoFit/>
          </a:bodyPr>
          <a:lstStyle/>
          <a:p>
            <a:pPr algn="l">
              <a:lnSpc>
                <a:spcPct val="105000"/>
              </a:lnSpc>
              <a:spcAft>
                <a:spcPts val="800"/>
              </a:spcAft>
            </a:pPr>
            <a:r>
              <a:rPr sz="1300">
                <a:solidFill>
                  <a:srgbClr val="FFFFFF"/>
                </a:solidFill>
                <a:latin typeface="Calibri"/>
              </a:rPr>
              <a:t>•  Publish a test transaction JSON</a:t>
            </a:r>
          </a:p>
          <a:p>
            <a:pPr algn="l">
              <a:lnSpc>
                <a:spcPct val="105000"/>
              </a:lnSpc>
              <a:spcAft>
                <a:spcPts val="800"/>
              </a:spcAft>
            </a:pPr>
            <a:r>
              <a:rPr sz="1300">
                <a:solidFill>
                  <a:srgbClr val="FFFFFF"/>
                </a:solidFill>
                <a:latin typeface="Calibri"/>
              </a:rPr>
              <a:t>•  Run the pipeline notebooks end to end</a:t>
            </a:r>
          </a:p>
          <a:p>
            <a:pPr algn="l">
              <a:lnSpc>
                <a:spcPct val="105000"/>
              </a:lnSpc>
              <a:spcAft>
                <a:spcPts val="800"/>
              </a:spcAft>
            </a:pPr>
            <a:r>
              <a:rPr sz="1300">
                <a:solidFill>
                  <a:srgbClr val="FFFFFF"/>
                </a:solidFill>
                <a:latin typeface="Calibri"/>
              </a:rPr>
              <a:t>•  Inspect Active / Pending / History with the feature-store viewer</a:t>
            </a:r>
          </a:p>
          <a:p>
            <a:pPr algn="l">
              <a:lnSpc>
                <a:spcPct val="105000"/>
              </a:lnSpc>
              <a:spcAft>
                <a:spcPts val="800"/>
              </a:spcAft>
            </a:pPr>
            <a:r>
              <a:rPr sz="1300">
                <a:solidFill>
                  <a:srgbClr val="FFFFFF"/>
                </a:solidFill>
                <a:latin typeface="Calibri"/>
              </a:rPr>
              <a:t>•  Query the Feature Serving Endpoint by policy ID</a:t>
            </a:r>
          </a:p>
        </p:txBody>
      </p:sp>
      <p:cxnSp>
        <p:nvCxnSpPr>
          <p:cNvPr id="4" name="Connector 3"/>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6528816"/>
            <a:ext cx="548640" cy="274320"/>
          </a:xfrm>
          <a:prstGeom prst="rect">
            <a:avLst/>
          </a:prstGeom>
          <a:noFill/>
        </p:spPr>
        <p:txBody>
          <a:bodyPr wrap="square" lIns="0" tIns="0" rIns="0" bIns="0" anchor="t">
            <a:spAutoFit/>
          </a:bodyPr>
          <a:lstStyle/>
          <a:p>
            <a:pPr algn="l">
              <a:lnSpc>
                <a:spcPct val="100000"/>
              </a:lnSpc>
            </a:pPr>
            <a:r>
              <a:rPr sz="1050" b="0" i="0">
                <a:solidFill>
                  <a:srgbClr val="7C8493"/>
                </a:solidFill>
                <a:latin typeface="Calibri"/>
              </a:rPr>
              <a:t>8</a:t>
            </a:r>
          </a:p>
        </p:txBody>
      </p:sp>
      <p:sp>
        <p:nvSpPr>
          <p:cNvPr id="6" name="Block Arc 5"/>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22992" y="6473952"/>
            <a:ext cx="1554480" cy="201168"/>
          </a:xfrm>
          <a:prstGeom prst="rect">
            <a:avLst/>
          </a:prstGeom>
          <a:noFill/>
        </p:spPr>
        <p:txBody>
          <a:bodyPr wrap="square" lIns="0" tIns="0" rIns="0" bIns="0" anchor="t">
            <a:spAutoFit/>
          </a:bodyPr>
          <a:lstStyle/>
          <a:p>
            <a:pPr algn="l">
              <a:lnSpc>
                <a:spcPct val="100000"/>
              </a:lnSpc>
            </a:pPr>
            <a:r>
              <a:rPr sz="1050" b="1" i="0">
                <a:solidFill>
                  <a:srgbClr val="14255C"/>
                </a:solidFill>
                <a:latin typeface="Calibri"/>
              </a:rPr>
              <a:t>FARMERS</a:t>
            </a:r>
          </a:p>
        </p:txBody>
      </p:sp>
      <p:sp>
        <p:nvSpPr>
          <p:cNvPr id="8" name="TextBox 7"/>
          <p:cNvSpPr txBox="1"/>
          <p:nvPr/>
        </p:nvSpPr>
        <p:spPr>
          <a:xfrm>
            <a:off x="10222992" y="6647688"/>
            <a:ext cx="1554480" cy="182880"/>
          </a:xfrm>
          <a:prstGeom prst="rect">
            <a:avLst/>
          </a:prstGeom>
          <a:noFill/>
        </p:spPr>
        <p:txBody>
          <a:bodyPr wrap="square" lIns="0" tIns="0" rIns="0" bIns="0" anchor="t">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0515600" cy="274320"/>
          </a:xfrm>
          <a:prstGeom prst="rect">
            <a:avLst/>
          </a:prstGeom>
          <a:noFill/>
        </p:spPr>
        <p:txBody>
          <a:bodyPr wrap="square" lIns="0" tIns="0" rIns="0" bIns="0" anchor="t">
            <a:spAutoFit/>
          </a:bodyPr>
          <a:lstStyle/>
          <a:p>
            <a:pPr algn="l">
              <a:lnSpc>
                <a:spcPct val="100000"/>
              </a:lnSpc>
            </a:pPr>
            <a:r>
              <a:rPr sz="1100" b="1" i="0">
                <a:solidFill>
                  <a:srgbClr val="B8872E"/>
                </a:solidFill>
                <a:latin typeface="Calibri"/>
              </a:rPr>
              <a:t>DEMO &amp; ARCHITECTURE</a:t>
            </a:r>
          </a:p>
        </p:txBody>
      </p:sp>
      <p:sp>
        <p:nvSpPr>
          <p:cNvPr id="3" name="TextBox 2"/>
          <p:cNvSpPr txBox="1"/>
          <p:nvPr/>
        </p:nvSpPr>
        <p:spPr>
          <a:xfrm>
            <a:off x="502920" y="438912"/>
            <a:ext cx="10515600" cy="594360"/>
          </a:xfrm>
          <a:prstGeom prst="rect">
            <a:avLst/>
          </a:prstGeom>
          <a:noFill/>
        </p:spPr>
        <p:txBody>
          <a:bodyPr wrap="square" lIns="0" tIns="0" rIns="0" bIns="0" anchor="t">
            <a:spAutoFit/>
          </a:bodyPr>
          <a:lstStyle/>
          <a:p>
            <a:pPr algn="l">
              <a:lnSpc>
                <a:spcPct val="100000"/>
              </a:lnSpc>
            </a:pPr>
            <a:r>
              <a:rPr sz="2600" b="1" i="0">
                <a:solidFill>
                  <a:srgbClr val="14255C"/>
                </a:solidFill>
                <a:latin typeface="Calibri"/>
              </a:rPr>
              <a:t>Five Stages, One Pipeline</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86003" y="3063240"/>
            <a:ext cx="1965960" cy="1188720"/>
          </a:xfrm>
          <a:prstGeom prst="roundRect">
            <a:avLst>
              <a:gd name="adj" fmla="val 14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pPr>
            <a:r>
              <a:rPr sz="1400" b="1">
                <a:solidFill>
                  <a:srgbClr val="FFFFFF"/>
                </a:solidFill>
                <a:latin typeface="Calibri"/>
              </a:rPr>
              <a:t>Policy
Transaction</a:t>
            </a:r>
          </a:p>
          <a:p>
            <a:pPr algn="ctr">
              <a:lnSpc>
                <a:spcPct val="100000"/>
              </a:lnSpc>
              <a:spcBef>
                <a:spcPts val="600"/>
              </a:spcBef>
            </a:pPr>
            <a:r>
              <a:rPr sz="950">
                <a:solidFill>
                  <a:srgbClr val="C9D8EC"/>
                </a:solidFill>
                <a:latin typeface="Calibri"/>
              </a:rPr>
              <a:t>JSON file lands</a:t>
            </a:r>
          </a:p>
        </p:txBody>
      </p:sp>
      <p:sp>
        <p:nvSpPr>
          <p:cNvPr id="6" name="Rounded Rectangle 5"/>
          <p:cNvSpPr/>
          <p:nvPr/>
        </p:nvSpPr>
        <p:spPr>
          <a:xfrm>
            <a:off x="2799435" y="3063240"/>
            <a:ext cx="1965960" cy="1188720"/>
          </a:xfrm>
          <a:prstGeom prst="roundRect">
            <a:avLst>
              <a:gd name="adj" fmla="val 14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pPr>
            <a:r>
              <a:rPr sz="1400" b="1">
                <a:solidFill>
                  <a:srgbClr val="FFFFFF"/>
                </a:solidFill>
                <a:latin typeface="Calibri"/>
              </a:rPr>
              <a:t>Compute
Features</a:t>
            </a:r>
          </a:p>
          <a:p>
            <a:pPr algn="ctr">
              <a:lnSpc>
                <a:spcPct val="100000"/>
              </a:lnSpc>
              <a:spcBef>
                <a:spcPts val="600"/>
              </a:spcBef>
            </a:pPr>
            <a:r>
              <a:rPr sz="950">
                <a:solidFill>
                  <a:srgbClr val="C9D8EC"/>
                </a:solidFill>
                <a:latin typeface="Calibri"/>
              </a:rPr>
              <a:t>PySpark derives policy
features</a:t>
            </a:r>
          </a:p>
        </p:txBody>
      </p:sp>
      <p:sp>
        <p:nvSpPr>
          <p:cNvPr id="7" name="Rounded Rectangle 6"/>
          <p:cNvSpPr/>
          <p:nvPr/>
        </p:nvSpPr>
        <p:spPr>
          <a:xfrm>
            <a:off x="5112867" y="3063240"/>
            <a:ext cx="1965960" cy="1188720"/>
          </a:xfrm>
          <a:prstGeom prst="roundRect">
            <a:avLst>
              <a:gd name="adj" fmla="val 14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pPr>
            <a:r>
              <a:rPr sz="1400" b="1">
                <a:solidFill>
                  <a:srgbClr val="FFFFFF"/>
                </a:solidFill>
                <a:latin typeface="Calibri"/>
              </a:rPr>
              <a:t>Registry
Control</a:t>
            </a:r>
          </a:p>
          <a:p>
            <a:pPr algn="ctr">
              <a:lnSpc>
                <a:spcPct val="100000"/>
              </a:lnSpc>
              <a:spcBef>
                <a:spcPts val="600"/>
              </a:spcBef>
            </a:pPr>
            <a:r>
              <a:rPr sz="950">
                <a:solidFill>
                  <a:srgbClr val="C9D8EC"/>
                </a:solidFill>
                <a:latin typeface="Calibri"/>
              </a:rPr>
              <a:t>Immediate or effective-
date routing</a:t>
            </a:r>
          </a:p>
        </p:txBody>
      </p:sp>
      <p:sp>
        <p:nvSpPr>
          <p:cNvPr id="8" name="Rounded Rectangle 7"/>
          <p:cNvSpPr/>
          <p:nvPr/>
        </p:nvSpPr>
        <p:spPr>
          <a:xfrm>
            <a:off x="7426299" y="3063240"/>
            <a:ext cx="1965960" cy="1188720"/>
          </a:xfrm>
          <a:prstGeom prst="roundRect">
            <a:avLst>
              <a:gd name="adj" fmla="val 14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pPr>
            <a:r>
              <a:rPr sz="1400" b="1">
                <a:solidFill>
                  <a:srgbClr val="FFFFFF"/>
                </a:solidFill>
                <a:latin typeface="Calibri"/>
              </a:rPr>
              <a:t>Online
Feature Store</a:t>
            </a:r>
          </a:p>
          <a:p>
            <a:pPr algn="ctr">
              <a:lnSpc>
                <a:spcPct val="100000"/>
              </a:lnSpc>
              <a:spcBef>
                <a:spcPts val="600"/>
              </a:spcBef>
            </a:pPr>
            <a:r>
              <a:rPr sz="950">
                <a:solidFill>
                  <a:srgbClr val="C9D8EC"/>
                </a:solidFill>
                <a:latin typeface="Calibri"/>
              </a:rPr>
              <a:t>Active table syncs to
Lakebase</a:t>
            </a:r>
          </a:p>
        </p:txBody>
      </p:sp>
      <p:sp>
        <p:nvSpPr>
          <p:cNvPr id="9" name="Rounded Rectangle 8"/>
          <p:cNvSpPr/>
          <p:nvPr/>
        </p:nvSpPr>
        <p:spPr>
          <a:xfrm>
            <a:off x="9739731" y="3063240"/>
            <a:ext cx="1965960" cy="1188720"/>
          </a:xfrm>
          <a:prstGeom prst="roundRect">
            <a:avLst>
              <a:gd name="adj" fmla="val 14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pPr>
            <a:r>
              <a:rPr sz="1400" b="1">
                <a:solidFill>
                  <a:srgbClr val="FFFFFF"/>
                </a:solidFill>
                <a:latin typeface="Calibri"/>
              </a:rPr>
              <a:t>End point</a:t>
            </a:r>
          </a:p>
          <a:p>
            <a:pPr algn="ctr">
              <a:lnSpc>
                <a:spcPct val="100000"/>
              </a:lnSpc>
              <a:spcBef>
                <a:spcPts val="600"/>
              </a:spcBef>
            </a:pPr>
            <a:r>
              <a:rPr sz="950">
                <a:solidFill>
                  <a:srgbClr val="C9D8EC"/>
                </a:solidFill>
                <a:latin typeface="Calibri"/>
              </a:rPr>
              <a:t>Lookup by
policyId/number</a:t>
            </a:r>
          </a:p>
        </p:txBody>
      </p:sp>
      <p:cxnSp>
        <p:nvCxnSpPr>
          <p:cNvPr id="10" name="Connector 9"/>
          <p:cNvCxnSpPr/>
          <p:nvPr/>
        </p:nvCxnSpPr>
        <p:spPr>
          <a:xfrm>
            <a:off x="2451963" y="3657600"/>
            <a:ext cx="347472" cy="0"/>
          </a:xfrm>
          <a:prstGeom prst="line">
            <a:avLst/>
          </a:prstGeom>
          <a:ln w="3175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765395" y="3657600"/>
            <a:ext cx="347472" cy="0"/>
          </a:xfrm>
          <a:prstGeom prst="line">
            <a:avLst/>
          </a:prstGeom>
          <a:ln w="3175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078827" y="3657600"/>
            <a:ext cx="347472" cy="0"/>
          </a:xfrm>
          <a:prstGeom prst="line">
            <a:avLst/>
          </a:prstGeom>
          <a:ln w="3175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392259" y="3657600"/>
            <a:ext cx="347472" cy="0"/>
          </a:xfrm>
          <a:prstGeom prst="line">
            <a:avLst/>
          </a:prstGeom>
          <a:ln w="3175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0" y="1463040"/>
            <a:ext cx="12191695" cy="1280160"/>
          </a:xfrm>
          <a:prstGeom prst="rect">
            <a:avLst/>
          </a:prstGeom>
          <a:noFill/>
        </p:spPr>
        <p:txBody>
          <a:bodyPr wrap="square" lIns="0" tIns="0" rIns="0" bIns="0" anchor="t">
            <a:spAutoFit/>
          </a:bodyPr>
          <a:lstStyle/>
          <a:p>
            <a:pPr algn="ctr">
              <a:lnSpc>
                <a:spcPct val="120000"/>
              </a:lnSpc>
            </a:pPr>
            <a:r>
              <a:rPr sz="1500" b="0" i="1">
                <a:solidFill>
                  <a:srgbClr val="7C8493"/>
                </a:solidFill>
                <a:latin typeface="Calibri"/>
              </a:rPr>
              <a:t>One JSON transaction becomes one row of governed, versioned features — computed once, routed correctly, and served fast.</a:t>
            </a:r>
          </a:p>
        </p:txBody>
      </p:sp>
      <p:cxnSp>
        <p:nvCxnSpPr>
          <p:cNvPr id="15" name="Connector 14"/>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11480" y="6528816"/>
            <a:ext cx="548640" cy="274320"/>
          </a:xfrm>
          <a:prstGeom prst="rect">
            <a:avLst/>
          </a:prstGeom>
          <a:noFill/>
        </p:spPr>
        <p:txBody>
          <a:bodyPr wrap="square" lIns="0" tIns="0" rIns="0" bIns="0" anchor="t">
            <a:spAutoFit/>
          </a:bodyPr>
          <a:lstStyle/>
          <a:p>
            <a:pPr algn="l">
              <a:lnSpc>
                <a:spcPct val="100000"/>
              </a:lnSpc>
            </a:pPr>
            <a:r>
              <a:rPr sz="1050" b="0" i="0">
                <a:solidFill>
                  <a:srgbClr val="7C8493"/>
                </a:solidFill>
                <a:latin typeface="Calibri"/>
              </a:rPr>
              <a:t>9</a:t>
            </a:r>
          </a:p>
        </p:txBody>
      </p:sp>
      <p:sp>
        <p:nvSpPr>
          <p:cNvPr id="17" name="Block Arc 16"/>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222992" y="6473952"/>
            <a:ext cx="1554480" cy="201168"/>
          </a:xfrm>
          <a:prstGeom prst="rect">
            <a:avLst/>
          </a:prstGeom>
          <a:noFill/>
        </p:spPr>
        <p:txBody>
          <a:bodyPr wrap="square" lIns="0" tIns="0" rIns="0" bIns="0" anchor="t">
            <a:spAutoFit/>
          </a:bodyPr>
          <a:lstStyle/>
          <a:p>
            <a:pPr algn="l">
              <a:lnSpc>
                <a:spcPct val="100000"/>
              </a:lnSpc>
            </a:pPr>
            <a:r>
              <a:rPr sz="1050" b="1" i="0">
                <a:solidFill>
                  <a:srgbClr val="14255C"/>
                </a:solidFill>
                <a:latin typeface="Calibri"/>
              </a:rPr>
              <a:t>FARMERS</a:t>
            </a:r>
          </a:p>
        </p:txBody>
      </p:sp>
      <p:sp>
        <p:nvSpPr>
          <p:cNvPr id="19" name="TextBox 18"/>
          <p:cNvSpPr txBox="1"/>
          <p:nvPr/>
        </p:nvSpPr>
        <p:spPr>
          <a:xfrm>
            <a:off x="10222992" y="6647688"/>
            <a:ext cx="1554480" cy="182880"/>
          </a:xfrm>
          <a:prstGeom prst="rect">
            <a:avLst/>
          </a:prstGeom>
          <a:noFill/>
        </p:spPr>
        <p:txBody>
          <a:bodyPr wrap="square" lIns="0" tIns="0" rIns="0" bIns="0" anchor="t">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0515600" cy="274320"/>
          </a:xfrm>
          <a:prstGeom prst="rect">
            <a:avLst/>
          </a:prstGeom>
          <a:noFill/>
        </p:spPr>
        <p:txBody>
          <a:bodyPr wrap="square" lIns="0" tIns="0" rIns="0" bIns="0" anchor="t">
            <a:spAutoFit/>
          </a:bodyPr>
          <a:lstStyle/>
          <a:p>
            <a:pPr algn="l">
              <a:lnSpc>
                <a:spcPct val="100000"/>
              </a:lnSpc>
            </a:pPr>
            <a:r>
              <a:rPr sz="1100" b="1" i="0">
                <a:solidFill>
                  <a:srgbClr val="B8872E"/>
                </a:solidFill>
                <a:latin typeface="Calibri"/>
              </a:rPr>
              <a:t>DEMO &amp; ARCHITECTURE</a:t>
            </a:r>
          </a:p>
        </p:txBody>
      </p:sp>
      <p:sp>
        <p:nvSpPr>
          <p:cNvPr id="3" name="TextBox 2"/>
          <p:cNvSpPr txBox="1"/>
          <p:nvPr/>
        </p:nvSpPr>
        <p:spPr>
          <a:xfrm>
            <a:off x="502920" y="438912"/>
            <a:ext cx="10515600" cy="594360"/>
          </a:xfrm>
          <a:prstGeom prst="rect">
            <a:avLst/>
          </a:prstGeom>
          <a:noFill/>
        </p:spPr>
        <p:txBody>
          <a:bodyPr wrap="square" lIns="0" tIns="0" rIns="0" bIns="0" anchor="t">
            <a:spAutoFit/>
          </a:bodyPr>
          <a:lstStyle/>
          <a:p>
            <a:pPr algn="l">
              <a:lnSpc>
                <a:spcPct val="100000"/>
              </a:lnSpc>
            </a:pPr>
            <a:r>
              <a:rPr sz="2600" b="1" i="0">
                <a:solidFill>
                  <a:srgbClr val="14255C"/>
                </a:solidFill>
                <a:latin typeface="Calibri"/>
              </a:rPr>
              <a:t>Under the Hood</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02920" y="1325880"/>
            <a:ext cx="4709160" cy="566928"/>
          </a:xfrm>
          <a:prstGeom prst="roundRect">
            <a:avLst>
              <a:gd name="adj" fmla="val 10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5000"/>
              </a:lnSpc>
            </a:pPr>
            <a:r>
              <a:rPr sz="1050" b="1">
                <a:solidFill>
                  <a:srgbClr val="FFFFFF"/>
                </a:solidFill>
                <a:latin typeface="Calibri"/>
              </a:rPr>
              <a:t>Transaction JSON
(Auto Loader)</a:t>
            </a:r>
          </a:p>
        </p:txBody>
      </p:sp>
      <p:sp>
        <p:nvSpPr>
          <p:cNvPr id="6" name="Rounded Rectangle 5"/>
          <p:cNvSpPr/>
          <p:nvPr/>
        </p:nvSpPr>
        <p:spPr>
          <a:xfrm>
            <a:off x="502920" y="2093976"/>
            <a:ext cx="4709160" cy="566928"/>
          </a:xfrm>
          <a:prstGeom prst="roundRect">
            <a:avLst>
              <a:gd name="adj" fmla="val 10000"/>
            </a:avLst>
          </a:prstGeom>
          <a:solidFill>
            <a:srgbClr val="0D1B42"/>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5000"/>
              </a:lnSpc>
            </a:pPr>
            <a:r>
              <a:rPr sz="1050" b="1">
                <a:solidFill>
                  <a:srgbClr val="FFFFFF"/>
                </a:solidFill>
                <a:latin typeface="Calibri"/>
              </a:rPr>
              <a:t>RAW_POLICY_EVENTS
(Bronze)</a:t>
            </a:r>
          </a:p>
        </p:txBody>
      </p:sp>
      <p:sp>
        <p:nvSpPr>
          <p:cNvPr id="7" name="Rounded Rectangle 6"/>
          <p:cNvSpPr/>
          <p:nvPr/>
        </p:nvSpPr>
        <p:spPr>
          <a:xfrm>
            <a:off x="502920" y="2862072"/>
            <a:ext cx="4709160" cy="566928"/>
          </a:xfrm>
          <a:prstGeom prst="roundRect">
            <a:avLst>
              <a:gd name="adj" fmla="val 10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5000"/>
              </a:lnSpc>
            </a:pPr>
            <a:r>
              <a:rPr sz="1050" b="1">
                <a:solidFill>
                  <a:srgbClr val="FFFFFF"/>
                </a:solidFill>
                <a:latin typeface="Calibri"/>
              </a:rPr>
              <a:t>PySpark Feature
Computation</a:t>
            </a:r>
          </a:p>
        </p:txBody>
      </p:sp>
      <p:sp>
        <p:nvSpPr>
          <p:cNvPr id="8" name="Rounded Rectangle 7"/>
          <p:cNvSpPr/>
          <p:nvPr/>
        </p:nvSpPr>
        <p:spPr>
          <a:xfrm>
            <a:off x="502920" y="3630168"/>
            <a:ext cx="4709160" cy="566928"/>
          </a:xfrm>
          <a:prstGeom prst="roundRect">
            <a:avLst>
              <a:gd name="adj" fmla="val 10000"/>
            </a:avLst>
          </a:prstGeom>
          <a:solidFill>
            <a:srgbClr val="0D1B42"/>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5000"/>
              </a:lnSpc>
            </a:pPr>
            <a:r>
              <a:rPr sz="1050" b="1">
                <a:solidFill>
                  <a:srgbClr val="FFFFFF"/>
                </a:solidFill>
                <a:latin typeface="Calibri"/>
              </a:rPr>
              <a:t>COMPUTED_FEATURE_
EVENTS (Silver)</a:t>
            </a:r>
          </a:p>
        </p:txBody>
      </p:sp>
      <p:sp>
        <p:nvSpPr>
          <p:cNvPr id="9" name="Rounded Rectangle 8"/>
          <p:cNvSpPr/>
          <p:nvPr/>
        </p:nvSpPr>
        <p:spPr>
          <a:xfrm>
            <a:off x="502920" y="4398264"/>
            <a:ext cx="4709160" cy="566928"/>
          </a:xfrm>
          <a:prstGeom prst="roundRect">
            <a:avLst>
              <a:gd name="adj" fmla="val 10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5000"/>
              </a:lnSpc>
            </a:pPr>
            <a:r>
              <a:rPr sz="1050" b="1">
                <a:solidFill>
                  <a:srgbClr val="FFFFFF"/>
                </a:solidFill>
                <a:latin typeface="Calibri"/>
              </a:rPr>
              <a:t>Registry-Driven
Routing</a:t>
            </a:r>
          </a:p>
        </p:txBody>
      </p:sp>
      <p:cxnSp>
        <p:nvCxnSpPr>
          <p:cNvPr id="10" name="Connector 9"/>
          <p:cNvCxnSpPr/>
          <p:nvPr/>
        </p:nvCxnSpPr>
        <p:spPr>
          <a:xfrm>
            <a:off x="2857500" y="1892807"/>
            <a:ext cx="0" cy="201169"/>
          </a:xfrm>
          <a:prstGeom prst="line">
            <a:avLst/>
          </a:prstGeom>
          <a:ln w="2540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857500" y="2660904"/>
            <a:ext cx="0" cy="201168"/>
          </a:xfrm>
          <a:prstGeom prst="line">
            <a:avLst/>
          </a:prstGeom>
          <a:ln w="2540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857500" y="3429000"/>
            <a:ext cx="0" cy="201168"/>
          </a:xfrm>
          <a:prstGeom prst="line">
            <a:avLst/>
          </a:prstGeom>
          <a:ln w="2540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857500" y="4197096"/>
            <a:ext cx="0" cy="201168"/>
          </a:xfrm>
          <a:prstGeom prst="line">
            <a:avLst/>
          </a:prstGeom>
          <a:ln w="2540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394960" y="2093976"/>
            <a:ext cx="1600199" cy="566928"/>
          </a:xfrm>
          <a:prstGeom prst="roundRect">
            <a:avLst>
              <a:gd name="adj" fmla="val 10000"/>
            </a:avLst>
          </a:prstGeom>
          <a:solidFill>
            <a:srgbClr val="B02A37"/>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0000"/>
              </a:lnSpc>
            </a:pPr>
            <a:r>
              <a:rPr sz="900" b="1">
                <a:solidFill>
                  <a:srgbClr val="FFFFFF"/>
                </a:solidFill>
                <a:latin typeface="Calibri"/>
              </a:rPr>
              <a:t>RAW_EVENTS_DLQ
(malformed)</a:t>
            </a:r>
          </a:p>
        </p:txBody>
      </p:sp>
      <p:cxnSp>
        <p:nvCxnSpPr>
          <p:cNvPr id="15" name="Connector 14"/>
          <p:cNvCxnSpPr/>
          <p:nvPr/>
        </p:nvCxnSpPr>
        <p:spPr>
          <a:xfrm>
            <a:off x="5212080" y="2377440"/>
            <a:ext cx="182880" cy="0"/>
          </a:xfrm>
          <a:prstGeom prst="line">
            <a:avLst/>
          </a:prstGeom>
          <a:ln w="19050">
            <a:solidFill>
              <a:srgbClr val="B02A37"/>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2668" y="5221224"/>
            <a:ext cx="1874519" cy="566928"/>
          </a:xfrm>
          <a:prstGeom prst="roundRect">
            <a:avLst>
              <a:gd name="adj" fmla="val 10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0000"/>
              </a:lnSpc>
            </a:pPr>
            <a:r>
              <a:rPr sz="850" b="1">
                <a:solidFill>
                  <a:srgbClr val="FFFFFF"/>
                </a:solidFill>
                <a:latin typeface="Calibri"/>
              </a:rPr>
              <a:t>AUTO_FEATURES_
ACTIVE</a:t>
            </a:r>
          </a:p>
        </p:txBody>
      </p:sp>
      <p:cxnSp>
        <p:nvCxnSpPr>
          <p:cNvPr id="17" name="Connector 16"/>
          <p:cNvCxnSpPr/>
          <p:nvPr/>
        </p:nvCxnSpPr>
        <p:spPr>
          <a:xfrm flipH="1">
            <a:off x="1709928" y="4965192"/>
            <a:ext cx="1147572" cy="256032"/>
          </a:xfrm>
          <a:prstGeom prst="line">
            <a:avLst/>
          </a:prstGeom>
          <a:ln w="1905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811780" y="5221224"/>
            <a:ext cx="1874519" cy="566928"/>
          </a:xfrm>
          <a:prstGeom prst="roundRect">
            <a:avLst>
              <a:gd name="adj" fmla="val 10000"/>
            </a:avLst>
          </a:prstGeom>
          <a:solidFill>
            <a:srgbClr val="B8872E"/>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0000"/>
              </a:lnSpc>
            </a:pPr>
            <a:r>
              <a:rPr sz="850" b="1">
                <a:solidFill>
                  <a:srgbClr val="FFFFFF"/>
                </a:solidFill>
                <a:latin typeface="Calibri"/>
              </a:rPr>
              <a:t>AUTO_FEATURES_
PENDING</a:t>
            </a:r>
          </a:p>
        </p:txBody>
      </p:sp>
      <p:cxnSp>
        <p:nvCxnSpPr>
          <p:cNvPr id="19" name="Connector 18"/>
          <p:cNvCxnSpPr/>
          <p:nvPr/>
        </p:nvCxnSpPr>
        <p:spPr>
          <a:xfrm>
            <a:off x="2857500" y="4965192"/>
            <a:ext cx="891539" cy="256032"/>
          </a:xfrm>
          <a:prstGeom prst="line">
            <a:avLst/>
          </a:prstGeom>
          <a:ln w="1905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850892" y="5221224"/>
            <a:ext cx="1874519" cy="566928"/>
          </a:xfrm>
          <a:prstGeom prst="roundRect">
            <a:avLst>
              <a:gd name="adj" fmla="val 10000"/>
            </a:avLst>
          </a:prstGeom>
          <a:solidFill>
            <a:srgbClr val="7C8493"/>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0000"/>
              </a:lnSpc>
            </a:pPr>
            <a:r>
              <a:rPr sz="850" b="1">
                <a:solidFill>
                  <a:srgbClr val="FFFFFF"/>
                </a:solidFill>
                <a:latin typeface="Calibri"/>
              </a:rPr>
              <a:t>AUTO_FEATURES_
HISTORY</a:t>
            </a:r>
          </a:p>
        </p:txBody>
      </p:sp>
      <p:cxnSp>
        <p:nvCxnSpPr>
          <p:cNvPr id="21" name="Connector 20"/>
          <p:cNvCxnSpPr/>
          <p:nvPr/>
        </p:nvCxnSpPr>
        <p:spPr>
          <a:xfrm>
            <a:off x="2857500" y="4965192"/>
            <a:ext cx="2930652" cy="256032"/>
          </a:xfrm>
          <a:prstGeom prst="line">
            <a:avLst/>
          </a:prstGeom>
          <a:ln w="1905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2920" y="5952744"/>
            <a:ext cx="6492240" cy="274320"/>
          </a:xfrm>
          <a:prstGeom prst="rect">
            <a:avLst/>
          </a:prstGeom>
          <a:noFill/>
        </p:spPr>
        <p:txBody>
          <a:bodyPr wrap="square" lIns="0" tIns="0" rIns="0" bIns="0" anchor="t">
            <a:spAutoFit/>
          </a:bodyPr>
          <a:lstStyle/>
          <a:p>
            <a:pPr algn="ctr">
              <a:lnSpc>
                <a:spcPct val="100000"/>
              </a:lnSpc>
            </a:pPr>
            <a:r>
              <a:rPr sz="900" b="0" i="1">
                <a:solidFill>
                  <a:srgbClr val="7C8493"/>
                </a:solidFill>
                <a:latin typeface="Calibri"/>
              </a:rPr>
              <a:t>Hourly: Pending→Active   ·   Daily: GROUP_A refresh→Active</a:t>
            </a:r>
          </a:p>
        </p:txBody>
      </p:sp>
      <p:sp>
        <p:nvSpPr>
          <p:cNvPr id="23" name="Rounded Rectangle 22"/>
          <p:cNvSpPr/>
          <p:nvPr/>
        </p:nvSpPr>
        <p:spPr>
          <a:xfrm>
            <a:off x="7178040" y="1325880"/>
            <a:ext cx="4510735" cy="4160520"/>
          </a:xfrm>
          <a:prstGeom prst="roundRect">
            <a:avLst>
              <a:gd name="adj" fmla="val 5000"/>
            </a:avLst>
          </a:prstGeom>
          <a:solidFill>
            <a:srgbClr val="E3B6D6"/>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79" y="1645919"/>
            <a:ext cx="3870655" cy="3063239"/>
          </a:xfrm>
          <a:prstGeom prst="rect">
            <a:avLst/>
          </a:prstGeom>
          <a:noFill/>
        </p:spPr>
        <p:txBody>
          <a:bodyPr wrap="square" lIns="0" tIns="0" rIns="0" bIns="0" anchor="t">
            <a:spAutoFit/>
          </a:bodyPr>
          <a:lstStyle/>
          <a:p>
            <a:pPr algn="l">
              <a:lnSpc>
                <a:spcPct val="105000"/>
              </a:lnSpc>
              <a:spcAft>
                <a:spcPts val="1400"/>
              </a:spcAft>
            </a:pPr>
            <a:r>
              <a:rPr sz="1250">
                <a:solidFill>
                  <a:srgbClr val="14255C"/>
                </a:solidFill>
                <a:latin typeface="Calibri"/>
              </a:rPr>
              <a:t>•  Auto Loader lands JSON events into Bronze; malformed ones go to a dead-letter queue.</a:t>
            </a:r>
          </a:p>
          <a:p>
            <a:pPr algn="l">
              <a:lnSpc>
                <a:spcPct val="105000"/>
              </a:lnSpc>
              <a:spcAft>
                <a:spcPts val="1400"/>
              </a:spcAft>
            </a:pPr>
            <a:r>
              <a:rPr sz="1250">
                <a:solidFill>
                  <a:srgbClr val="14255C"/>
                </a:solidFill>
                <a:latin typeface="Calibri"/>
              </a:rPr>
              <a:t>•  Change Data Feed on Bronze triggers PySpark feature computation into Silver.</a:t>
            </a:r>
          </a:p>
          <a:p>
            <a:pPr algn="l">
              <a:lnSpc>
                <a:spcPct val="105000"/>
              </a:lnSpc>
              <a:spcAft>
                <a:spcPts val="1400"/>
              </a:spcAft>
            </a:pPr>
            <a:r>
              <a:rPr sz="1250">
                <a:solidFill>
                  <a:srgbClr val="14255C"/>
                </a:solidFill>
                <a:latin typeface="Calibri"/>
              </a:rPr>
              <a:t>•  Change Data Feed on Silver triggers registry-driven routing.</a:t>
            </a:r>
          </a:p>
          <a:p>
            <a:pPr algn="l">
              <a:lnSpc>
                <a:spcPct val="105000"/>
              </a:lnSpc>
              <a:spcAft>
                <a:spcPts val="1400"/>
              </a:spcAft>
            </a:pPr>
            <a:r>
              <a:rPr sz="1250">
                <a:solidFill>
                  <a:srgbClr val="14255C"/>
                </a:solidFill>
                <a:latin typeface="Calibri"/>
              </a:rPr>
              <a:t>•  Routing fans out to Active, Pending, or History per feature group.</a:t>
            </a:r>
          </a:p>
          <a:p>
            <a:pPr algn="l">
              <a:lnSpc>
                <a:spcPct val="105000"/>
              </a:lnSpc>
              <a:spcAft>
                <a:spcPts val="1400"/>
              </a:spcAft>
            </a:pPr>
            <a:r>
              <a:rPr sz="1250">
                <a:solidFill>
                  <a:srgbClr val="14255C"/>
                </a:solidFill>
                <a:latin typeface="Calibri"/>
              </a:rPr>
              <a:t>•  Active publishes continuously to the Lakebase Online Store.</a:t>
            </a:r>
          </a:p>
        </p:txBody>
      </p:sp>
      <p:sp>
        <p:nvSpPr>
          <p:cNvPr id="25" name="Rounded Rectangle 24"/>
          <p:cNvSpPr/>
          <p:nvPr/>
        </p:nvSpPr>
        <p:spPr>
          <a:xfrm>
            <a:off x="7498079" y="4709160"/>
            <a:ext cx="3870655" cy="566928"/>
          </a:xfrm>
          <a:prstGeom prst="roundRect">
            <a:avLst>
              <a:gd name="adj" fmla="val 12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35240" y="4709160"/>
            <a:ext cx="3596335" cy="566928"/>
          </a:xfrm>
          <a:prstGeom prst="rect">
            <a:avLst/>
          </a:prstGeom>
          <a:noFill/>
        </p:spPr>
        <p:txBody>
          <a:bodyPr wrap="square" lIns="0" tIns="0" rIns="0" bIns="0" anchor="ctr">
            <a:spAutoFit/>
          </a:bodyPr>
          <a:lstStyle/>
          <a:p>
            <a:pPr algn="ctr">
              <a:lnSpc>
                <a:spcPct val="100000"/>
              </a:lnSpc>
            </a:pPr>
            <a:r>
              <a:rPr sz="1250" b="1" i="0">
                <a:solidFill>
                  <a:srgbClr val="FFFFFF"/>
                </a:solidFill>
                <a:latin typeface="Calibri"/>
              </a:rPr>
              <a:t>End State: fast policy ID/number</a:t>
            </a:r>
          </a:p>
          <a:p>
            <a:pPr algn="ctr">
              <a:lnSpc>
                <a:spcPct val="100000"/>
              </a:lnSpc>
            </a:pPr>
            <a:r>
              <a:rPr sz="1250" b="1" i="0">
                <a:solidFill>
                  <a:srgbClr val="FFFFFF"/>
                </a:solidFill>
                <a:latin typeface="Calibri"/>
              </a:rPr>
              <a:t>lookup for model serving</a:t>
            </a:r>
          </a:p>
        </p:txBody>
      </p:sp>
      <p:cxnSp>
        <p:nvCxnSpPr>
          <p:cNvPr id="27" name="Connector 26"/>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11480" y="6528816"/>
            <a:ext cx="548640" cy="274320"/>
          </a:xfrm>
          <a:prstGeom prst="rect">
            <a:avLst/>
          </a:prstGeom>
          <a:noFill/>
        </p:spPr>
        <p:txBody>
          <a:bodyPr wrap="square" lIns="0" tIns="0" rIns="0" bIns="0" anchor="t">
            <a:spAutoFit/>
          </a:bodyPr>
          <a:lstStyle/>
          <a:p>
            <a:pPr algn="l">
              <a:lnSpc>
                <a:spcPct val="100000"/>
              </a:lnSpc>
            </a:pPr>
            <a:r>
              <a:rPr sz="1050" b="0" i="0">
                <a:solidFill>
                  <a:srgbClr val="7C8493"/>
                </a:solidFill>
                <a:latin typeface="Calibri"/>
              </a:rPr>
              <a:t>10</a:t>
            </a:r>
          </a:p>
        </p:txBody>
      </p:sp>
      <p:sp>
        <p:nvSpPr>
          <p:cNvPr id="29" name="Block Arc 28"/>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222992" y="6473952"/>
            <a:ext cx="1554480" cy="201168"/>
          </a:xfrm>
          <a:prstGeom prst="rect">
            <a:avLst/>
          </a:prstGeom>
          <a:noFill/>
        </p:spPr>
        <p:txBody>
          <a:bodyPr wrap="square" lIns="0" tIns="0" rIns="0" bIns="0" anchor="t">
            <a:spAutoFit/>
          </a:bodyPr>
          <a:lstStyle/>
          <a:p>
            <a:pPr algn="l">
              <a:lnSpc>
                <a:spcPct val="100000"/>
              </a:lnSpc>
            </a:pPr>
            <a:r>
              <a:rPr sz="1050" b="1" i="0">
                <a:solidFill>
                  <a:srgbClr val="14255C"/>
                </a:solidFill>
                <a:latin typeface="Calibri"/>
              </a:rPr>
              <a:t>FARMERS</a:t>
            </a:r>
          </a:p>
        </p:txBody>
      </p:sp>
      <p:sp>
        <p:nvSpPr>
          <p:cNvPr id="31" name="TextBox 30"/>
          <p:cNvSpPr txBox="1"/>
          <p:nvPr/>
        </p:nvSpPr>
        <p:spPr>
          <a:xfrm>
            <a:off x="10222992" y="6647688"/>
            <a:ext cx="1554480" cy="182880"/>
          </a:xfrm>
          <a:prstGeom prst="rect">
            <a:avLst/>
          </a:prstGeom>
          <a:noFill/>
        </p:spPr>
        <p:txBody>
          <a:bodyPr wrap="square" lIns="0" tIns="0" rIns="0" bIns="0" anchor="t">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0515600" cy="274320"/>
          </a:xfrm>
          <a:prstGeom prst="rect">
            <a:avLst/>
          </a:prstGeom>
          <a:noFill/>
        </p:spPr>
        <p:txBody>
          <a:bodyPr wrap="square" lIns="0" tIns="0" rIns="0" bIns="0" anchor="t">
            <a:spAutoFit/>
          </a:bodyPr>
          <a:lstStyle/>
          <a:p>
            <a:pPr algn="l">
              <a:lnSpc>
                <a:spcPct val="100000"/>
              </a:lnSpc>
            </a:pPr>
            <a:r>
              <a:rPr sz="1100" b="1" i="0">
                <a:solidFill>
                  <a:srgbClr val="B8872E"/>
                </a:solidFill>
                <a:latin typeface="Calibri"/>
              </a:rPr>
              <a:t>DEMO &amp; ARCHITECTURE</a:t>
            </a:r>
          </a:p>
        </p:txBody>
      </p:sp>
      <p:sp>
        <p:nvSpPr>
          <p:cNvPr id="3" name="TextBox 2"/>
          <p:cNvSpPr txBox="1"/>
          <p:nvPr/>
        </p:nvSpPr>
        <p:spPr>
          <a:xfrm>
            <a:off x="502920" y="438912"/>
            <a:ext cx="10515600" cy="594360"/>
          </a:xfrm>
          <a:prstGeom prst="rect">
            <a:avLst/>
          </a:prstGeom>
          <a:noFill/>
        </p:spPr>
        <p:txBody>
          <a:bodyPr wrap="square" lIns="0" tIns="0" rIns="0" bIns="0" anchor="t">
            <a:spAutoFit/>
          </a:bodyPr>
          <a:lstStyle/>
          <a:p>
            <a:pPr algn="l">
              <a:lnSpc>
                <a:spcPct val="100000"/>
              </a:lnSpc>
            </a:pPr>
            <a:r>
              <a:rPr sz="2600" b="1" i="0">
                <a:solidFill>
                  <a:srgbClr val="14255C"/>
                </a:solidFill>
                <a:latin typeface="Calibri"/>
              </a:rPr>
              <a:t>29 Features, Computed Once</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02920" y="1325880"/>
            <a:ext cx="3246120" cy="4709160"/>
          </a:xfrm>
          <a:prstGeom prst="roundRect">
            <a:avLst>
              <a:gd name="adj" fmla="val 6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00200"/>
            <a:ext cx="2697479" cy="320040"/>
          </a:xfrm>
          <a:prstGeom prst="rect">
            <a:avLst/>
          </a:prstGeom>
          <a:noFill/>
        </p:spPr>
        <p:txBody>
          <a:bodyPr wrap="square" lIns="0" tIns="0" rIns="0" bIns="0" anchor="t">
            <a:spAutoFit/>
          </a:bodyPr>
          <a:lstStyle/>
          <a:p>
            <a:pPr algn="l">
              <a:lnSpc>
                <a:spcPct val="100000"/>
              </a:lnSpc>
            </a:pPr>
            <a:r>
              <a:rPr sz="1500" b="1" i="0">
                <a:solidFill>
                  <a:srgbClr val="FFFFFF"/>
                </a:solidFill>
                <a:latin typeface="Calibri"/>
              </a:rPr>
              <a:t>GROUP A</a:t>
            </a:r>
          </a:p>
        </p:txBody>
      </p:sp>
      <p:sp>
        <p:nvSpPr>
          <p:cNvPr id="7" name="TextBox 6"/>
          <p:cNvSpPr txBox="1"/>
          <p:nvPr/>
        </p:nvSpPr>
        <p:spPr>
          <a:xfrm>
            <a:off x="777240" y="1947672"/>
            <a:ext cx="2697479" cy="274320"/>
          </a:xfrm>
          <a:prstGeom prst="rect">
            <a:avLst/>
          </a:prstGeom>
          <a:noFill/>
        </p:spPr>
        <p:txBody>
          <a:bodyPr wrap="square" lIns="0" tIns="0" rIns="0" bIns="0" anchor="t">
            <a:spAutoFit/>
          </a:bodyPr>
          <a:lstStyle/>
          <a:p>
            <a:pPr algn="l">
              <a:lnSpc>
                <a:spcPct val="100000"/>
              </a:lnSpc>
            </a:pPr>
            <a:r>
              <a:rPr sz="1050" b="0" i="1">
                <a:solidFill>
                  <a:srgbClr val="C9D8EC"/>
                </a:solidFill>
                <a:latin typeface="Calibri"/>
              </a:rPr>
              <a:t>Transaction Feature Store · 5 features</a:t>
            </a:r>
          </a:p>
        </p:txBody>
      </p:sp>
      <p:sp>
        <p:nvSpPr>
          <p:cNvPr id="8" name="TextBox 7"/>
          <p:cNvSpPr txBox="1"/>
          <p:nvPr/>
        </p:nvSpPr>
        <p:spPr>
          <a:xfrm>
            <a:off x="777240" y="2377439"/>
            <a:ext cx="2697479" cy="1737360"/>
          </a:xfrm>
          <a:prstGeom prst="rect">
            <a:avLst/>
          </a:prstGeom>
          <a:noFill/>
        </p:spPr>
        <p:txBody>
          <a:bodyPr wrap="square" lIns="0" tIns="0" rIns="0" bIns="0" anchor="t">
            <a:spAutoFit/>
          </a:bodyPr>
          <a:lstStyle/>
          <a:p>
            <a:pPr algn="l">
              <a:lnSpc>
                <a:spcPct val="105000"/>
              </a:lnSpc>
              <a:spcAft>
                <a:spcPts val="900"/>
              </a:spcAft>
            </a:pPr>
            <a:r>
              <a:rPr sz="1250">
                <a:solidFill>
                  <a:srgbClr val="FFFFFF"/>
                </a:solidFill>
                <a:latin typeface="Calibri"/>
              </a:rPr>
              <a:t>•  TXN_CNT_1D</a:t>
            </a:r>
          </a:p>
          <a:p>
            <a:pPr algn="l">
              <a:lnSpc>
                <a:spcPct val="105000"/>
              </a:lnSpc>
              <a:spcAft>
                <a:spcPts val="900"/>
              </a:spcAft>
            </a:pPr>
            <a:r>
              <a:rPr sz="1250">
                <a:solidFill>
                  <a:srgbClr val="FFFFFF"/>
                </a:solidFill>
                <a:latin typeface="Calibri"/>
              </a:rPr>
              <a:t>•  TXN_CNT_1W</a:t>
            </a:r>
          </a:p>
          <a:p>
            <a:pPr algn="l">
              <a:lnSpc>
                <a:spcPct val="105000"/>
              </a:lnSpc>
              <a:spcAft>
                <a:spcPts val="900"/>
              </a:spcAft>
            </a:pPr>
            <a:r>
              <a:rPr sz="1250">
                <a:solidFill>
                  <a:srgbClr val="FFFFFF"/>
                </a:solidFill>
                <a:latin typeface="Calibri"/>
              </a:rPr>
              <a:t>•  TXN_CNT_1M</a:t>
            </a:r>
          </a:p>
          <a:p>
            <a:pPr algn="l">
              <a:lnSpc>
                <a:spcPct val="105000"/>
              </a:lnSpc>
              <a:spcAft>
                <a:spcPts val="900"/>
              </a:spcAft>
            </a:pPr>
            <a:r>
              <a:rPr sz="1250">
                <a:solidFill>
                  <a:srgbClr val="FFFFFF"/>
                </a:solidFill>
                <a:latin typeface="Calibri"/>
              </a:rPr>
              <a:t>•  OUTSTANDING_TXN_IND</a:t>
            </a:r>
          </a:p>
          <a:p>
            <a:pPr algn="l">
              <a:lnSpc>
                <a:spcPct val="105000"/>
              </a:lnSpc>
              <a:spcAft>
                <a:spcPts val="900"/>
              </a:spcAft>
            </a:pPr>
            <a:r>
              <a:rPr sz="1250">
                <a:solidFill>
                  <a:srgbClr val="FFFFFF"/>
                </a:solidFill>
                <a:latin typeface="Calibri"/>
              </a:rPr>
              <a:t>•  TENURE_YRS</a:t>
            </a:r>
          </a:p>
        </p:txBody>
      </p:sp>
      <p:sp>
        <p:nvSpPr>
          <p:cNvPr id="9" name="TextBox 8"/>
          <p:cNvSpPr txBox="1"/>
          <p:nvPr/>
        </p:nvSpPr>
        <p:spPr>
          <a:xfrm>
            <a:off x="777240" y="4983480"/>
            <a:ext cx="2697479" cy="914400"/>
          </a:xfrm>
          <a:prstGeom prst="rect">
            <a:avLst/>
          </a:prstGeom>
          <a:noFill/>
        </p:spPr>
        <p:txBody>
          <a:bodyPr wrap="square" lIns="0" tIns="0" rIns="0" bIns="0" anchor="t">
            <a:spAutoFit/>
          </a:bodyPr>
          <a:lstStyle/>
          <a:p>
            <a:pPr algn="l">
              <a:lnSpc>
                <a:spcPct val="110000"/>
              </a:lnSpc>
            </a:pPr>
            <a:r>
              <a:rPr sz="950" b="0" i="1">
                <a:solidFill>
                  <a:srgbClr val="C9D8EC"/>
                </a:solidFill>
                <a:latin typeface="Calibri"/>
              </a:rPr>
              <a:t>HOW: driven by wall-clock time (current_timestamp()), not events — recomputed against full RAW_POLICY_EVENTS history every day.</a:t>
            </a:r>
          </a:p>
        </p:txBody>
      </p:sp>
      <p:sp>
        <p:nvSpPr>
          <p:cNvPr id="10" name="TextBox 9"/>
          <p:cNvSpPr txBox="1"/>
          <p:nvPr/>
        </p:nvSpPr>
        <p:spPr>
          <a:xfrm>
            <a:off x="4114800" y="1344168"/>
            <a:ext cx="7315200" cy="320040"/>
          </a:xfrm>
          <a:prstGeom prst="rect">
            <a:avLst/>
          </a:prstGeom>
          <a:noFill/>
        </p:spPr>
        <p:txBody>
          <a:bodyPr wrap="square" lIns="0" tIns="0" rIns="0" bIns="0" anchor="t">
            <a:spAutoFit/>
          </a:bodyPr>
          <a:lstStyle/>
          <a:p>
            <a:pPr algn="l">
              <a:lnSpc>
                <a:spcPct val="100000"/>
              </a:lnSpc>
            </a:pPr>
            <a:r>
              <a:rPr sz="1500" b="1" i="0">
                <a:solidFill>
                  <a:srgbClr val="14255C"/>
                </a:solidFill>
                <a:latin typeface="Calibri"/>
              </a:rPr>
              <a:t>GROUP B</a:t>
            </a:r>
          </a:p>
        </p:txBody>
      </p:sp>
      <p:sp>
        <p:nvSpPr>
          <p:cNvPr id="11" name="TextBox 10"/>
          <p:cNvSpPr txBox="1"/>
          <p:nvPr/>
        </p:nvSpPr>
        <p:spPr>
          <a:xfrm>
            <a:off x="4114800" y="1691640"/>
            <a:ext cx="7315200" cy="274320"/>
          </a:xfrm>
          <a:prstGeom prst="rect">
            <a:avLst/>
          </a:prstGeom>
          <a:noFill/>
        </p:spPr>
        <p:txBody>
          <a:bodyPr wrap="square" lIns="0" tIns="0" rIns="0" bIns="0" anchor="t">
            <a:spAutoFit/>
          </a:bodyPr>
          <a:lstStyle/>
          <a:p>
            <a:pPr algn="l">
              <a:lnSpc>
                <a:spcPct val="100000"/>
              </a:lnSpc>
            </a:pPr>
            <a:r>
              <a:rPr sz="1050" b="0" i="1">
                <a:solidFill>
                  <a:srgbClr val="7C8493"/>
                </a:solidFill>
                <a:latin typeface="Calibri"/>
              </a:rPr>
              <a:t>Vehicle / Driver / Coverage Feature Store · 24 features</a:t>
            </a:r>
          </a:p>
        </p:txBody>
      </p:sp>
      <p:sp>
        <p:nvSpPr>
          <p:cNvPr id="12" name="TextBox 11"/>
          <p:cNvSpPr txBox="1"/>
          <p:nvPr/>
        </p:nvSpPr>
        <p:spPr>
          <a:xfrm>
            <a:off x="4114800" y="2103120"/>
            <a:ext cx="2514600" cy="274320"/>
          </a:xfrm>
          <a:prstGeom prst="rect">
            <a:avLst/>
          </a:prstGeom>
          <a:noFill/>
        </p:spPr>
        <p:txBody>
          <a:bodyPr wrap="square" lIns="0" tIns="0" rIns="0" bIns="0" anchor="t">
            <a:spAutoFit/>
          </a:bodyPr>
          <a:lstStyle/>
          <a:p>
            <a:pPr algn="l">
              <a:lnSpc>
                <a:spcPct val="100000"/>
              </a:lnSpc>
            </a:pPr>
            <a:r>
              <a:rPr sz="1200" b="1" i="0">
                <a:solidFill>
                  <a:srgbClr val="14255C"/>
                </a:solidFill>
                <a:latin typeface="Calibri"/>
              </a:rPr>
              <a:t>Snapshot</a:t>
            </a:r>
          </a:p>
        </p:txBody>
      </p:sp>
      <p:sp>
        <p:nvSpPr>
          <p:cNvPr id="13" name="TextBox 12"/>
          <p:cNvSpPr txBox="1"/>
          <p:nvPr/>
        </p:nvSpPr>
        <p:spPr>
          <a:xfrm>
            <a:off x="4114800" y="2441448"/>
            <a:ext cx="2514600" cy="3383280"/>
          </a:xfrm>
          <a:prstGeom prst="rect">
            <a:avLst/>
          </a:prstGeom>
          <a:noFill/>
        </p:spPr>
        <p:txBody>
          <a:bodyPr wrap="square" lIns="0" tIns="0" rIns="0" bIns="0" anchor="t">
            <a:spAutoFit/>
          </a:bodyPr>
          <a:lstStyle/>
          <a:p>
            <a:pPr algn="l">
              <a:lnSpc>
                <a:spcPct val="100000"/>
              </a:lnSpc>
              <a:spcAft>
                <a:spcPts val="900"/>
              </a:spcAft>
            </a:pPr>
            <a:r>
              <a:rPr sz="1050">
                <a:solidFill>
                  <a:srgbClr val="222733"/>
                </a:solidFill>
                <a:latin typeface="Calibri"/>
              </a:rPr>
              <a:t>•  VEH_CNT</a:t>
            </a:r>
          </a:p>
          <a:p>
            <a:pPr algn="l">
              <a:lnSpc>
                <a:spcPct val="100000"/>
              </a:lnSpc>
              <a:spcAft>
                <a:spcPts val="900"/>
              </a:spcAft>
            </a:pPr>
            <a:r>
              <a:rPr sz="1050">
                <a:solidFill>
                  <a:srgbClr val="222733"/>
                </a:solidFill>
                <a:latin typeface="Calibri"/>
              </a:rPr>
              <a:t>•  AVG_VEH_AGE</a:t>
            </a:r>
          </a:p>
          <a:p>
            <a:pPr algn="l">
              <a:lnSpc>
                <a:spcPct val="100000"/>
              </a:lnSpc>
              <a:spcAft>
                <a:spcPts val="900"/>
              </a:spcAft>
            </a:pPr>
            <a:r>
              <a:rPr sz="1050">
                <a:solidFill>
                  <a:srgbClr val="222733"/>
                </a:solidFill>
                <a:latin typeface="Calibri"/>
              </a:rPr>
              <a:t>•  VEH_ADDED_LATEST_TXN</a:t>
            </a:r>
          </a:p>
          <a:p>
            <a:pPr algn="l">
              <a:lnSpc>
                <a:spcPct val="100000"/>
              </a:lnSpc>
              <a:spcAft>
                <a:spcPts val="900"/>
              </a:spcAft>
            </a:pPr>
            <a:r>
              <a:rPr sz="1050">
                <a:solidFill>
                  <a:srgbClr val="222733"/>
                </a:solidFill>
                <a:latin typeface="Calibri"/>
              </a:rPr>
              <a:t>•  DRVR_CNT</a:t>
            </a:r>
          </a:p>
          <a:p>
            <a:pPr algn="l">
              <a:lnSpc>
                <a:spcPct val="100000"/>
              </a:lnSpc>
              <a:spcAft>
                <a:spcPts val="900"/>
              </a:spcAft>
            </a:pPr>
            <a:r>
              <a:rPr sz="1050">
                <a:solidFill>
                  <a:srgbClr val="222733"/>
                </a:solidFill>
                <a:latin typeface="Calibri"/>
              </a:rPr>
              <a:t>•  MAX_DRVR_AGE</a:t>
            </a:r>
          </a:p>
          <a:p>
            <a:pPr algn="l">
              <a:lnSpc>
                <a:spcPct val="100000"/>
              </a:lnSpc>
              <a:spcAft>
                <a:spcPts val="900"/>
              </a:spcAft>
            </a:pPr>
            <a:r>
              <a:rPr sz="1050">
                <a:solidFill>
                  <a:srgbClr val="222733"/>
                </a:solidFill>
                <a:latin typeface="Calibri"/>
              </a:rPr>
              <a:t>•  MIN_DRVR_AGE</a:t>
            </a:r>
          </a:p>
          <a:p>
            <a:pPr algn="l">
              <a:lnSpc>
                <a:spcPct val="100000"/>
              </a:lnSpc>
              <a:spcAft>
                <a:spcPts val="900"/>
              </a:spcAft>
            </a:pPr>
            <a:r>
              <a:rPr sz="1050">
                <a:solidFill>
                  <a:srgbClr val="222733"/>
                </a:solidFill>
                <a:latin typeface="Calibri"/>
              </a:rPr>
              <a:t>•  AVG_DRVR_AGE</a:t>
            </a:r>
          </a:p>
          <a:p>
            <a:pPr algn="l">
              <a:lnSpc>
                <a:spcPct val="100000"/>
              </a:lnSpc>
              <a:spcAft>
                <a:spcPts val="900"/>
              </a:spcAft>
            </a:pPr>
            <a:r>
              <a:rPr sz="1050">
                <a:solidFill>
                  <a:srgbClr val="222733"/>
                </a:solidFill>
                <a:latin typeface="Calibri"/>
              </a:rPr>
              <a:t>•  DRVRS_ADDED_LATEST_TXN</a:t>
            </a:r>
          </a:p>
        </p:txBody>
      </p:sp>
      <p:sp>
        <p:nvSpPr>
          <p:cNvPr id="14" name="TextBox 13"/>
          <p:cNvSpPr txBox="1"/>
          <p:nvPr/>
        </p:nvSpPr>
        <p:spPr>
          <a:xfrm>
            <a:off x="6766560" y="2103120"/>
            <a:ext cx="2514600" cy="274320"/>
          </a:xfrm>
          <a:prstGeom prst="rect">
            <a:avLst/>
          </a:prstGeom>
          <a:noFill/>
        </p:spPr>
        <p:txBody>
          <a:bodyPr wrap="square" lIns="0" tIns="0" rIns="0" bIns="0" anchor="t">
            <a:spAutoFit/>
          </a:bodyPr>
          <a:lstStyle/>
          <a:p>
            <a:pPr algn="l">
              <a:lnSpc>
                <a:spcPct val="100000"/>
              </a:lnSpc>
            </a:pPr>
            <a:r>
              <a:rPr sz="1200" b="1" i="0">
                <a:solidFill>
                  <a:srgbClr val="14255C"/>
                </a:solidFill>
                <a:latin typeface="Calibri"/>
              </a:rPr>
              <a:t>Coverage Lag</a:t>
            </a:r>
          </a:p>
        </p:txBody>
      </p:sp>
      <p:sp>
        <p:nvSpPr>
          <p:cNvPr id="15" name="TextBox 14"/>
          <p:cNvSpPr txBox="1"/>
          <p:nvPr/>
        </p:nvSpPr>
        <p:spPr>
          <a:xfrm>
            <a:off x="6766560" y="2441448"/>
            <a:ext cx="2514600" cy="3383280"/>
          </a:xfrm>
          <a:prstGeom prst="rect">
            <a:avLst/>
          </a:prstGeom>
          <a:noFill/>
        </p:spPr>
        <p:txBody>
          <a:bodyPr wrap="square" lIns="0" tIns="0" rIns="0" bIns="0" anchor="t">
            <a:spAutoFit/>
          </a:bodyPr>
          <a:lstStyle/>
          <a:p>
            <a:pPr algn="l">
              <a:lnSpc>
                <a:spcPct val="100000"/>
              </a:lnSpc>
              <a:spcAft>
                <a:spcPts val="900"/>
              </a:spcAft>
            </a:pPr>
            <a:r>
              <a:rPr sz="1050">
                <a:solidFill>
                  <a:srgbClr val="222733"/>
                </a:solidFill>
                <a:latin typeface="Calibri"/>
              </a:rPr>
              <a:t>•  PREM_CHANGE_AMT</a:t>
            </a:r>
          </a:p>
          <a:p>
            <a:pPr algn="l">
              <a:lnSpc>
                <a:spcPct val="100000"/>
              </a:lnSpc>
              <a:spcAft>
                <a:spcPts val="900"/>
              </a:spcAft>
            </a:pPr>
            <a:r>
              <a:rPr sz="1050">
                <a:solidFill>
                  <a:srgbClr val="222733"/>
                </a:solidFill>
                <a:latin typeface="Calibri"/>
              </a:rPr>
              <a:t>•  BI/PD/MD_COVERAGE_ADDED/REMOVED</a:t>
            </a:r>
          </a:p>
          <a:p>
            <a:pPr algn="l">
              <a:lnSpc>
                <a:spcPct val="100000"/>
              </a:lnSpc>
              <a:spcAft>
                <a:spcPts val="900"/>
              </a:spcAft>
            </a:pPr>
            <a:r>
              <a:rPr sz="1050">
                <a:solidFill>
                  <a:srgbClr val="222733"/>
                </a:solidFill>
                <a:latin typeface="Calibri"/>
              </a:rPr>
              <a:t>•  COLL/COMP/PIP_COVERAGE_ADDED/REMOVED</a:t>
            </a:r>
          </a:p>
          <a:p>
            <a:pPr algn="l">
              <a:lnSpc>
                <a:spcPct val="100000"/>
              </a:lnSpc>
              <a:spcAft>
                <a:spcPts val="900"/>
              </a:spcAft>
            </a:pPr>
            <a:r>
              <a:rPr sz="1050">
                <a:solidFill>
                  <a:srgbClr val="222733"/>
                </a:solidFill>
                <a:latin typeface="Calibri"/>
              </a:rPr>
              <a:t>•  (12 coverage columns total)</a:t>
            </a:r>
          </a:p>
        </p:txBody>
      </p:sp>
      <p:sp>
        <p:nvSpPr>
          <p:cNvPr id="16" name="TextBox 15"/>
          <p:cNvSpPr txBox="1"/>
          <p:nvPr/>
        </p:nvSpPr>
        <p:spPr>
          <a:xfrm>
            <a:off x="9418320" y="2103120"/>
            <a:ext cx="2514600" cy="274320"/>
          </a:xfrm>
          <a:prstGeom prst="rect">
            <a:avLst/>
          </a:prstGeom>
          <a:noFill/>
        </p:spPr>
        <p:txBody>
          <a:bodyPr wrap="square" lIns="0" tIns="0" rIns="0" bIns="0" anchor="t">
            <a:spAutoFit/>
          </a:bodyPr>
          <a:lstStyle/>
          <a:p>
            <a:pPr algn="l">
              <a:lnSpc>
                <a:spcPct val="100000"/>
              </a:lnSpc>
            </a:pPr>
            <a:r>
              <a:rPr sz="1200" b="1" i="0">
                <a:solidFill>
                  <a:srgbClr val="14255C"/>
                </a:solidFill>
                <a:latin typeface="Calibri"/>
              </a:rPr>
              <a:t>Change Indicators</a:t>
            </a:r>
          </a:p>
        </p:txBody>
      </p:sp>
      <p:sp>
        <p:nvSpPr>
          <p:cNvPr id="17" name="TextBox 16"/>
          <p:cNvSpPr txBox="1"/>
          <p:nvPr/>
        </p:nvSpPr>
        <p:spPr>
          <a:xfrm>
            <a:off x="9418320" y="2441448"/>
            <a:ext cx="2514600" cy="3383280"/>
          </a:xfrm>
          <a:prstGeom prst="rect">
            <a:avLst/>
          </a:prstGeom>
          <a:noFill/>
        </p:spPr>
        <p:txBody>
          <a:bodyPr wrap="square" lIns="0" tIns="0" rIns="0" bIns="0" anchor="t">
            <a:spAutoFit/>
          </a:bodyPr>
          <a:lstStyle/>
          <a:p>
            <a:pPr algn="l">
              <a:lnSpc>
                <a:spcPct val="100000"/>
              </a:lnSpc>
              <a:spcAft>
                <a:spcPts val="900"/>
              </a:spcAft>
            </a:pPr>
            <a:r>
              <a:rPr sz="1050">
                <a:solidFill>
                  <a:srgbClr val="222733"/>
                </a:solidFill>
                <a:latin typeface="Calibri"/>
              </a:rPr>
              <a:t>•  COMP_DED_CHANGE_IND</a:t>
            </a:r>
          </a:p>
          <a:p>
            <a:pPr algn="l">
              <a:lnSpc>
                <a:spcPct val="100000"/>
              </a:lnSpc>
              <a:spcAft>
                <a:spcPts val="900"/>
              </a:spcAft>
            </a:pPr>
            <a:r>
              <a:rPr sz="1050">
                <a:solidFill>
                  <a:srgbClr val="222733"/>
                </a:solidFill>
                <a:latin typeface="Calibri"/>
              </a:rPr>
              <a:t>•  GNDR_CHANGE_IND</a:t>
            </a:r>
          </a:p>
          <a:p>
            <a:pPr algn="l">
              <a:lnSpc>
                <a:spcPct val="100000"/>
              </a:lnSpc>
              <a:spcAft>
                <a:spcPts val="900"/>
              </a:spcAft>
            </a:pPr>
            <a:r>
              <a:rPr sz="1050">
                <a:solidFill>
                  <a:srgbClr val="222733"/>
                </a:solidFill>
                <a:latin typeface="Calibri"/>
              </a:rPr>
              <a:t>•  MRTL_CHANGE_IND</a:t>
            </a:r>
          </a:p>
        </p:txBody>
      </p:sp>
      <p:cxnSp>
        <p:nvCxnSpPr>
          <p:cNvPr id="18" name="Connector 17"/>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11480" y="6528816"/>
            <a:ext cx="548640" cy="274320"/>
          </a:xfrm>
          <a:prstGeom prst="rect">
            <a:avLst/>
          </a:prstGeom>
          <a:noFill/>
        </p:spPr>
        <p:txBody>
          <a:bodyPr wrap="square" lIns="0" tIns="0" rIns="0" bIns="0" anchor="t">
            <a:spAutoFit/>
          </a:bodyPr>
          <a:lstStyle/>
          <a:p>
            <a:pPr algn="l">
              <a:lnSpc>
                <a:spcPct val="100000"/>
              </a:lnSpc>
            </a:pPr>
            <a:r>
              <a:rPr sz="1050" b="0" i="0">
                <a:solidFill>
                  <a:srgbClr val="7C8493"/>
                </a:solidFill>
                <a:latin typeface="Calibri"/>
              </a:rPr>
              <a:t>11</a:t>
            </a:r>
          </a:p>
        </p:txBody>
      </p:sp>
      <p:sp>
        <p:nvSpPr>
          <p:cNvPr id="20" name="Block Arc 19"/>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222992" y="6473952"/>
            <a:ext cx="1554480" cy="201168"/>
          </a:xfrm>
          <a:prstGeom prst="rect">
            <a:avLst/>
          </a:prstGeom>
          <a:noFill/>
        </p:spPr>
        <p:txBody>
          <a:bodyPr wrap="square" lIns="0" tIns="0" rIns="0" bIns="0" anchor="t">
            <a:spAutoFit/>
          </a:bodyPr>
          <a:lstStyle/>
          <a:p>
            <a:pPr algn="l">
              <a:lnSpc>
                <a:spcPct val="100000"/>
              </a:lnSpc>
            </a:pPr>
            <a:r>
              <a:rPr sz="1050" b="1" i="0">
                <a:solidFill>
                  <a:srgbClr val="14255C"/>
                </a:solidFill>
                <a:latin typeface="Calibri"/>
              </a:rPr>
              <a:t>FARMERS</a:t>
            </a:r>
          </a:p>
        </p:txBody>
      </p:sp>
      <p:sp>
        <p:nvSpPr>
          <p:cNvPr id="22" name="TextBox 21"/>
          <p:cNvSpPr txBox="1"/>
          <p:nvPr/>
        </p:nvSpPr>
        <p:spPr>
          <a:xfrm>
            <a:off x="10222992" y="6647688"/>
            <a:ext cx="1554480" cy="182880"/>
          </a:xfrm>
          <a:prstGeom prst="rect">
            <a:avLst/>
          </a:prstGeom>
          <a:noFill/>
        </p:spPr>
        <p:txBody>
          <a:bodyPr wrap="square" lIns="0" tIns="0" rIns="0" bIns="0" anchor="t">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0515600" cy="274320"/>
          </a:xfrm>
          <a:prstGeom prst="rect">
            <a:avLst/>
          </a:prstGeom>
          <a:noFill/>
        </p:spPr>
        <p:txBody>
          <a:bodyPr wrap="square" lIns="0" tIns="0" rIns="0" bIns="0" anchor="t">
            <a:spAutoFit/>
          </a:bodyPr>
          <a:lstStyle/>
          <a:p>
            <a:pPr algn="l">
              <a:lnSpc>
                <a:spcPct val="100000"/>
              </a:lnSpc>
            </a:pPr>
            <a:r>
              <a:rPr sz="1100" b="1" i="0">
                <a:solidFill>
                  <a:srgbClr val="B8872E"/>
                </a:solidFill>
                <a:latin typeface="Calibri"/>
              </a:rPr>
              <a:t>DEMO &amp; ARCHITECTURE</a:t>
            </a:r>
          </a:p>
        </p:txBody>
      </p:sp>
      <p:sp>
        <p:nvSpPr>
          <p:cNvPr id="3" name="TextBox 2"/>
          <p:cNvSpPr txBox="1"/>
          <p:nvPr/>
        </p:nvSpPr>
        <p:spPr>
          <a:xfrm>
            <a:off x="502920" y="438912"/>
            <a:ext cx="10515600" cy="594360"/>
          </a:xfrm>
          <a:prstGeom prst="rect">
            <a:avLst/>
          </a:prstGeom>
          <a:noFill/>
        </p:spPr>
        <p:txBody>
          <a:bodyPr wrap="square" lIns="0" tIns="0" rIns="0" bIns="0" anchor="t">
            <a:spAutoFit/>
          </a:bodyPr>
          <a:lstStyle/>
          <a:p>
            <a:pPr algn="l">
              <a:lnSpc>
                <a:spcPct val="100000"/>
              </a:lnSpc>
            </a:pPr>
            <a:r>
              <a:rPr sz="2600" b="1" i="0">
                <a:solidFill>
                  <a:srgbClr val="14255C"/>
                </a:solidFill>
                <a:latin typeface="Calibri"/>
              </a:rPr>
              <a:t>Metadata Decides, Code Doesn't</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502920" y="1371600"/>
          <a:ext cx="6583680" cy="15544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518160">
                <a:tc>
                  <a:txBody>
                    <a:bodyPr/>
                    <a:lstStyle/>
                    <a:p>
                      <a:r>
                        <a:rPr sz="1150" b="1">
                          <a:solidFill>
                            <a:srgbClr val="FFFFFF"/>
                          </a:solidFill>
                          <a:latin typeface="Calibri"/>
                        </a:rPr>
                        <a:t>Feature Group</a:t>
                      </a:r>
                    </a:p>
                  </a:txBody>
                  <a:tcPr anchor="ctr">
                    <a:solidFill>
                      <a:srgbClr val="14255C"/>
                    </a:solidFill>
                  </a:tcPr>
                </a:tc>
                <a:tc>
                  <a:txBody>
                    <a:bodyPr/>
                    <a:lstStyle/>
                    <a:p>
                      <a:r>
                        <a:rPr sz="1150" b="1">
                          <a:solidFill>
                            <a:srgbClr val="FFFFFF"/>
                          </a:solidFill>
                          <a:latin typeface="Calibri"/>
                        </a:rPr>
                        <a:t>Owned Columns</a:t>
                      </a:r>
                    </a:p>
                  </a:txBody>
                  <a:tcPr anchor="ctr">
                    <a:solidFill>
                      <a:srgbClr val="14255C"/>
                    </a:solidFill>
                  </a:tcPr>
                </a:tc>
                <a:tc>
                  <a:txBody>
                    <a:bodyPr/>
                    <a:lstStyle/>
                    <a:p>
                      <a:r>
                        <a:rPr sz="1150" b="1">
                          <a:solidFill>
                            <a:srgbClr val="FFFFFF"/>
                          </a:solidFill>
                          <a:latin typeface="Calibri"/>
                        </a:rPr>
                        <a:t>Routing Type</a:t>
                      </a:r>
                    </a:p>
                  </a:txBody>
                  <a:tcPr anchor="ctr">
                    <a:solidFill>
                      <a:srgbClr val="14255C"/>
                    </a:solidFill>
                  </a:tcPr>
                </a:tc>
                <a:tc>
                  <a:txBody>
                    <a:bodyPr/>
                    <a:lstStyle/>
                    <a:p>
                      <a:r>
                        <a:rPr sz="1150" b="1">
                          <a:solidFill>
                            <a:srgbClr val="FFFFFF"/>
                          </a:solidFill>
                          <a:latin typeface="Calibri"/>
                        </a:rPr>
                        <a:t>Effective-Time Source</a:t>
                      </a:r>
                    </a:p>
                  </a:txBody>
                  <a:tcPr anchor="ctr">
                    <a:solidFill>
                      <a:srgbClr val="14255C"/>
                    </a:solidFill>
                  </a:tcPr>
                </a:tc>
                <a:extLst>
                  <a:ext uri="{0D108BD9-81ED-4DB2-BD59-A6C34878D82A}">
                    <a16:rowId xmlns:a16="http://schemas.microsoft.com/office/drawing/2014/main" val="10000"/>
                  </a:ext>
                </a:extLst>
              </a:tr>
              <a:tr h="518160">
                <a:tc>
                  <a:txBody>
                    <a:bodyPr/>
                    <a:lstStyle/>
                    <a:p>
                      <a:r>
                        <a:rPr sz="1150">
                          <a:solidFill>
                            <a:srgbClr val="14255C"/>
                          </a:solidFill>
                          <a:latin typeface="Calibri"/>
                        </a:rPr>
                        <a:t>GROUP_A</a:t>
                      </a:r>
                    </a:p>
                  </a:txBody>
                  <a:tcPr anchor="ctr">
                    <a:solidFill>
                      <a:srgbClr val="F0DDEC"/>
                    </a:solidFill>
                  </a:tcPr>
                </a:tc>
                <a:tc>
                  <a:txBody>
                    <a:bodyPr/>
                    <a:lstStyle/>
                    <a:p>
                      <a:r>
                        <a:rPr sz="1150">
                          <a:solidFill>
                            <a:srgbClr val="14255C"/>
                          </a:solidFill>
                          <a:latin typeface="Calibri"/>
                        </a:rPr>
                        <a:t>5 columns</a:t>
                      </a:r>
                    </a:p>
                  </a:txBody>
                  <a:tcPr anchor="ctr">
                    <a:solidFill>
                      <a:srgbClr val="F0DDEC"/>
                    </a:solidFill>
                  </a:tcPr>
                </a:tc>
                <a:tc>
                  <a:txBody>
                    <a:bodyPr/>
                    <a:lstStyle/>
                    <a:p>
                      <a:r>
                        <a:rPr sz="1150">
                          <a:solidFill>
                            <a:srgbClr val="14255C"/>
                          </a:solidFill>
                          <a:latin typeface="Calibri"/>
                        </a:rPr>
                        <a:t>Immediate</a:t>
                      </a:r>
                    </a:p>
                  </a:txBody>
                  <a:tcPr anchor="ctr">
                    <a:solidFill>
                      <a:srgbClr val="F0DDEC"/>
                    </a:solidFill>
                  </a:tcPr>
                </a:tc>
                <a:tc>
                  <a:txBody>
                    <a:bodyPr/>
                    <a:lstStyle/>
                    <a:p>
                      <a:r>
                        <a:rPr sz="1150">
                          <a:solidFill>
                            <a:srgbClr val="14255C"/>
                          </a:solidFill>
                          <a:latin typeface="Calibri"/>
                        </a:rPr>
                        <a:t>SRC_TRANS_TMSP</a:t>
                      </a:r>
                    </a:p>
                  </a:txBody>
                  <a:tcPr anchor="ctr">
                    <a:solidFill>
                      <a:srgbClr val="F0DDEC"/>
                    </a:solidFill>
                  </a:tcPr>
                </a:tc>
                <a:extLst>
                  <a:ext uri="{0D108BD9-81ED-4DB2-BD59-A6C34878D82A}">
                    <a16:rowId xmlns:a16="http://schemas.microsoft.com/office/drawing/2014/main" val="10001"/>
                  </a:ext>
                </a:extLst>
              </a:tr>
              <a:tr h="518160">
                <a:tc>
                  <a:txBody>
                    <a:bodyPr/>
                    <a:lstStyle/>
                    <a:p>
                      <a:r>
                        <a:rPr sz="1150">
                          <a:solidFill>
                            <a:srgbClr val="14255C"/>
                          </a:solidFill>
                          <a:latin typeface="Calibri"/>
                        </a:rPr>
                        <a:t>GROUP_B</a:t>
                      </a:r>
                    </a:p>
                  </a:txBody>
                  <a:tcPr anchor="ctr">
                    <a:solidFill>
                      <a:srgbClr val="FFFFFF"/>
                    </a:solidFill>
                  </a:tcPr>
                </a:tc>
                <a:tc>
                  <a:txBody>
                    <a:bodyPr/>
                    <a:lstStyle/>
                    <a:p>
                      <a:r>
                        <a:rPr sz="1150">
                          <a:solidFill>
                            <a:srgbClr val="14255C"/>
                          </a:solidFill>
                          <a:latin typeface="Calibri"/>
                        </a:rPr>
                        <a:t>24 columns</a:t>
                      </a:r>
                    </a:p>
                  </a:txBody>
                  <a:tcPr anchor="ctr">
                    <a:solidFill>
                      <a:srgbClr val="FFFFFF"/>
                    </a:solidFill>
                  </a:tcPr>
                </a:tc>
                <a:tc>
                  <a:txBody>
                    <a:bodyPr/>
                    <a:lstStyle/>
                    <a:p>
                      <a:r>
                        <a:rPr sz="1150">
                          <a:solidFill>
                            <a:srgbClr val="14255C"/>
                          </a:solidFill>
                          <a:latin typeface="Calibri"/>
                        </a:rPr>
                        <a:t>Effective date</a:t>
                      </a:r>
                    </a:p>
                  </a:txBody>
                  <a:tcPr anchor="ctr">
                    <a:solidFill>
                      <a:srgbClr val="FFFFFF"/>
                    </a:solidFill>
                  </a:tcPr>
                </a:tc>
                <a:tc>
                  <a:txBody>
                    <a:bodyPr/>
                    <a:lstStyle/>
                    <a:p>
                      <a:r>
                        <a:rPr sz="1150">
                          <a:solidFill>
                            <a:srgbClr val="14255C"/>
                          </a:solidFill>
                          <a:latin typeface="Calibri"/>
                        </a:rPr>
                        <a:t>EFF_DT</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502920" y="3291840"/>
            <a:ext cx="6400800" cy="274320"/>
          </a:xfrm>
          <a:prstGeom prst="rect">
            <a:avLst/>
          </a:prstGeom>
          <a:noFill/>
        </p:spPr>
        <p:txBody>
          <a:bodyPr wrap="square" lIns="0" tIns="0" rIns="0" bIns="0" anchor="t">
            <a:spAutoFit/>
          </a:bodyPr>
          <a:lstStyle/>
          <a:p>
            <a:pPr algn="l">
              <a:lnSpc>
                <a:spcPct val="100000"/>
              </a:lnSpc>
            </a:pPr>
            <a:r>
              <a:rPr sz="1200" b="1" i="0">
                <a:solidFill>
                  <a:srgbClr val="14255C"/>
                </a:solidFill>
                <a:latin typeface="Calibri"/>
              </a:rPr>
              <a:t>ROUTING DECISION</a:t>
            </a:r>
          </a:p>
        </p:txBody>
      </p:sp>
      <p:sp>
        <p:nvSpPr>
          <p:cNvPr id="7" name="Rounded Rectangle 6"/>
          <p:cNvSpPr/>
          <p:nvPr/>
        </p:nvSpPr>
        <p:spPr>
          <a:xfrm>
            <a:off x="502920" y="3611880"/>
            <a:ext cx="2103120" cy="749808"/>
          </a:xfrm>
          <a:prstGeom prst="roundRect">
            <a:avLst>
              <a:gd name="adj" fmla="val 10000"/>
            </a:avLst>
          </a:prstGeom>
          <a:solidFill>
            <a:srgbClr val="FFFFFF"/>
          </a:solidFill>
          <a:ln w="12700">
            <a:solidFill>
              <a:srgbClr val="E2E0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4255C"/>
                </a:solidFill>
                <a:latin typeface="Calibri"/>
              </a:rPr>
              <a:t>Immediate group</a:t>
            </a:r>
          </a:p>
        </p:txBody>
      </p:sp>
      <p:sp>
        <p:nvSpPr>
          <p:cNvPr id="8" name="TextBox 7"/>
          <p:cNvSpPr txBox="1"/>
          <p:nvPr/>
        </p:nvSpPr>
        <p:spPr>
          <a:xfrm>
            <a:off x="502920" y="4425696"/>
            <a:ext cx="2103120" cy="274320"/>
          </a:xfrm>
          <a:prstGeom prst="rect">
            <a:avLst/>
          </a:prstGeom>
          <a:noFill/>
        </p:spPr>
        <p:txBody>
          <a:bodyPr wrap="square" lIns="0" tIns="0" rIns="0" bIns="0" anchor="t">
            <a:spAutoFit/>
          </a:bodyPr>
          <a:lstStyle/>
          <a:p>
            <a:pPr algn="ctr">
              <a:lnSpc>
                <a:spcPct val="100000"/>
              </a:lnSpc>
            </a:pPr>
            <a:r>
              <a:rPr sz="1200" b="1" i="0">
                <a:solidFill>
                  <a:srgbClr val="14255C"/>
                </a:solidFill>
                <a:latin typeface="Calibri"/>
              </a:rPr>
              <a:t>→ ACTIVE</a:t>
            </a:r>
          </a:p>
        </p:txBody>
      </p:sp>
      <p:sp>
        <p:nvSpPr>
          <p:cNvPr id="9" name="Rounded Rectangle 8"/>
          <p:cNvSpPr/>
          <p:nvPr/>
        </p:nvSpPr>
        <p:spPr>
          <a:xfrm>
            <a:off x="2770632" y="3611880"/>
            <a:ext cx="2103120" cy="749808"/>
          </a:xfrm>
          <a:prstGeom prst="roundRect">
            <a:avLst>
              <a:gd name="adj" fmla="val 10000"/>
            </a:avLst>
          </a:prstGeom>
          <a:solidFill>
            <a:srgbClr val="FFFFFF"/>
          </a:solidFill>
          <a:ln w="12700">
            <a:solidFill>
              <a:srgbClr val="E2E0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4255C"/>
                </a:solidFill>
                <a:latin typeface="Calibri"/>
              </a:rPr>
              <a:t>Due effective-date
(EFF_DT ≤ now)</a:t>
            </a:r>
          </a:p>
        </p:txBody>
      </p:sp>
      <p:sp>
        <p:nvSpPr>
          <p:cNvPr id="10" name="TextBox 9"/>
          <p:cNvSpPr txBox="1"/>
          <p:nvPr/>
        </p:nvSpPr>
        <p:spPr>
          <a:xfrm>
            <a:off x="2770632" y="4425696"/>
            <a:ext cx="2103120" cy="274320"/>
          </a:xfrm>
          <a:prstGeom prst="rect">
            <a:avLst/>
          </a:prstGeom>
          <a:noFill/>
        </p:spPr>
        <p:txBody>
          <a:bodyPr wrap="square" lIns="0" tIns="0" rIns="0" bIns="0" anchor="t">
            <a:spAutoFit/>
          </a:bodyPr>
          <a:lstStyle/>
          <a:p>
            <a:pPr algn="ctr">
              <a:lnSpc>
                <a:spcPct val="100000"/>
              </a:lnSpc>
            </a:pPr>
            <a:r>
              <a:rPr sz="1200" b="1" i="0">
                <a:solidFill>
                  <a:srgbClr val="14255C"/>
                </a:solidFill>
                <a:latin typeface="Calibri"/>
              </a:rPr>
              <a:t>→ ACTIVE</a:t>
            </a:r>
          </a:p>
        </p:txBody>
      </p:sp>
      <p:sp>
        <p:nvSpPr>
          <p:cNvPr id="11" name="Rounded Rectangle 10"/>
          <p:cNvSpPr/>
          <p:nvPr/>
        </p:nvSpPr>
        <p:spPr>
          <a:xfrm>
            <a:off x="5038344" y="3611880"/>
            <a:ext cx="2103120" cy="749808"/>
          </a:xfrm>
          <a:prstGeom prst="roundRect">
            <a:avLst>
              <a:gd name="adj" fmla="val 10000"/>
            </a:avLst>
          </a:prstGeom>
          <a:solidFill>
            <a:srgbClr val="FFFFFF"/>
          </a:solidFill>
          <a:ln w="12700">
            <a:solidFill>
              <a:srgbClr val="E2E0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4255C"/>
                </a:solidFill>
                <a:latin typeface="Calibri"/>
              </a:rPr>
              <a:t>Future effective-date
(EFF_DT &gt; now)</a:t>
            </a:r>
          </a:p>
        </p:txBody>
      </p:sp>
      <p:sp>
        <p:nvSpPr>
          <p:cNvPr id="12" name="TextBox 11"/>
          <p:cNvSpPr txBox="1"/>
          <p:nvPr/>
        </p:nvSpPr>
        <p:spPr>
          <a:xfrm>
            <a:off x="5038344" y="4425696"/>
            <a:ext cx="2103120" cy="274320"/>
          </a:xfrm>
          <a:prstGeom prst="rect">
            <a:avLst/>
          </a:prstGeom>
          <a:noFill/>
        </p:spPr>
        <p:txBody>
          <a:bodyPr wrap="square" lIns="0" tIns="0" rIns="0" bIns="0" anchor="t">
            <a:spAutoFit/>
          </a:bodyPr>
          <a:lstStyle/>
          <a:p>
            <a:pPr algn="ctr">
              <a:lnSpc>
                <a:spcPct val="100000"/>
              </a:lnSpc>
            </a:pPr>
            <a:r>
              <a:rPr sz="1200" b="1" i="0">
                <a:solidFill>
                  <a:srgbClr val="14255C"/>
                </a:solidFill>
                <a:latin typeface="Calibri"/>
              </a:rPr>
              <a:t>→ PENDING</a:t>
            </a:r>
          </a:p>
        </p:txBody>
      </p:sp>
      <p:sp>
        <p:nvSpPr>
          <p:cNvPr id="13" name="Rounded Rectangle 12"/>
          <p:cNvSpPr/>
          <p:nvPr/>
        </p:nvSpPr>
        <p:spPr>
          <a:xfrm>
            <a:off x="7452360" y="1371600"/>
            <a:ext cx="4251960" cy="361188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0" y="1554480"/>
            <a:ext cx="3794760" cy="320040"/>
          </a:xfrm>
          <a:prstGeom prst="rect">
            <a:avLst/>
          </a:prstGeom>
          <a:noFill/>
        </p:spPr>
        <p:txBody>
          <a:bodyPr wrap="square" lIns="0" tIns="0" rIns="0" bIns="0" anchor="t">
            <a:spAutoFit/>
          </a:bodyPr>
          <a:lstStyle/>
          <a:p>
            <a:pPr algn="l">
              <a:lnSpc>
                <a:spcPct val="100000"/>
              </a:lnSpc>
            </a:pPr>
            <a:r>
              <a:rPr sz="1300" b="1" i="0">
                <a:solidFill>
                  <a:srgbClr val="14255C"/>
                </a:solidFill>
                <a:latin typeface="Calibri"/>
              </a:rPr>
              <a:t>WHY IT MATTERS</a:t>
            </a:r>
          </a:p>
        </p:txBody>
      </p:sp>
      <p:sp>
        <p:nvSpPr>
          <p:cNvPr id="15" name="TextBox 14"/>
          <p:cNvSpPr txBox="1"/>
          <p:nvPr/>
        </p:nvSpPr>
        <p:spPr>
          <a:xfrm>
            <a:off x="7680960" y="2011680"/>
            <a:ext cx="3794760" cy="2743200"/>
          </a:xfrm>
          <a:prstGeom prst="rect">
            <a:avLst/>
          </a:prstGeom>
          <a:noFill/>
        </p:spPr>
        <p:txBody>
          <a:bodyPr wrap="square" lIns="0" tIns="0" rIns="0" bIns="0" anchor="t">
            <a:spAutoFit/>
          </a:bodyPr>
          <a:lstStyle/>
          <a:p>
            <a:pPr algn="l">
              <a:lnSpc>
                <a:spcPct val="105000"/>
              </a:lnSpc>
              <a:spcAft>
                <a:spcPts val="1300"/>
              </a:spcAft>
            </a:pPr>
            <a:r>
              <a:rPr sz="1250">
                <a:solidFill>
                  <a:srgbClr val="222733"/>
                </a:solidFill>
                <a:latin typeface="Calibri"/>
              </a:rPr>
              <a:t>•  Feature ownership defined once in the registry</a:t>
            </a:r>
          </a:p>
          <a:p>
            <a:pPr algn="l">
              <a:lnSpc>
                <a:spcPct val="105000"/>
              </a:lnSpc>
              <a:spcAft>
                <a:spcPts val="1300"/>
              </a:spcAft>
            </a:pPr>
            <a:r>
              <a:rPr sz="1250">
                <a:solidFill>
                  <a:srgbClr val="222733"/>
                </a:solidFill>
                <a:latin typeface="Calibri"/>
              </a:rPr>
              <a:t>•  Routing behavior controlled through metadata, not code</a:t>
            </a:r>
          </a:p>
          <a:p>
            <a:pPr algn="l">
              <a:lnSpc>
                <a:spcPct val="105000"/>
              </a:lnSpc>
              <a:spcAft>
                <a:spcPts val="1300"/>
              </a:spcAft>
            </a:pPr>
            <a:r>
              <a:rPr sz="1250">
                <a:solidFill>
                  <a:srgbClr val="222733"/>
                </a:solidFill>
                <a:latin typeface="Calibri"/>
              </a:rPr>
              <a:t>•  New feature groups added with fewer pipeline changes</a:t>
            </a:r>
          </a:p>
          <a:p>
            <a:pPr algn="l">
              <a:lnSpc>
                <a:spcPct val="105000"/>
              </a:lnSpc>
              <a:spcAft>
                <a:spcPts val="1300"/>
              </a:spcAft>
            </a:pPr>
            <a:r>
              <a:rPr sz="1250">
                <a:solidFill>
                  <a:srgbClr val="222733"/>
                </a:solidFill>
                <a:latin typeface="Calibri"/>
              </a:rPr>
              <a:t>•  Prevents schema drift and hardcoded column lists</a:t>
            </a:r>
          </a:p>
        </p:txBody>
      </p:sp>
      <p:sp>
        <p:nvSpPr>
          <p:cNvPr id="16" name="TextBox 15"/>
          <p:cNvSpPr txBox="1"/>
          <p:nvPr/>
        </p:nvSpPr>
        <p:spPr>
          <a:xfrm>
            <a:off x="502920" y="5760720"/>
            <a:ext cx="11201400" cy="411480"/>
          </a:xfrm>
          <a:prstGeom prst="rect">
            <a:avLst/>
          </a:prstGeom>
          <a:noFill/>
        </p:spPr>
        <p:txBody>
          <a:bodyPr wrap="square" lIns="0" tIns="0" rIns="0" bIns="0" anchor="t">
            <a:spAutoFit/>
          </a:bodyPr>
          <a:lstStyle/>
          <a:p>
            <a:pPr algn="l">
              <a:lnSpc>
                <a:spcPct val="100000"/>
              </a:lnSpc>
            </a:pPr>
            <a:r>
              <a:rPr sz="1100" b="0" i="1">
                <a:solidFill>
                  <a:srgbClr val="7C8493"/>
                </a:solidFill>
                <a:latin typeface="Calibri"/>
              </a:rPr>
              <a:t>If POLICY-1001's next endorsement were dated for next month instead of today, this same table sends it to PENDING — held back until its effective date arrives.</a:t>
            </a:r>
          </a:p>
        </p:txBody>
      </p:sp>
      <p:cxnSp>
        <p:nvCxnSpPr>
          <p:cNvPr id="17" name="Connector 16"/>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528816"/>
            <a:ext cx="548640" cy="274320"/>
          </a:xfrm>
          <a:prstGeom prst="rect">
            <a:avLst/>
          </a:prstGeom>
          <a:noFill/>
        </p:spPr>
        <p:txBody>
          <a:bodyPr wrap="square" lIns="0" tIns="0" rIns="0" bIns="0" anchor="t">
            <a:spAutoFit/>
          </a:bodyPr>
          <a:lstStyle/>
          <a:p>
            <a:pPr algn="l">
              <a:lnSpc>
                <a:spcPct val="100000"/>
              </a:lnSpc>
            </a:pPr>
            <a:r>
              <a:rPr sz="1050" b="0" i="0">
                <a:solidFill>
                  <a:srgbClr val="7C8493"/>
                </a:solidFill>
                <a:latin typeface="Calibri"/>
              </a:rPr>
              <a:t>12</a:t>
            </a:r>
          </a:p>
        </p:txBody>
      </p:sp>
      <p:sp>
        <p:nvSpPr>
          <p:cNvPr id="19" name="Block Arc 18"/>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22992" y="6473952"/>
            <a:ext cx="1554480" cy="201168"/>
          </a:xfrm>
          <a:prstGeom prst="rect">
            <a:avLst/>
          </a:prstGeom>
          <a:noFill/>
        </p:spPr>
        <p:txBody>
          <a:bodyPr wrap="square" lIns="0" tIns="0" rIns="0" bIns="0" anchor="t">
            <a:spAutoFit/>
          </a:bodyPr>
          <a:lstStyle/>
          <a:p>
            <a:pPr algn="l">
              <a:lnSpc>
                <a:spcPct val="100000"/>
              </a:lnSpc>
            </a:pPr>
            <a:r>
              <a:rPr sz="1050" b="1" i="0">
                <a:solidFill>
                  <a:srgbClr val="14255C"/>
                </a:solidFill>
                <a:latin typeface="Calibri"/>
              </a:rPr>
              <a:t>FARMERS</a:t>
            </a:r>
          </a:p>
        </p:txBody>
      </p:sp>
      <p:sp>
        <p:nvSpPr>
          <p:cNvPr id="21" name="TextBox 20"/>
          <p:cNvSpPr txBox="1"/>
          <p:nvPr/>
        </p:nvSpPr>
        <p:spPr>
          <a:xfrm>
            <a:off x="10222992" y="6647688"/>
            <a:ext cx="1554480" cy="182880"/>
          </a:xfrm>
          <a:prstGeom prst="rect">
            <a:avLst/>
          </a:prstGeom>
          <a:noFill/>
        </p:spPr>
        <p:txBody>
          <a:bodyPr wrap="square" lIns="0" tIns="0" rIns="0" bIns="0" anchor="t">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0515600" cy="274320"/>
          </a:xfrm>
          <a:prstGeom prst="rect">
            <a:avLst/>
          </a:prstGeom>
          <a:noFill/>
        </p:spPr>
        <p:txBody>
          <a:bodyPr wrap="square" lIns="0" tIns="0" rIns="0" bIns="0" anchor="t">
            <a:spAutoFit/>
          </a:bodyPr>
          <a:lstStyle/>
          <a:p>
            <a:pPr algn="l">
              <a:lnSpc>
                <a:spcPct val="100000"/>
              </a:lnSpc>
            </a:pPr>
            <a:r>
              <a:rPr sz="1100" b="1" i="0">
                <a:solidFill>
                  <a:srgbClr val="B8872E"/>
                </a:solidFill>
                <a:latin typeface="Calibri"/>
              </a:rPr>
              <a:t>RESULTS &amp; ROADMAP</a:t>
            </a:r>
          </a:p>
        </p:txBody>
      </p:sp>
      <p:sp>
        <p:nvSpPr>
          <p:cNvPr id="3" name="TextBox 2"/>
          <p:cNvSpPr txBox="1"/>
          <p:nvPr/>
        </p:nvSpPr>
        <p:spPr>
          <a:xfrm>
            <a:off x="502920" y="438912"/>
            <a:ext cx="10515600" cy="594360"/>
          </a:xfrm>
          <a:prstGeom prst="rect">
            <a:avLst/>
          </a:prstGeom>
          <a:noFill/>
        </p:spPr>
        <p:txBody>
          <a:bodyPr wrap="square" lIns="0" tIns="0" rIns="0" bIns="0" anchor="t">
            <a:spAutoFit/>
          </a:bodyPr>
          <a:lstStyle/>
          <a:p>
            <a:pPr algn="l">
              <a:lnSpc>
                <a:spcPct val="100000"/>
              </a:lnSpc>
            </a:pPr>
            <a:r>
              <a:rPr sz="2600" b="1" i="0">
                <a:solidFill>
                  <a:srgbClr val="14255C"/>
                </a:solidFill>
                <a:latin typeface="Calibri"/>
              </a:rPr>
              <a:t>What Changed</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02920" y="1325880"/>
            <a:ext cx="2670048" cy="1371600"/>
          </a:xfrm>
          <a:prstGeom prst="roundRect">
            <a:avLst>
              <a:gd name="adj" fmla="val 5000"/>
            </a:avLst>
          </a:prstGeom>
          <a:solidFill>
            <a:srgbClr val="14255C"/>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472184"/>
            <a:ext cx="2670048" cy="594360"/>
          </a:xfrm>
          <a:prstGeom prst="rect">
            <a:avLst/>
          </a:prstGeom>
          <a:noFill/>
        </p:spPr>
        <p:txBody>
          <a:bodyPr wrap="square" lIns="0" tIns="0" rIns="0" bIns="0" anchor="t">
            <a:spAutoFit/>
          </a:bodyPr>
          <a:lstStyle/>
          <a:p>
            <a:pPr algn="ctr">
              <a:lnSpc>
                <a:spcPct val="100000"/>
              </a:lnSpc>
            </a:pPr>
            <a:r>
              <a:rPr sz="2800" b="1" i="0">
                <a:solidFill>
                  <a:srgbClr val="FFFFFF"/>
                </a:solidFill>
                <a:latin typeface="Calibri"/>
              </a:rPr>
              <a:t>29</a:t>
            </a:r>
          </a:p>
        </p:txBody>
      </p:sp>
      <p:sp>
        <p:nvSpPr>
          <p:cNvPr id="7" name="TextBox 6"/>
          <p:cNvSpPr txBox="1"/>
          <p:nvPr/>
        </p:nvSpPr>
        <p:spPr>
          <a:xfrm>
            <a:off x="685800" y="2103120"/>
            <a:ext cx="2304288" cy="548640"/>
          </a:xfrm>
          <a:prstGeom prst="rect">
            <a:avLst/>
          </a:prstGeom>
          <a:noFill/>
        </p:spPr>
        <p:txBody>
          <a:bodyPr wrap="square" lIns="0" tIns="0" rIns="0" bIns="0" anchor="t">
            <a:spAutoFit/>
          </a:bodyPr>
          <a:lstStyle/>
          <a:p>
            <a:pPr algn="ctr">
              <a:lnSpc>
                <a:spcPct val="100000"/>
              </a:lnSpc>
            </a:pPr>
            <a:r>
              <a:rPr sz="1100" b="0" i="0">
                <a:solidFill>
                  <a:srgbClr val="C9DAE2"/>
                </a:solidFill>
                <a:latin typeface="Calibri"/>
              </a:rPr>
              <a:t>features centrally</a:t>
            </a:r>
          </a:p>
          <a:p>
            <a:pPr algn="ctr">
              <a:lnSpc>
                <a:spcPct val="100000"/>
              </a:lnSpc>
            </a:pPr>
            <a:r>
              <a:rPr sz="1100" b="0" i="0">
                <a:solidFill>
                  <a:srgbClr val="C9DAE2"/>
                </a:solidFill>
                <a:latin typeface="Calibri"/>
              </a:rPr>
              <a:t>computed</a:t>
            </a:r>
          </a:p>
        </p:txBody>
      </p:sp>
      <p:sp>
        <p:nvSpPr>
          <p:cNvPr id="8" name="Rounded Rectangle 7"/>
          <p:cNvSpPr/>
          <p:nvPr/>
        </p:nvSpPr>
        <p:spPr>
          <a:xfrm>
            <a:off x="3355848" y="1325880"/>
            <a:ext cx="2670048" cy="1371600"/>
          </a:xfrm>
          <a:prstGeom prst="roundRect">
            <a:avLst>
              <a:gd name="adj" fmla="val 5000"/>
            </a:avLst>
          </a:prstGeom>
          <a:solidFill>
            <a:srgbClr val="14255C"/>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55848" y="1472184"/>
            <a:ext cx="2670048" cy="594360"/>
          </a:xfrm>
          <a:prstGeom prst="rect">
            <a:avLst/>
          </a:prstGeom>
          <a:noFill/>
        </p:spPr>
        <p:txBody>
          <a:bodyPr wrap="square" lIns="0" tIns="0" rIns="0" bIns="0" anchor="t">
            <a:spAutoFit/>
          </a:bodyPr>
          <a:lstStyle/>
          <a:p>
            <a:pPr algn="ctr">
              <a:lnSpc>
                <a:spcPct val="100000"/>
              </a:lnSpc>
            </a:pPr>
            <a:r>
              <a:rPr sz="2800" b="1" i="0">
                <a:solidFill>
                  <a:srgbClr val="FFFFFF"/>
                </a:solidFill>
                <a:latin typeface="Calibri"/>
              </a:rPr>
              <a:t>~130 ms</a:t>
            </a:r>
          </a:p>
        </p:txBody>
      </p:sp>
      <p:sp>
        <p:nvSpPr>
          <p:cNvPr id="10" name="TextBox 9"/>
          <p:cNvSpPr txBox="1"/>
          <p:nvPr/>
        </p:nvSpPr>
        <p:spPr>
          <a:xfrm>
            <a:off x="3538728" y="2103120"/>
            <a:ext cx="2304288" cy="548640"/>
          </a:xfrm>
          <a:prstGeom prst="rect">
            <a:avLst/>
          </a:prstGeom>
          <a:noFill/>
        </p:spPr>
        <p:txBody>
          <a:bodyPr wrap="square" lIns="0" tIns="0" rIns="0" bIns="0" anchor="t">
            <a:spAutoFit/>
          </a:bodyPr>
          <a:lstStyle/>
          <a:p>
            <a:pPr algn="ctr">
              <a:lnSpc>
                <a:spcPct val="100000"/>
              </a:lnSpc>
            </a:pPr>
            <a:r>
              <a:rPr sz="1100" b="0" i="0">
                <a:solidFill>
                  <a:srgbClr val="C9DAE2"/>
                </a:solidFill>
                <a:latin typeface="Calibri"/>
              </a:rPr>
              <a:t>observed lookup</a:t>
            </a:r>
          </a:p>
          <a:p>
            <a:pPr algn="ctr">
              <a:lnSpc>
                <a:spcPct val="100000"/>
              </a:lnSpc>
            </a:pPr>
            <a:r>
              <a:rPr sz="1100" b="0" i="0">
                <a:solidFill>
                  <a:srgbClr val="C9DAE2"/>
                </a:solidFill>
                <a:latin typeface="Calibri"/>
              </a:rPr>
              <a:t>latency</a:t>
            </a:r>
          </a:p>
        </p:txBody>
      </p:sp>
      <p:sp>
        <p:nvSpPr>
          <p:cNvPr id="11" name="Rounded Rectangle 10"/>
          <p:cNvSpPr/>
          <p:nvPr/>
        </p:nvSpPr>
        <p:spPr>
          <a:xfrm>
            <a:off x="6208776" y="1325880"/>
            <a:ext cx="2670048" cy="1371600"/>
          </a:xfrm>
          <a:prstGeom prst="roundRect">
            <a:avLst>
              <a:gd name="adj" fmla="val 5000"/>
            </a:avLst>
          </a:prstGeom>
          <a:solidFill>
            <a:srgbClr val="14255C"/>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08776" y="1472184"/>
            <a:ext cx="2670048" cy="594360"/>
          </a:xfrm>
          <a:prstGeom prst="rect">
            <a:avLst/>
          </a:prstGeom>
          <a:noFill/>
        </p:spPr>
        <p:txBody>
          <a:bodyPr wrap="square" lIns="0" tIns="0" rIns="0" bIns="0" anchor="t">
            <a:spAutoFit/>
          </a:bodyPr>
          <a:lstStyle/>
          <a:p>
            <a:pPr algn="ctr">
              <a:lnSpc>
                <a:spcPct val="100000"/>
              </a:lnSpc>
            </a:pPr>
            <a:r>
              <a:rPr sz="2800" b="1" i="0">
                <a:solidFill>
                  <a:srgbClr val="FFFFFF"/>
                </a:solidFill>
                <a:latin typeface="Calibri"/>
              </a:rPr>
              <a:t>1</a:t>
            </a:r>
          </a:p>
        </p:txBody>
      </p:sp>
      <p:sp>
        <p:nvSpPr>
          <p:cNvPr id="13" name="TextBox 12"/>
          <p:cNvSpPr txBox="1"/>
          <p:nvPr/>
        </p:nvSpPr>
        <p:spPr>
          <a:xfrm>
            <a:off x="6391656" y="2103120"/>
            <a:ext cx="2304288" cy="548640"/>
          </a:xfrm>
          <a:prstGeom prst="rect">
            <a:avLst/>
          </a:prstGeom>
          <a:noFill/>
        </p:spPr>
        <p:txBody>
          <a:bodyPr wrap="square" lIns="0" tIns="0" rIns="0" bIns="0" anchor="t">
            <a:spAutoFit/>
          </a:bodyPr>
          <a:lstStyle/>
          <a:p>
            <a:pPr algn="ctr">
              <a:lnSpc>
                <a:spcPct val="100000"/>
              </a:lnSpc>
            </a:pPr>
            <a:r>
              <a:rPr sz="1100" b="0" i="0">
                <a:solidFill>
                  <a:srgbClr val="C9DAE2"/>
                </a:solidFill>
                <a:latin typeface="Calibri"/>
              </a:rPr>
              <a:t>active row</a:t>
            </a:r>
          </a:p>
          <a:p>
            <a:pPr algn="ctr">
              <a:lnSpc>
                <a:spcPct val="100000"/>
              </a:lnSpc>
            </a:pPr>
            <a:r>
              <a:rPr sz="1100" b="0" i="0">
                <a:solidFill>
                  <a:srgbClr val="C9DAE2"/>
                </a:solidFill>
                <a:latin typeface="Calibri"/>
              </a:rPr>
              <a:t>per policy</a:t>
            </a:r>
          </a:p>
        </p:txBody>
      </p:sp>
      <p:sp>
        <p:nvSpPr>
          <p:cNvPr id="14" name="Rounded Rectangle 13"/>
          <p:cNvSpPr/>
          <p:nvPr/>
        </p:nvSpPr>
        <p:spPr>
          <a:xfrm>
            <a:off x="9061704" y="1325880"/>
            <a:ext cx="2670048" cy="1371600"/>
          </a:xfrm>
          <a:prstGeom prst="roundRect">
            <a:avLst>
              <a:gd name="adj" fmla="val 5000"/>
            </a:avLst>
          </a:prstGeom>
          <a:solidFill>
            <a:srgbClr val="14255C"/>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61704" y="1472184"/>
            <a:ext cx="2670048" cy="594360"/>
          </a:xfrm>
          <a:prstGeom prst="rect">
            <a:avLst/>
          </a:prstGeom>
          <a:noFill/>
        </p:spPr>
        <p:txBody>
          <a:bodyPr wrap="square" lIns="0" tIns="0" rIns="0" bIns="0" anchor="t">
            <a:spAutoFit/>
          </a:bodyPr>
          <a:lstStyle/>
          <a:p>
            <a:pPr algn="ctr">
              <a:lnSpc>
                <a:spcPct val="100000"/>
              </a:lnSpc>
            </a:pPr>
            <a:r>
              <a:rPr sz="2800" b="1" i="0">
                <a:solidFill>
                  <a:srgbClr val="FFFFFF"/>
                </a:solidFill>
                <a:latin typeface="Calibri"/>
              </a:rPr>
              <a:t>3</a:t>
            </a:r>
          </a:p>
        </p:txBody>
      </p:sp>
      <p:sp>
        <p:nvSpPr>
          <p:cNvPr id="16" name="TextBox 15"/>
          <p:cNvSpPr txBox="1"/>
          <p:nvPr/>
        </p:nvSpPr>
        <p:spPr>
          <a:xfrm>
            <a:off x="9244584" y="2103120"/>
            <a:ext cx="2304288" cy="548640"/>
          </a:xfrm>
          <a:prstGeom prst="rect">
            <a:avLst/>
          </a:prstGeom>
          <a:noFill/>
        </p:spPr>
        <p:txBody>
          <a:bodyPr wrap="square" lIns="0" tIns="0" rIns="0" bIns="0" anchor="t">
            <a:spAutoFit/>
          </a:bodyPr>
          <a:lstStyle/>
          <a:p>
            <a:pPr algn="ctr">
              <a:lnSpc>
                <a:spcPct val="100000"/>
              </a:lnSpc>
            </a:pPr>
            <a:r>
              <a:rPr sz="1100" b="0" i="0">
                <a:solidFill>
                  <a:srgbClr val="C9DAE2"/>
                </a:solidFill>
                <a:latin typeface="Calibri"/>
              </a:rPr>
              <a:t>time states</a:t>
            </a:r>
          </a:p>
          <a:p>
            <a:pPr algn="ctr">
              <a:lnSpc>
                <a:spcPct val="100000"/>
              </a:lnSpc>
            </a:pPr>
            <a:r>
              <a:rPr sz="1100" b="0" i="0">
                <a:solidFill>
                  <a:srgbClr val="C9DAE2"/>
                </a:solidFill>
                <a:latin typeface="Calibri"/>
              </a:rPr>
              <a:t>(past · present · future)</a:t>
            </a:r>
          </a:p>
        </p:txBody>
      </p:sp>
      <p:sp>
        <p:nvSpPr>
          <p:cNvPr id="17" name="Rounded Rectangle 16"/>
          <p:cNvSpPr/>
          <p:nvPr/>
        </p:nvSpPr>
        <p:spPr>
          <a:xfrm>
            <a:off x="502920" y="3017520"/>
            <a:ext cx="5532120" cy="132588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02920" y="3017520"/>
            <a:ext cx="73152" cy="1325880"/>
          </a:xfrm>
          <a:prstGeom prst="roundRect">
            <a:avLst>
              <a:gd name="adj" fmla="val 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8952" y="3136391"/>
            <a:ext cx="5074920" cy="320040"/>
          </a:xfrm>
          <a:prstGeom prst="rect">
            <a:avLst/>
          </a:prstGeom>
          <a:noFill/>
        </p:spPr>
        <p:txBody>
          <a:bodyPr wrap="square" lIns="0" tIns="0" rIns="0" bIns="0" anchor="t">
            <a:spAutoFit/>
          </a:bodyPr>
          <a:lstStyle/>
          <a:p>
            <a:pPr algn="l">
              <a:lnSpc>
                <a:spcPct val="100000"/>
              </a:lnSpc>
            </a:pPr>
            <a:r>
              <a:rPr sz="1350" b="1" i="0">
                <a:solidFill>
                  <a:srgbClr val="14255C"/>
                </a:solidFill>
                <a:latin typeface="Calibri"/>
              </a:rPr>
              <a:t>No Recalculation</a:t>
            </a:r>
          </a:p>
        </p:txBody>
      </p:sp>
      <p:sp>
        <p:nvSpPr>
          <p:cNvPr id="20" name="TextBox 19"/>
          <p:cNvSpPr txBox="1"/>
          <p:nvPr/>
        </p:nvSpPr>
        <p:spPr>
          <a:xfrm>
            <a:off x="758952" y="3493008"/>
            <a:ext cx="5074920" cy="731519"/>
          </a:xfrm>
          <a:prstGeom prst="rect">
            <a:avLst/>
          </a:prstGeom>
          <a:noFill/>
        </p:spPr>
        <p:txBody>
          <a:bodyPr wrap="square" lIns="0" tIns="0" rIns="0" bIns="0" anchor="t">
            <a:spAutoFit/>
          </a:bodyPr>
          <a:lstStyle/>
          <a:p>
            <a:pPr algn="l">
              <a:lnSpc>
                <a:spcPct val="110000"/>
              </a:lnSpc>
            </a:pPr>
            <a:r>
              <a:rPr sz="1100" b="0" i="0">
                <a:solidFill>
                  <a:srgbClr val="222733"/>
                </a:solidFill>
                <a:latin typeface="Calibri"/>
              </a:rPr>
              <a:t>Models consume precomputed features rather than rebuilding the same business logic.</a:t>
            </a:r>
          </a:p>
        </p:txBody>
      </p:sp>
      <p:sp>
        <p:nvSpPr>
          <p:cNvPr id="21" name="Rounded Rectangle 20"/>
          <p:cNvSpPr/>
          <p:nvPr/>
        </p:nvSpPr>
        <p:spPr>
          <a:xfrm>
            <a:off x="6217920" y="3017520"/>
            <a:ext cx="5532120" cy="132588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17920" y="3017520"/>
            <a:ext cx="73152" cy="1325880"/>
          </a:xfrm>
          <a:prstGeom prst="roundRect">
            <a:avLst>
              <a:gd name="adj" fmla="val 0"/>
            </a:avLst>
          </a:prstGeom>
          <a:solidFill>
            <a:srgbClr val="B88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73952" y="3136391"/>
            <a:ext cx="5074920" cy="320040"/>
          </a:xfrm>
          <a:prstGeom prst="rect">
            <a:avLst/>
          </a:prstGeom>
          <a:noFill/>
        </p:spPr>
        <p:txBody>
          <a:bodyPr wrap="square" lIns="0" tIns="0" rIns="0" bIns="0" anchor="t">
            <a:spAutoFit/>
          </a:bodyPr>
          <a:lstStyle/>
          <a:p>
            <a:pPr algn="l">
              <a:lnSpc>
                <a:spcPct val="100000"/>
              </a:lnSpc>
            </a:pPr>
            <a:r>
              <a:rPr sz="1350" b="1" i="0">
                <a:solidFill>
                  <a:srgbClr val="14255C"/>
                </a:solidFill>
                <a:latin typeface="Calibri"/>
              </a:rPr>
              <a:t>Consistency</a:t>
            </a:r>
          </a:p>
        </p:txBody>
      </p:sp>
      <p:sp>
        <p:nvSpPr>
          <p:cNvPr id="24" name="TextBox 23"/>
          <p:cNvSpPr txBox="1"/>
          <p:nvPr/>
        </p:nvSpPr>
        <p:spPr>
          <a:xfrm>
            <a:off x="6473952" y="3493008"/>
            <a:ext cx="5074920" cy="731519"/>
          </a:xfrm>
          <a:prstGeom prst="rect">
            <a:avLst/>
          </a:prstGeom>
          <a:noFill/>
        </p:spPr>
        <p:txBody>
          <a:bodyPr wrap="square" lIns="0" tIns="0" rIns="0" bIns="0" anchor="t">
            <a:spAutoFit/>
          </a:bodyPr>
          <a:lstStyle/>
          <a:p>
            <a:pPr algn="l">
              <a:lnSpc>
                <a:spcPct val="110000"/>
              </a:lnSpc>
            </a:pPr>
            <a:r>
              <a:rPr sz="1100" b="0" i="0">
                <a:solidFill>
                  <a:srgbClr val="222733"/>
                </a:solidFill>
                <a:latin typeface="Calibri"/>
              </a:rPr>
              <a:t>Every model receives features from the same governed definitions and active table.</a:t>
            </a:r>
          </a:p>
        </p:txBody>
      </p:sp>
      <p:sp>
        <p:nvSpPr>
          <p:cNvPr id="25" name="Rounded Rectangle 24"/>
          <p:cNvSpPr/>
          <p:nvPr/>
        </p:nvSpPr>
        <p:spPr>
          <a:xfrm>
            <a:off x="502920" y="4507992"/>
            <a:ext cx="5532120" cy="132588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02920" y="4507992"/>
            <a:ext cx="73152" cy="1325880"/>
          </a:xfrm>
          <a:prstGeom prst="roundRect">
            <a:avLst>
              <a:gd name="adj" fmla="val 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58952" y="4626864"/>
            <a:ext cx="5074920" cy="320040"/>
          </a:xfrm>
          <a:prstGeom prst="rect">
            <a:avLst/>
          </a:prstGeom>
          <a:noFill/>
        </p:spPr>
        <p:txBody>
          <a:bodyPr wrap="square" lIns="0" tIns="0" rIns="0" bIns="0" anchor="t">
            <a:spAutoFit/>
          </a:bodyPr>
          <a:lstStyle/>
          <a:p>
            <a:pPr algn="l">
              <a:lnSpc>
                <a:spcPct val="100000"/>
              </a:lnSpc>
            </a:pPr>
            <a:r>
              <a:rPr sz="1350" b="1" i="0">
                <a:solidFill>
                  <a:srgbClr val="14255C"/>
                </a:solidFill>
                <a:latin typeface="Calibri"/>
              </a:rPr>
              <a:t>Traceability &amp; Auditability</a:t>
            </a:r>
          </a:p>
        </p:txBody>
      </p:sp>
      <p:sp>
        <p:nvSpPr>
          <p:cNvPr id="28" name="TextBox 27"/>
          <p:cNvSpPr txBox="1"/>
          <p:nvPr/>
        </p:nvSpPr>
        <p:spPr>
          <a:xfrm>
            <a:off x="758952" y="4983479"/>
            <a:ext cx="5074920" cy="731519"/>
          </a:xfrm>
          <a:prstGeom prst="rect">
            <a:avLst/>
          </a:prstGeom>
          <a:noFill/>
        </p:spPr>
        <p:txBody>
          <a:bodyPr wrap="square" lIns="0" tIns="0" rIns="0" bIns="0" anchor="t">
            <a:spAutoFit/>
          </a:bodyPr>
          <a:lstStyle/>
          <a:p>
            <a:pPr algn="l">
              <a:lnSpc>
                <a:spcPct val="110000"/>
              </a:lnSpc>
            </a:pPr>
            <a:r>
              <a:rPr sz="1100" b="0" i="0">
                <a:solidFill>
                  <a:srgbClr val="222733"/>
                </a:solidFill>
                <a:latin typeface="Calibri"/>
              </a:rPr>
              <a:t>Source transaction IDs, validity windows, and history allow feature-state reconstruction.</a:t>
            </a:r>
          </a:p>
        </p:txBody>
      </p:sp>
      <p:sp>
        <p:nvSpPr>
          <p:cNvPr id="29" name="Rounded Rectangle 28"/>
          <p:cNvSpPr/>
          <p:nvPr/>
        </p:nvSpPr>
        <p:spPr>
          <a:xfrm>
            <a:off x="6217920" y="4507992"/>
            <a:ext cx="5532120" cy="132588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217920" y="4507992"/>
            <a:ext cx="73152" cy="1325880"/>
          </a:xfrm>
          <a:prstGeom prst="roundRect">
            <a:avLst>
              <a:gd name="adj" fmla="val 0"/>
            </a:avLst>
          </a:prstGeom>
          <a:solidFill>
            <a:srgbClr val="B88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73952" y="4626864"/>
            <a:ext cx="5074920" cy="320040"/>
          </a:xfrm>
          <a:prstGeom prst="rect">
            <a:avLst/>
          </a:prstGeom>
          <a:noFill/>
        </p:spPr>
        <p:txBody>
          <a:bodyPr wrap="square" lIns="0" tIns="0" rIns="0" bIns="0" anchor="t">
            <a:spAutoFit/>
          </a:bodyPr>
          <a:lstStyle/>
          <a:p>
            <a:pPr algn="l">
              <a:lnSpc>
                <a:spcPct val="100000"/>
              </a:lnSpc>
            </a:pPr>
            <a:r>
              <a:rPr sz="1350" b="1" i="0">
                <a:solidFill>
                  <a:srgbClr val="14255C"/>
                </a:solidFill>
                <a:latin typeface="Calibri"/>
              </a:rPr>
              <a:t>Reusability &amp; Scale</a:t>
            </a:r>
          </a:p>
        </p:txBody>
      </p:sp>
      <p:sp>
        <p:nvSpPr>
          <p:cNvPr id="32" name="TextBox 31"/>
          <p:cNvSpPr txBox="1"/>
          <p:nvPr/>
        </p:nvSpPr>
        <p:spPr>
          <a:xfrm>
            <a:off x="6473952" y="4983479"/>
            <a:ext cx="5074920" cy="731519"/>
          </a:xfrm>
          <a:prstGeom prst="rect">
            <a:avLst/>
          </a:prstGeom>
          <a:noFill/>
        </p:spPr>
        <p:txBody>
          <a:bodyPr wrap="square" lIns="0" tIns="0" rIns="0" bIns="0" anchor="t">
            <a:spAutoFit/>
          </a:bodyPr>
          <a:lstStyle/>
          <a:p>
            <a:pPr algn="l">
              <a:lnSpc>
                <a:spcPct val="110000"/>
              </a:lnSpc>
            </a:pPr>
            <a:r>
              <a:rPr sz="1100" b="0" i="0">
                <a:solidFill>
                  <a:srgbClr val="222733"/>
                </a:solidFill>
                <a:latin typeface="Calibri"/>
              </a:rPr>
              <a:t>The same serving layer can support more models and more feature groups.</a:t>
            </a:r>
          </a:p>
        </p:txBody>
      </p:sp>
      <p:sp>
        <p:nvSpPr>
          <p:cNvPr id="33" name="TextBox 32"/>
          <p:cNvSpPr txBox="1"/>
          <p:nvPr/>
        </p:nvSpPr>
        <p:spPr>
          <a:xfrm>
            <a:off x="502920" y="6035040"/>
            <a:ext cx="11201400" cy="274320"/>
          </a:xfrm>
          <a:prstGeom prst="rect">
            <a:avLst/>
          </a:prstGeom>
          <a:noFill/>
        </p:spPr>
        <p:txBody>
          <a:bodyPr wrap="square" lIns="0" tIns="0" rIns="0" bIns="0" anchor="t">
            <a:spAutoFit/>
          </a:bodyPr>
          <a:lstStyle/>
          <a:p>
            <a:pPr algn="l">
              <a:lnSpc>
                <a:spcPct val="100000"/>
              </a:lnSpc>
            </a:pPr>
            <a:r>
              <a:rPr sz="1000" b="0" i="1">
                <a:solidFill>
                  <a:srgbClr val="7C8493"/>
                </a:solidFill>
                <a:latin typeface="Calibri"/>
              </a:rPr>
              <a:t>Latency represents an observed project test result, not a guaranteed service-level agreement.</a:t>
            </a:r>
          </a:p>
        </p:txBody>
      </p:sp>
      <p:cxnSp>
        <p:nvCxnSpPr>
          <p:cNvPr id="34" name="Connector 33"/>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11480" y="6528816"/>
            <a:ext cx="548640" cy="274320"/>
          </a:xfrm>
          <a:prstGeom prst="rect">
            <a:avLst/>
          </a:prstGeom>
          <a:noFill/>
        </p:spPr>
        <p:txBody>
          <a:bodyPr wrap="square" lIns="0" tIns="0" rIns="0" bIns="0" anchor="t">
            <a:spAutoFit/>
          </a:bodyPr>
          <a:lstStyle/>
          <a:p>
            <a:pPr algn="l">
              <a:lnSpc>
                <a:spcPct val="100000"/>
              </a:lnSpc>
            </a:pPr>
            <a:r>
              <a:rPr sz="1050" b="0" i="0">
                <a:solidFill>
                  <a:srgbClr val="7C8493"/>
                </a:solidFill>
                <a:latin typeface="Calibri"/>
              </a:rPr>
              <a:t>13</a:t>
            </a:r>
          </a:p>
        </p:txBody>
      </p:sp>
      <p:sp>
        <p:nvSpPr>
          <p:cNvPr id="36" name="Block Arc 35"/>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222992" y="6473952"/>
            <a:ext cx="1554480" cy="201168"/>
          </a:xfrm>
          <a:prstGeom prst="rect">
            <a:avLst/>
          </a:prstGeom>
          <a:noFill/>
        </p:spPr>
        <p:txBody>
          <a:bodyPr wrap="square" lIns="0" tIns="0" rIns="0" bIns="0" anchor="t">
            <a:spAutoFit/>
          </a:bodyPr>
          <a:lstStyle/>
          <a:p>
            <a:pPr algn="l">
              <a:lnSpc>
                <a:spcPct val="100000"/>
              </a:lnSpc>
            </a:pPr>
            <a:r>
              <a:rPr sz="1050" b="1" i="0">
                <a:solidFill>
                  <a:srgbClr val="14255C"/>
                </a:solidFill>
                <a:latin typeface="Calibri"/>
              </a:rPr>
              <a:t>FARMERS</a:t>
            </a:r>
          </a:p>
        </p:txBody>
      </p:sp>
      <p:sp>
        <p:nvSpPr>
          <p:cNvPr id="38" name="TextBox 37"/>
          <p:cNvSpPr txBox="1"/>
          <p:nvPr/>
        </p:nvSpPr>
        <p:spPr>
          <a:xfrm>
            <a:off x="10222992" y="6647688"/>
            <a:ext cx="1554480" cy="182880"/>
          </a:xfrm>
          <a:prstGeom prst="rect">
            <a:avLst/>
          </a:prstGeom>
          <a:noFill/>
        </p:spPr>
        <p:txBody>
          <a:bodyPr wrap="square" lIns="0" tIns="0" rIns="0" bIns="0" anchor="t">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0515600" cy="274320"/>
          </a:xfrm>
          <a:prstGeom prst="rect">
            <a:avLst/>
          </a:prstGeom>
          <a:noFill/>
        </p:spPr>
        <p:txBody>
          <a:bodyPr wrap="square" lIns="0" tIns="0" rIns="0" bIns="0" anchor="t">
            <a:spAutoFit/>
          </a:bodyPr>
          <a:lstStyle/>
          <a:p>
            <a:pPr algn="l">
              <a:lnSpc>
                <a:spcPct val="100000"/>
              </a:lnSpc>
            </a:pPr>
            <a:r>
              <a:rPr sz="1100" b="1" i="0">
                <a:solidFill>
                  <a:srgbClr val="B8872E"/>
                </a:solidFill>
                <a:latin typeface="Calibri"/>
              </a:rPr>
              <a:t>RESULTS &amp; ROADMAP</a:t>
            </a:r>
          </a:p>
        </p:txBody>
      </p:sp>
      <p:sp>
        <p:nvSpPr>
          <p:cNvPr id="3" name="TextBox 2"/>
          <p:cNvSpPr txBox="1"/>
          <p:nvPr/>
        </p:nvSpPr>
        <p:spPr>
          <a:xfrm>
            <a:off x="502920" y="438912"/>
            <a:ext cx="10515600" cy="594360"/>
          </a:xfrm>
          <a:prstGeom prst="rect">
            <a:avLst/>
          </a:prstGeom>
          <a:noFill/>
        </p:spPr>
        <p:txBody>
          <a:bodyPr wrap="square" lIns="0" tIns="0" rIns="0" bIns="0" anchor="t">
            <a:spAutoFit/>
          </a:bodyPr>
          <a:lstStyle/>
          <a:p>
            <a:pPr algn="l">
              <a:lnSpc>
                <a:spcPct val="100000"/>
              </a:lnSpc>
            </a:pPr>
            <a:r>
              <a:rPr sz="2600" b="1" i="0">
                <a:solidFill>
                  <a:srgbClr val="14255C"/>
                </a:solidFill>
                <a:latin typeface="Calibri"/>
              </a:rPr>
              <a:t>Where the Real Risk Sits</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1188720" y="1417320"/>
            <a:ext cx="4663440" cy="4663440"/>
          </a:xfrm>
          <a:prstGeom prst="roundRect">
            <a:avLst>
              <a:gd name="adj" fmla="val 0"/>
            </a:avLst>
          </a:prstGeom>
          <a:solidFill>
            <a:srgbClr val="F7F7F9"/>
          </a:solidFill>
          <a:ln w="12700">
            <a:solidFill>
              <a:srgbClr val="E2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1188720" y="2971800"/>
            <a:ext cx="4663439" cy="0"/>
          </a:xfrm>
          <a:prstGeom prst="line">
            <a:avLst/>
          </a:prstGeom>
          <a:ln w="9525">
            <a:solidFill>
              <a:srgbClr val="E2E0E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1417320"/>
            <a:ext cx="0" cy="4663439"/>
          </a:xfrm>
          <a:prstGeom prst="line">
            <a:avLst/>
          </a:prstGeom>
          <a:ln w="9525">
            <a:solidFill>
              <a:srgbClr val="E2E0E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4526280"/>
            <a:ext cx="4663439" cy="0"/>
          </a:xfrm>
          <a:prstGeom prst="line">
            <a:avLst/>
          </a:prstGeom>
          <a:ln w="9525">
            <a:solidFill>
              <a:srgbClr val="E2E0E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297680" y="1417320"/>
            <a:ext cx="0" cy="4663439"/>
          </a:xfrm>
          <a:prstGeom prst="line">
            <a:avLst/>
          </a:prstGeom>
          <a:ln w="9525">
            <a:solidFill>
              <a:srgbClr val="E2E0E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20040" y="3566159"/>
            <a:ext cx="822960" cy="365760"/>
          </a:xfrm>
          <a:prstGeom prst="rect">
            <a:avLst/>
          </a:prstGeom>
          <a:noFill/>
        </p:spPr>
        <p:txBody>
          <a:bodyPr wrap="square" lIns="0" tIns="0" rIns="0" bIns="0" anchor="t">
            <a:spAutoFit/>
          </a:bodyPr>
          <a:lstStyle/>
          <a:p>
            <a:pPr algn="ctr">
              <a:lnSpc>
                <a:spcPct val="100000"/>
              </a:lnSpc>
            </a:pPr>
            <a:r>
              <a:rPr sz="1000" b="1" i="0">
                <a:solidFill>
                  <a:srgbClr val="7C8493"/>
                </a:solidFill>
                <a:latin typeface="Calibri"/>
              </a:rPr>
              <a:t>IMPACT</a:t>
            </a:r>
          </a:p>
        </p:txBody>
      </p:sp>
      <p:sp>
        <p:nvSpPr>
          <p:cNvPr id="11" name="TextBox 10"/>
          <p:cNvSpPr txBox="1"/>
          <p:nvPr/>
        </p:nvSpPr>
        <p:spPr>
          <a:xfrm>
            <a:off x="1188720" y="6172199"/>
            <a:ext cx="4663440" cy="274320"/>
          </a:xfrm>
          <a:prstGeom prst="rect">
            <a:avLst/>
          </a:prstGeom>
          <a:noFill/>
        </p:spPr>
        <p:txBody>
          <a:bodyPr wrap="square" lIns="0" tIns="0" rIns="0" bIns="0" anchor="t">
            <a:spAutoFit/>
          </a:bodyPr>
          <a:lstStyle/>
          <a:p>
            <a:pPr algn="ctr">
              <a:lnSpc>
                <a:spcPct val="100000"/>
              </a:lnSpc>
            </a:pPr>
            <a:r>
              <a:rPr sz="1000" b="1" i="0">
                <a:solidFill>
                  <a:srgbClr val="7C8493"/>
                </a:solidFill>
                <a:latin typeface="Calibri"/>
              </a:rPr>
              <a:t>LIKELIHOOD  (low → high)</a:t>
            </a:r>
          </a:p>
        </p:txBody>
      </p:sp>
      <p:sp>
        <p:nvSpPr>
          <p:cNvPr id="12" name="TextBox 11"/>
          <p:cNvSpPr txBox="1"/>
          <p:nvPr/>
        </p:nvSpPr>
        <p:spPr>
          <a:xfrm>
            <a:off x="1051560" y="1371600"/>
            <a:ext cx="274320" cy="4663440"/>
          </a:xfrm>
          <a:prstGeom prst="rect">
            <a:avLst/>
          </a:prstGeom>
          <a:noFill/>
        </p:spPr>
        <p:txBody>
          <a:bodyPr wrap="square" lIns="0" tIns="0" rIns="0" bIns="0" anchor="t">
            <a:spAutoFit/>
          </a:bodyPr>
          <a:lstStyle/>
          <a:p>
            <a:pPr algn="ctr">
              <a:lnSpc>
                <a:spcPct val="100000"/>
              </a:lnSpc>
            </a:pPr>
            <a:r>
              <a:rPr sz="900" b="0" i="0">
                <a:solidFill>
                  <a:srgbClr val="7C8493"/>
                </a:solidFill>
                <a:latin typeface="Calibri"/>
              </a:rPr>
              <a:t>H</a:t>
            </a:r>
          </a:p>
          <a:p>
            <a:pPr algn="ctr">
              <a:lnSpc>
                <a:spcPct val="100000"/>
              </a:lnSpc>
            </a:pPr>
            <a:endParaRPr sz="900" b="0" i="0">
              <a:solidFill>
                <a:srgbClr val="7C8493"/>
              </a:solidFill>
              <a:latin typeface="Calibri"/>
            </a:endParaRPr>
          </a:p>
          <a:p>
            <a:pPr algn="ctr">
              <a:lnSpc>
                <a:spcPct val="100000"/>
              </a:lnSpc>
            </a:pPr>
            <a:endParaRPr sz="900" b="0" i="0">
              <a:solidFill>
                <a:srgbClr val="7C8493"/>
              </a:solidFill>
              <a:latin typeface="Calibri"/>
            </a:endParaRPr>
          </a:p>
          <a:p>
            <a:pPr algn="ctr">
              <a:lnSpc>
                <a:spcPct val="100000"/>
              </a:lnSpc>
            </a:pPr>
            <a:r>
              <a:rPr sz="900" b="0" i="0">
                <a:solidFill>
                  <a:srgbClr val="7C8493"/>
                </a:solidFill>
                <a:latin typeface="Calibri"/>
              </a:rPr>
              <a:t>M</a:t>
            </a:r>
          </a:p>
          <a:p>
            <a:pPr algn="ctr">
              <a:lnSpc>
                <a:spcPct val="100000"/>
              </a:lnSpc>
            </a:pPr>
            <a:endParaRPr sz="900" b="0" i="0">
              <a:solidFill>
                <a:srgbClr val="7C8493"/>
              </a:solidFill>
              <a:latin typeface="Calibri"/>
            </a:endParaRPr>
          </a:p>
          <a:p>
            <a:pPr algn="ctr">
              <a:lnSpc>
                <a:spcPct val="100000"/>
              </a:lnSpc>
            </a:pPr>
            <a:endParaRPr sz="900" b="0" i="0">
              <a:solidFill>
                <a:srgbClr val="7C8493"/>
              </a:solidFill>
              <a:latin typeface="Calibri"/>
            </a:endParaRPr>
          </a:p>
          <a:p>
            <a:pPr algn="ctr">
              <a:lnSpc>
                <a:spcPct val="100000"/>
              </a:lnSpc>
            </a:pPr>
            <a:r>
              <a:rPr sz="900" b="0" i="0">
                <a:solidFill>
                  <a:srgbClr val="7C8493"/>
                </a:solidFill>
                <a:latin typeface="Calibri"/>
              </a:rPr>
              <a:t>L</a:t>
            </a:r>
          </a:p>
        </p:txBody>
      </p:sp>
      <p:sp>
        <p:nvSpPr>
          <p:cNvPr id="13" name="Oval 12"/>
          <p:cNvSpPr/>
          <p:nvPr/>
        </p:nvSpPr>
        <p:spPr>
          <a:xfrm>
            <a:off x="1472184" y="1700784"/>
            <a:ext cx="365760" cy="365760"/>
          </a:xfrm>
          <a:prstGeom prst="ellipse">
            <a:avLst/>
          </a:prstGeom>
          <a:solidFill>
            <a:srgbClr val="2E7D46"/>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9264" y="2112264"/>
            <a:ext cx="1371600" cy="365760"/>
          </a:xfrm>
          <a:prstGeom prst="rect">
            <a:avLst/>
          </a:prstGeom>
          <a:noFill/>
        </p:spPr>
        <p:txBody>
          <a:bodyPr wrap="square" lIns="0" tIns="0" rIns="0" bIns="0" anchor="t">
            <a:spAutoFit/>
          </a:bodyPr>
          <a:lstStyle/>
          <a:p>
            <a:pPr algn="ctr">
              <a:lnSpc>
                <a:spcPct val="90000"/>
              </a:lnSpc>
            </a:pPr>
            <a:r>
              <a:rPr sz="850" b="1" i="0">
                <a:solidFill>
                  <a:srgbClr val="222733"/>
                </a:solidFill>
                <a:latin typeface="Calibri"/>
              </a:rPr>
              <a:t>Temporal</a:t>
            </a:r>
          </a:p>
          <a:p>
            <a:pPr algn="ctr">
              <a:lnSpc>
                <a:spcPct val="90000"/>
              </a:lnSpc>
            </a:pPr>
            <a:r>
              <a:rPr sz="850" b="1" i="0">
                <a:solidFill>
                  <a:srgbClr val="222733"/>
                </a:solidFill>
                <a:latin typeface="Calibri"/>
              </a:rPr>
              <a:t>Routing</a:t>
            </a:r>
          </a:p>
        </p:txBody>
      </p:sp>
      <p:sp>
        <p:nvSpPr>
          <p:cNvPr id="15" name="Oval 14"/>
          <p:cNvSpPr/>
          <p:nvPr/>
        </p:nvSpPr>
        <p:spPr>
          <a:xfrm>
            <a:off x="2498140" y="1980590"/>
            <a:ext cx="365760" cy="365760"/>
          </a:xfrm>
          <a:prstGeom prst="ellipse">
            <a:avLst/>
          </a:prstGeom>
          <a:solidFill>
            <a:srgbClr val="2E7D46"/>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995220" y="1569110"/>
            <a:ext cx="1371600" cy="365760"/>
          </a:xfrm>
          <a:prstGeom prst="rect">
            <a:avLst/>
          </a:prstGeom>
          <a:noFill/>
        </p:spPr>
        <p:txBody>
          <a:bodyPr wrap="square" lIns="0" tIns="0" rIns="0" bIns="0" anchor="b">
            <a:spAutoFit/>
          </a:bodyPr>
          <a:lstStyle/>
          <a:p>
            <a:pPr algn="ctr">
              <a:lnSpc>
                <a:spcPct val="90000"/>
              </a:lnSpc>
            </a:pPr>
            <a:r>
              <a:rPr sz="850" b="1" i="0">
                <a:solidFill>
                  <a:srgbClr val="222733"/>
                </a:solidFill>
                <a:latin typeface="Calibri"/>
              </a:rPr>
              <a:t>History-Window</a:t>
            </a:r>
          </a:p>
          <a:p>
            <a:pPr algn="ctr">
              <a:lnSpc>
                <a:spcPct val="90000"/>
              </a:lnSpc>
            </a:pPr>
            <a:r>
              <a:rPr sz="850" b="1" i="0">
                <a:solidFill>
                  <a:srgbClr val="222733"/>
                </a:solidFill>
                <a:latin typeface="Calibri"/>
              </a:rPr>
              <a:t>Correctness</a:t>
            </a:r>
          </a:p>
        </p:txBody>
      </p:sp>
      <p:sp>
        <p:nvSpPr>
          <p:cNvPr id="17" name="Oval 16"/>
          <p:cNvSpPr/>
          <p:nvPr/>
        </p:nvSpPr>
        <p:spPr>
          <a:xfrm>
            <a:off x="2964484" y="3472891"/>
            <a:ext cx="365760" cy="365760"/>
          </a:xfrm>
          <a:prstGeom prst="ellipse">
            <a:avLst/>
          </a:prstGeom>
          <a:solidFill>
            <a:srgbClr val="B8872E"/>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461564" y="3884371"/>
            <a:ext cx="1371600" cy="365760"/>
          </a:xfrm>
          <a:prstGeom prst="rect">
            <a:avLst/>
          </a:prstGeom>
          <a:noFill/>
        </p:spPr>
        <p:txBody>
          <a:bodyPr wrap="square" lIns="0" tIns="0" rIns="0" bIns="0" anchor="t">
            <a:spAutoFit/>
          </a:bodyPr>
          <a:lstStyle/>
          <a:p>
            <a:pPr algn="ctr">
              <a:lnSpc>
                <a:spcPct val="90000"/>
              </a:lnSpc>
            </a:pPr>
            <a:r>
              <a:rPr sz="850" b="1" i="0">
                <a:solidFill>
                  <a:srgbClr val="222733"/>
                </a:solidFill>
                <a:latin typeface="Calibri"/>
              </a:rPr>
              <a:t>Feature</a:t>
            </a:r>
          </a:p>
          <a:p>
            <a:pPr algn="ctr">
              <a:lnSpc>
                <a:spcPct val="90000"/>
              </a:lnSpc>
            </a:pPr>
            <a:r>
              <a:rPr sz="850" b="1" i="0">
                <a:solidFill>
                  <a:srgbClr val="222733"/>
                </a:solidFill>
                <a:latin typeface="Calibri"/>
              </a:rPr>
              <a:t>Drift</a:t>
            </a:r>
          </a:p>
        </p:txBody>
      </p:sp>
      <p:sp>
        <p:nvSpPr>
          <p:cNvPr id="19" name="Oval 18"/>
          <p:cNvSpPr/>
          <p:nvPr/>
        </p:nvSpPr>
        <p:spPr>
          <a:xfrm>
            <a:off x="2311603" y="4592116"/>
            <a:ext cx="365760" cy="365760"/>
          </a:xfrm>
          <a:prstGeom prst="ellipse">
            <a:avLst/>
          </a:prstGeom>
          <a:solidFill>
            <a:srgbClr val="B8872E"/>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808683" y="4180636"/>
            <a:ext cx="1371600" cy="365760"/>
          </a:xfrm>
          <a:prstGeom prst="rect">
            <a:avLst/>
          </a:prstGeom>
          <a:noFill/>
        </p:spPr>
        <p:txBody>
          <a:bodyPr wrap="square" lIns="0" tIns="0" rIns="0" bIns="0" anchor="b">
            <a:spAutoFit/>
          </a:bodyPr>
          <a:lstStyle/>
          <a:p>
            <a:pPr algn="ctr">
              <a:lnSpc>
                <a:spcPct val="90000"/>
              </a:lnSpc>
            </a:pPr>
            <a:r>
              <a:rPr sz="850" b="1" i="0">
                <a:solidFill>
                  <a:srgbClr val="222733"/>
                </a:solidFill>
                <a:latin typeface="Calibri"/>
              </a:rPr>
              <a:t>Malformed/</a:t>
            </a:r>
          </a:p>
          <a:p>
            <a:pPr algn="ctr">
              <a:lnSpc>
                <a:spcPct val="90000"/>
              </a:lnSpc>
            </a:pPr>
            <a:r>
              <a:rPr sz="850" b="1" i="0">
                <a:solidFill>
                  <a:srgbClr val="222733"/>
                </a:solidFill>
                <a:latin typeface="Calibri"/>
              </a:rPr>
              <a:t>Duplicate Events</a:t>
            </a:r>
          </a:p>
        </p:txBody>
      </p:sp>
      <p:sp>
        <p:nvSpPr>
          <p:cNvPr id="21" name="Oval 20"/>
          <p:cNvSpPr/>
          <p:nvPr/>
        </p:nvSpPr>
        <p:spPr>
          <a:xfrm>
            <a:off x="4176979" y="2726740"/>
            <a:ext cx="365760" cy="365760"/>
          </a:xfrm>
          <a:prstGeom prst="ellipse">
            <a:avLst/>
          </a:prstGeom>
          <a:solidFill>
            <a:srgbClr val="B8872E"/>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74059" y="3138220"/>
            <a:ext cx="1371600" cy="365760"/>
          </a:xfrm>
          <a:prstGeom prst="rect">
            <a:avLst/>
          </a:prstGeom>
          <a:noFill/>
        </p:spPr>
        <p:txBody>
          <a:bodyPr wrap="square" lIns="0" tIns="0" rIns="0" bIns="0" anchor="t">
            <a:spAutoFit/>
          </a:bodyPr>
          <a:lstStyle/>
          <a:p>
            <a:pPr algn="ctr">
              <a:lnSpc>
                <a:spcPct val="90000"/>
              </a:lnSpc>
            </a:pPr>
            <a:r>
              <a:rPr sz="850" b="1" i="0">
                <a:solidFill>
                  <a:srgbClr val="222733"/>
                </a:solidFill>
                <a:latin typeface="Calibri"/>
              </a:rPr>
              <a:t>Online Serving</a:t>
            </a:r>
          </a:p>
          <a:p>
            <a:pPr algn="ctr">
              <a:lnSpc>
                <a:spcPct val="90000"/>
              </a:lnSpc>
            </a:pPr>
            <a:r>
              <a:rPr sz="850" b="1" i="0">
                <a:solidFill>
                  <a:srgbClr val="222733"/>
                </a:solidFill>
                <a:latin typeface="Calibri"/>
              </a:rPr>
              <a:t>Availability</a:t>
            </a:r>
          </a:p>
        </p:txBody>
      </p:sp>
      <p:sp>
        <p:nvSpPr>
          <p:cNvPr id="23" name="Oval 22"/>
          <p:cNvSpPr/>
          <p:nvPr/>
        </p:nvSpPr>
        <p:spPr>
          <a:xfrm>
            <a:off x="5109667" y="4592116"/>
            <a:ext cx="365760" cy="365760"/>
          </a:xfrm>
          <a:prstGeom prst="ellipse">
            <a:avLst/>
          </a:prstGeom>
          <a:solidFill>
            <a:srgbClr val="B02A37"/>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06747" y="4180636"/>
            <a:ext cx="1371600" cy="365760"/>
          </a:xfrm>
          <a:prstGeom prst="rect">
            <a:avLst/>
          </a:prstGeom>
          <a:noFill/>
        </p:spPr>
        <p:txBody>
          <a:bodyPr wrap="square" lIns="0" tIns="0" rIns="0" bIns="0" anchor="b">
            <a:spAutoFit/>
          </a:bodyPr>
          <a:lstStyle/>
          <a:p>
            <a:pPr algn="ctr">
              <a:lnSpc>
                <a:spcPct val="90000"/>
              </a:lnSpc>
            </a:pPr>
            <a:r>
              <a:rPr sz="850" b="1" i="0">
                <a:solidFill>
                  <a:srgbClr val="222733"/>
                </a:solidFill>
                <a:latin typeface="Calibri"/>
              </a:rPr>
              <a:t>History</a:t>
            </a:r>
          </a:p>
          <a:p>
            <a:pPr algn="ctr">
              <a:lnSpc>
                <a:spcPct val="90000"/>
              </a:lnSpc>
            </a:pPr>
            <a:r>
              <a:rPr sz="850" b="1" i="0">
                <a:solidFill>
                  <a:srgbClr val="222733"/>
                </a:solidFill>
                <a:latin typeface="Calibri"/>
              </a:rPr>
              <a:t>Recompute at Scale</a:t>
            </a:r>
          </a:p>
        </p:txBody>
      </p:sp>
      <p:sp>
        <p:nvSpPr>
          <p:cNvPr id="25" name="TextBox 24"/>
          <p:cNvSpPr txBox="1"/>
          <p:nvPr/>
        </p:nvSpPr>
        <p:spPr>
          <a:xfrm>
            <a:off x="6583679" y="1417320"/>
            <a:ext cx="2926080" cy="274320"/>
          </a:xfrm>
          <a:prstGeom prst="rect">
            <a:avLst/>
          </a:prstGeom>
          <a:noFill/>
        </p:spPr>
        <p:txBody>
          <a:bodyPr wrap="square" lIns="0" tIns="0" rIns="0" bIns="0" anchor="t">
            <a:spAutoFit/>
          </a:bodyPr>
          <a:lstStyle/>
          <a:p>
            <a:pPr algn="l">
              <a:lnSpc>
                <a:spcPct val="100000"/>
              </a:lnSpc>
            </a:pPr>
            <a:r>
              <a:rPr sz="1200" b="1" i="0">
                <a:solidFill>
                  <a:srgbClr val="14255C"/>
                </a:solidFill>
                <a:latin typeface="Calibri"/>
              </a:rPr>
              <a:t>MITIGATION STATUS</a:t>
            </a:r>
          </a:p>
        </p:txBody>
      </p:sp>
      <p:sp>
        <p:nvSpPr>
          <p:cNvPr id="26" name="Oval 25"/>
          <p:cNvSpPr/>
          <p:nvPr/>
        </p:nvSpPr>
        <p:spPr>
          <a:xfrm>
            <a:off x="6583679" y="1874519"/>
            <a:ext cx="256032" cy="256032"/>
          </a:xfrm>
          <a:prstGeom prst="ellipse">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67727" y="1819655"/>
            <a:ext cx="3017520" cy="274320"/>
          </a:xfrm>
          <a:prstGeom prst="rect">
            <a:avLst/>
          </a:prstGeom>
          <a:noFill/>
        </p:spPr>
        <p:txBody>
          <a:bodyPr wrap="square" lIns="0" tIns="0" rIns="0" bIns="0" anchor="t">
            <a:spAutoFit/>
          </a:bodyPr>
          <a:lstStyle/>
          <a:p>
            <a:pPr algn="l">
              <a:lnSpc>
                <a:spcPct val="100000"/>
              </a:lnSpc>
            </a:pPr>
            <a:r>
              <a:rPr sz="1150" b="1" i="0">
                <a:solidFill>
                  <a:srgbClr val="14255C"/>
                </a:solidFill>
                <a:latin typeface="Calibri"/>
              </a:rPr>
              <a:t>Structural guarantee in code</a:t>
            </a:r>
          </a:p>
        </p:txBody>
      </p:sp>
      <p:sp>
        <p:nvSpPr>
          <p:cNvPr id="28" name="TextBox 27"/>
          <p:cNvSpPr txBox="1"/>
          <p:nvPr/>
        </p:nvSpPr>
        <p:spPr>
          <a:xfrm>
            <a:off x="6967727" y="2093976"/>
            <a:ext cx="3017520" cy="411480"/>
          </a:xfrm>
          <a:prstGeom prst="rect">
            <a:avLst/>
          </a:prstGeom>
          <a:noFill/>
        </p:spPr>
        <p:txBody>
          <a:bodyPr wrap="square" lIns="0" tIns="0" rIns="0" bIns="0" anchor="t">
            <a:spAutoFit/>
          </a:bodyPr>
          <a:lstStyle/>
          <a:p>
            <a:pPr algn="l">
              <a:lnSpc>
                <a:spcPct val="100000"/>
              </a:lnSpc>
            </a:pPr>
            <a:r>
              <a:rPr sz="1000" b="0" i="0">
                <a:solidFill>
                  <a:srgbClr val="7C8493"/>
                </a:solidFill>
                <a:latin typeface="Calibri"/>
              </a:rPr>
              <a:t>Prevented by table design &amp; routing logic</a:t>
            </a:r>
          </a:p>
        </p:txBody>
      </p:sp>
      <p:sp>
        <p:nvSpPr>
          <p:cNvPr id="29" name="Oval 28"/>
          <p:cNvSpPr/>
          <p:nvPr/>
        </p:nvSpPr>
        <p:spPr>
          <a:xfrm>
            <a:off x="6583679" y="2743200"/>
            <a:ext cx="256032" cy="256032"/>
          </a:xfrm>
          <a:prstGeom prst="ellipse">
            <a:avLst/>
          </a:prstGeom>
          <a:solidFill>
            <a:srgbClr val="B88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67727" y="2688336"/>
            <a:ext cx="3017520" cy="274320"/>
          </a:xfrm>
          <a:prstGeom prst="rect">
            <a:avLst/>
          </a:prstGeom>
          <a:noFill/>
        </p:spPr>
        <p:txBody>
          <a:bodyPr wrap="square" lIns="0" tIns="0" rIns="0" bIns="0" anchor="t">
            <a:spAutoFit/>
          </a:bodyPr>
          <a:lstStyle/>
          <a:p>
            <a:pPr algn="l">
              <a:lnSpc>
                <a:spcPct val="100000"/>
              </a:lnSpc>
            </a:pPr>
            <a:r>
              <a:rPr sz="1150" b="1" i="0">
                <a:solidFill>
                  <a:srgbClr val="14255C"/>
                </a:solidFill>
                <a:latin typeface="Calibri"/>
              </a:rPr>
              <a:t>Operational control in place</a:t>
            </a:r>
          </a:p>
        </p:txBody>
      </p:sp>
      <p:sp>
        <p:nvSpPr>
          <p:cNvPr id="31" name="TextBox 30"/>
          <p:cNvSpPr txBox="1"/>
          <p:nvPr/>
        </p:nvSpPr>
        <p:spPr>
          <a:xfrm>
            <a:off x="6967727" y="2962656"/>
            <a:ext cx="3017520" cy="411480"/>
          </a:xfrm>
          <a:prstGeom prst="rect">
            <a:avLst/>
          </a:prstGeom>
          <a:noFill/>
        </p:spPr>
        <p:txBody>
          <a:bodyPr wrap="square" lIns="0" tIns="0" rIns="0" bIns="0" anchor="t">
            <a:spAutoFit/>
          </a:bodyPr>
          <a:lstStyle/>
          <a:p>
            <a:pPr algn="l">
              <a:lnSpc>
                <a:spcPct val="100000"/>
              </a:lnSpc>
            </a:pPr>
            <a:r>
              <a:rPr sz="1000" b="0" i="0">
                <a:solidFill>
                  <a:srgbClr val="7C8493"/>
                </a:solidFill>
                <a:latin typeface="Calibri"/>
              </a:rPr>
              <a:t>Handled by scheduled jobs, checks, monitoring</a:t>
            </a:r>
          </a:p>
        </p:txBody>
      </p:sp>
      <p:sp>
        <p:nvSpPr>
          <p:cNvPr id="32" name="Oval 31"/>
          <p:cNvSpPr/>
          <p:nvPr/>
        </p:nvSpPr>
        <p:spPr>
          <a:xfrm>
            <a:off x="6583679" y="3611880"/>
            <a:ext cx="256032" cy="256032"/>
          </a:xfrm>
          <a:prstGeom prst="ellipse">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967727" y="3557016"/>
            <a:ext cx="3017520" cy="274320"/>
          </a:xfrm>
          <a:prstGeom prst="rect">
            <a:avLst/>
          </a:prstGeom>
          <a:noFill/>
        </p:spPr>
        <p:txBody>
          <a:bodyPr wrap="square" lIns="0" tIns="0" rIns="0" bIns="0" anchor="t">
            <a:spAutoFit/>
          </a:bodyPr>
          <a:lstStyle/>
          <a:p>
            <a:pPr algn="l">
              <a:lnSpc>
                <a:spcPct val="100000"/>
              </a:lnSpc>
            </a:pPr>
            <a:r>
              <a:rPr sz="1150" b="1" i="0">
                <a:solidFill>
                  <a:srgbClr val="14255C"/>
                </a:solidFill>
                <a:latin typeface="Calibri"/>
              </a:rPr>
              <a:t>Open engineering consideration</a:t>
            </a:r>
          </a:p>
        </p:txBody>
      </p:sp>
      <p:sp>
        <p:nvSpPr>
          <p:cNvPr id="34" name="TextBox 33"/>
          <p:cNvSpPr txBox="1"/>
          <p:nvPr/>
        </p:nvSpPr>
        <p:spPr>
          <a:xfrm>
            <a:off x="6967727" y="3831336"/>
            <a:ext cx="3017520" cy="411480"/>
          </a:xfrm>
          <a:prstGeom prst="rect">
            <a:avLst/>
          </a:prstGeom>
          <a:noFill/>
        </p:spPr>
        <p:txBody>
          <a:bodyPr wrap="square" lIns="0" tIns="0" rIns="0" bIns="0" anchor="t">
            <a:spAutoFit/>
          </a:bodyPr>
          <a:lstStyle/>
          <a:p>
            <a:pPr algn="l">
              <a:lnSpc>
                <a:spcPct val="100000"/>
              </a:lnSpc>
            </a:pPr>
            <a:r>
              <a:rPr sz="1000" b="0" i="0">
                <a:solidFill>
                  <a:srgbClr val="7C8493"/>
                </a:solidFill>
                <a:latin typeface="Calibri"/>
              </a:rPr>
              <a:t>Future optimization, not yet mitigated</a:t>
            </a:r>
          </a:p>
        </p:txBody>
      </p:sp>
      <p:sp>
        <p:nvSpPr>
          <p:cNvPr id="35" name="TextBox 34"/>
          <p:cNvSpPr txBox="1"/>
          <p:nvPr/>
        </p:nvSpPr>
        <p:spPr>
          <a:xfrm>
            <a:off x="6583679" y="4617720"/>
            <a:ext cx="3017520" cy="822960"/>
          </a:xfrm>
          <a:prstGeom prst="rect">
            <a:avLst/>
          </a:prstGeom>
          <a:noFill/>
        </p:spPr>
        <p:txBody>
          <a:bodyPr wrap="square" lIns="0" tIns="0" rIns="0" bIns="0" anchor="t">
            <a:spAutoFit/>
          </a:bodyPr>
          <a:lstStyle/>
          <a:p>
            <a:pPr algn="l">
              <a:lnSpc>
                <a:spcPct val="110000"/>
              </a:lnSpc>
            </a:pPr>
            <a:r>
              <a:rPr sz="950" b="0" i="1">
                <a:solidFill>
                  <a:srgbClr val="7C8493"/>
                </a:solidFill>
                <a:latin typeface="Calibri"/>
              </a:rPr>
              <a:t>Positions reflect engineering judgment based on the implementation, not measured incident data.</a:t>
            </a:r>
          </a:p>
        </p:txBody>
      </p:sp>
      <p:cxnSp>
        <p:nvCxnSpPr>
          <p:cNvPr id="36" name="Connector 35"/>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11480" y="6528816"/>
            <a:ext cx="548640" cy="274320"/>
          </a:xfrm>
          <a:prstGeom prst="rect">
            <a:avLst/>
          </a:prstGeom>
          <a:noFill/>
        </p:spPr>
        <p:txBody>
          <a:bodyPr wrap="square" lIns="0" tIns="0" rIns="0" bIns="0" anchor="t">
            <a:spAutoFit/>
          </a:bodyPr>
          <a:lstStyle/>
          <a:p>
            <a:pPr algn="l">
              <a:lnSpc>
                <a:spcPct val="100000"/>
              </a:lnSpc>
            </a:pPr>
            <a:r>
              <a:rPr sz="1050" b="0" i="0">
                <a:solidFill>
                  <a:srgbClr val="7C8493"/>
                </a:solidFill>
                <a:latin typeface="Calibri"/>
              </a:rPr>
              <a:t>14</a:t>
            </a:r>
          </a:p>
        </p:txBody>
      </p:sp>
      <p:sp>
        <p:nvSpPr>
          <p:cNvPr id="38" name="Block Arc 37"/>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222992" y="6473952"/>
            <a:ext cx="1554480" cy="201168"/>
          </a:xfrm>
          <a:prstGeom prst="rect">
            <a:avLst/>
          </a:prstGeom>
          <a:noFill/>
        </p:spPr>
        <p:txBody>
          <a:bodyPr wrap="square" lIns="0" tIns="0" rIns="0" bIns="0" anchor="t">
            <a:spAutoFit/>
          </a:bodyPr>
          <a:lstStyle/>
          <a:p>
            <a:pPr algn="l">
              <a:lnSpc>
                <a:spcPct val="100000"/>
              </a:lnSpc>
            </a:pPr>
            <a:r>
              <a:rPr sz="1050" b="1" i="0">
                <a:solidFill>
                  <a:srgbClr val="14255C"/>
                </a:solidFill>
                <a:latin typeface="Calibri"/>
              </a:rPr>
              <a:t>FARMERS</a:t>
            </a:r>
          </a:p>
        </p:txBody>
      </p:sp>
      <p:sp>
        <p:nvSpPr>
          <p:cNvPr id="40" name="TextBox 39"/>
          <p:cNvSpPr txBox="1"/>
          <p:nvPr/>
        </p:nvSpPr>
        <p:spPr>
          <a:xfrm>
            <a:off x="10222992" y="6647688"/>
            <a:ext cx="1554480" cy="182880"/>
          </a:xfrm>
          <a:prstGeom prst="rect">
            <a:avLst/>
          </a:prstGeom>
          <a:noFill/>
        </p:spPr>
        <p:txBody>
          <a:bodyPr wrap="square" lIns="0" tIns="0" rIns="0" bIns="0" anchor="t">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0515600" cy="274320"/>
          </a:xfrm>
          <a:prstGeom prst="rect">
            <a:avLst/>
          </a:prstGeom>
          <a:noFill/>
        </p:spPr>
        <p:txBody>
          <a:bodyPr wrap="square" lIns="0" tIns="0" rIns="0" bIns="0" anchor="t">
            <a:spAutoFit/>
          </a:bodyPr>
          <a:lstStyle/>
          <a:p>
            <a:pPr algn="l">
              <a:lnSpc>
                <a:spcPct val="100000"/>
              </a:lnSpc>
            </a:pPr>
            <a:r>
              <a:rPr sz="1100" b="1" i="0">
                <a:solidFill>
                  <a:srgbClr val="B8872E"/>
                </a:solidFill>
                <a:latin typeface="Calibri"/>
              </a:rPr>
              <a:t>RESULTS &amp; ROADMAP</a:t>
            </a:r>
          </a:p>
        </p:txBody>
      </p:sp>
      <p:sp>
        <p:nvSpPr>
          <p:cNvPr id="3" name="TextBox 2"/>
          <p:cNvSpPr txBox="1"/>
          <p:nvPr/>
        </p:nvSpPr>
        <p:spPr>
          <a:xfrm>
            <a:off x="502920" y="438912"/>
            <a:ext cx="10515600" cy="594360"/>
          </a:xfrm>
          <a:prstGeom prst="rect">
            <a:avLst/>
          </a:prstGeom>
          <a:noFill/>
        </p:spPr>
        <p:txBody>
          <a:bodyPr wrap="square" lIns="0" tIns="0" rIns="0" bIns="0" anchor="t">
            <a:spAutoFit/>
          </a:bodyPr>
          <a:lstStyle/>
          <a:p>
            <a:pPr algn="l">
              <a:lnSpc>
                <a:spcPct val="100000"/>
              </a:lnSpc>
            </a:pPr>
            <a:r>
              <a:rPr sz="2600" b="1" i="0">
                <a:solidFill>
                  <a:srgbClr val="14255C"/>
                </a:solidFill>
                <a:latin typeface="Calibri"/>
              </a:rPr>
              <a:t>Where This Goes Next</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14400" y="2148840"/>
            <a:ext cx="10360152" cy="0"/>
          </a:xfrm>
          <a:prstGeom prst="line">
            <a:avLst/>
          </a:prstGeom>
          <a:ln w="38100">
            <a:solidFill>
              <a:srgbClr val="E2E0E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2412492" y="1920240"/>
            <a:ext cx="457200" cy="457200"/>
          </a:xfrm>
          <a:prstGeom prst="ellipse">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78052" y="1417320"/>
            <a:ext cx="2926080" cy="365760"/>
          </a:xfrm>
          <a:prstGeom prst="rect">
            <a:avLst/>
          </a:prstGeom>
          <a:noFill/>
        </p:spPr>
        <p:txBody>
          <a:bodyPr wrap="square" lIns="0" tIns="0" rIns="0" bIns="0" anchor="t">
            <a:spAutoFit/>
          </a:bodyPr>
          <a:lstStyle/>
          <a:p>
            <a:pPr algn="ctr">
              <a:lnSpc>
                <a:spcPct val="100000"/>
              </a:lnSpc>
            </a:pPr>
            <a:r>
              <a:rPr sz="1400" b="1" i="0">
                <a:solidFill>
                  <a:srgbClr val="14255C"/>
                </a:solidFill>
                <a:latin typeface="Calibri"/>
              </a:rPr>
              <a:t>NEAR TERM</a:t>
            </a:r>
          </a:p>
        </p:txBody>
      </p:sp>
      <p:sp>
        <p:nvSpPr>
          <p:cNvPr id="8" name="Rounded Rectangle 7"/>
          <p:cNvSpPr/>
          <p:nvPr/>
        </p:nvSpPr>
        <p:spPr>
          <a:xfrm>
            <a:off x="1109472" y="2606040"/>
            <a:ext cx="3063240" cy="283464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109472" y="2606040"/>
            <a:ext cx="3063240" cy="109728"/>
          </a:xfrm>
          <a:prstGeom prst="roundRect">
            <a:avLst>
              <a:gd name="adj" fmla="val 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38072" y="2880360"/>
            <a:ext cx="2606040" cy="2377440"/>
          </a:xfrm>
          <a:prstGeom prst="rect">
            <a:avLst/>
          </a:prstGeom>
          <a:noFill/>
        </p:spPr>
        <p:txBody>
          <a:bodyPr wrap="square" lIns="0" tIns="0" rIns="0" bIns="0" anchor="t">
            <a:spAutoFit/>
          </a:bodyPr>
          <a:lstStyle/>
          <a:p>
            <a:pPr algn="l">
              <a:lnSpc>
                <a:spcPct val="105000"/>
              </a:lnSpc>
              <a:spcAft>
                <a:spcPts val="1200"/>
              </a:spcAft>
            </a:pPr>
            <a:r>
              <a:rPr sz="1150">
                <a:solidFill>
                  <a:srgbClr val="222733"/>
                </a:solidFill>
                <a:latin typeface="Calibri"/>
              </a:rPr>
              <a:t>•  Data-quality &amp; validation checks</a:t>
            </a:r>
          </a:p>
          <a:p>
            <a:pPr algn="l">
              <a:lnSpc>
                <a:spcPct val="105000"/>
              </a:lnSpc>
              <a:spcAft>
                <a:spcPts val="1200"/>
              </a:spcAft>
            </a:pPr>
            <a:r>
              <a:rPr sz="1150">
                <a:solidFill>
                  <a:srgbClr val="222733"/>
                </a:solidFill>
                <a:latin typeface="Calibri"/>
              </a:rPr>
              <a:t>•  Pipeline monitoring &amp; alerts</a:t>
            </a:r>
          </a:p>
          <a:p>
            <a:pPr algn="l">
              <a:lnSpc>
                <a:spcPct val="105000"/>
              </a:lnSpc>
              <a:spcAft>
                <a:spcPts val="1200"/>
              </a:spcAft>
            </a:pPr>
            <a:r>
              <a:rPr sz="1150">
                <a:solidFill>
                  <a:srgbClr val="222733"/>
                </a:solidFill>
                <a:latin typeface="Calibri"/>
              </a:rPr>
              <a:t>•  p50 / p95 / p99 latency tracking</a:t>
            </a:r>
          </a:p>
          <a:p>
            <a:pPr algn="l">
              <a:lnSpc>
                <a:spcPct val="105000"/>
              </a:lnSpc>
              <a:spcAft>
                <a:spcPts val="1200"/>
              </a:spcAft>
            </a:pPr>
            <a:r>
              <a:rPr sz="1150">
                <a:solidFill>
                  <a:srgbClr val="222733"/>
                </a:solidFill>
                <a:latin typeface="Calibri"/>
              </a:rPr>
              <a:t>•  Temporal-routing integration tests</a:t>
            </a:r>
          </a:p>
        </p:txBody>
      </p:sp>
      <p:cxnSp>
        <p:nvCxnSpPr>
          <p:cNvPr id="11" name="Connector 10"/>
          <p:cNvCxnSpPr/>
          <p:nvPr/>
        </p:nvCxnSpPr>
        <p:spPr>
          <a:xfrm>
            <a:off x="2641092" y="2377440"/>
            <a:ext cx="0" cy="228600"/>
          </a:xfrm>
          <a:prstGeom prst="line">
            <a:avLst/>
          </a:prstGeom>
          <a:ln w="1905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865876" y="1920240"/>
            <a:ext cx="457200" cy="457200"/>
          </a:xfrm>
          <a:prstGeom prst="ellipse">
            <a:avLst/>
          </a:prstGeom>
          <a:solidFill>
            <a:srgbClr val="B8872E"/>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1436" y="1417320"/>
            <a:ext cx="2926080" cy="365760"/>
          </a:xfrm>
          <a:prstGeom prst="rect">
            <a:avLst/>
          </a:prstGeom>
          <a:noFill/>
        </p:spPr>
        <p:txBody>
          <a:bodyPr wrap="square" lIns="0" tIns="0" rIns="0" bIns="0" anchor="t">
            <a:spAutoFit/>
          </a:bodyPr>
          <a:lstStyle/>
          <a:p>
            <a:pPr algn="ctr">
              <a:lnSpc>
                <a:spcPct val="100000"/>
              </a:lnSpc>
            </a:pPr>
            <a:r>
              <a:rPr sz="1400" b="1" i="0">
                <a:solidFill>
                  <a:srgbClr val="B8872E"/>
                </a:solidFill>
                <a:latin typeface="Calibri"/>
              </a:rPr>
              <a:t>MEDIUM TERM</a:t>
            </a:r>
          </a:p>
        </p:txBody>
      </p:sp>
      <p:sp>
        <p:nvSpPr>
          <p:cNvPr id="14" name="Rounded Rectangle 13"/>
          <p:cNvSpPr/>
          <p:nvPr/>
        </p:nvSpPr>
        <p:spPr>
          <a:xfrm>
            <a:off x="4562856" y="2606040"/>
            <a:ext cx="3063240" cy="283464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562856" y="2606040"/>
            <a:ext cx="3063240" cy="109728"/>
          </a:xfrm>
          <a:prstGeom prst="roundRect">
            <a:avLst>
              <a:gd name="adj" fmla="val 0"/>
            </a:avLst>
          </a:prstGeom>
          <a:solidFill>
            <a:srgbClr val="B88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91456" y="2880360"/>
            <a:ext cx="2606040" cy="2377440"/>
          </a:xfrm>
          <a:prstGeom prst="rect">
            <a:avLst/>
          </a:prstGeom>
          <a:noFill/>
        </p:spPr>
        <p:txBody>
          <a:bodyPr wrap="square" lIns="0" tIns="0" rIns="0" bIns="0" anchor="t">
            <a:spAutoFit/>
          </a:bodyPr>
          <a:lstStyle/>
          <a:p>
            <a:pPr algn="l">
              <a:lnSpc>
                <a:spcPct val="105000"/>
              </a:lnSpc>
              <a:spcAft>
                <a:spcPts val="1200"/>
              </a:spcAft>
            </a:pPr>
            <a:r>
              <a:rPr sz="1150">
                <a:solidFill>
                  <a:srgbClr val="222733"/>
                </a:solidFill>
                <a:latin typeface="Calibri"/>
              </a:rPr>
              <a:t>•  More feature groups via the registry</a:t>
            </a:r>
          </a:p>
          <a:p>
            <a:pPr algn="l">
              <a:lnSpc>
                <a:spcPct val="105000"/>
              </a:lnSpc>
              <a:spcAft>
                <a:spcPts val="1200"/>
              </a:spcAft>
            </a:pPr>
            <a:r>
              <a:rPr sz="1150">
                <a:solidFill>
                  <a:srgbClr val="222733"/>
                </a:solidFill>
                <a:latin typeface="Calibri"/>
              </a:rPr>
              <a:t>•  Model-specific feature specs</a:t>
            </a:r>
          </a:p>
          <a:p>
            <a:pPr algn="l">
              <a:lnSpc>
                <a:spcPct val="105000"/>
              </a:lnSpc>
              <a:spcAft>
                <a:spcPts val="1200"/>
              </a:spcAft>
            </a:pPr>
            <a:r>
              <a:rPr sz="1150">
                <a:solidFill>
                  <a:srgbClr val="222733"/>
                </a:solidFill>
                <a:latin typeface="Calibri"/>
              </a:rPr>
              <a:t>•  Freshness &amp; drift monitoring</a:t>
            </a:r>
          </a:p>
          <a:p>
            <a:pPr algn="l">
              <a:lnSpc>
                <a:spcPct val="105000"/>
              </a:lnSpc>
              <a:spcAft>
                <a:spcPts val="1200"/>
              </a:spcAft>
            </a:pPr>
            <a:r>
              <a:rPr sz="1150">
                <a:solidFill>
                  <a:srgbClr val="222733"/>
                </a:solidFill>
                <a:latin typeface="Calibri"/>
              </a:rPr>
              <a:t>•  Optimize for larger policy histories</a:t>
            </a:r>
          </a:p>
        </p:txBody>
      </p:sp>
      <p:cxnSp>
        <p:nvCxnSpPr>
          <p:cNvPr id="17" name="Connector 16"/>
          <p:cNvCxnSpPr/>
          <p:nvPr/>
        </p:nvCxnSpPr>
        <p:spPr>
          <a:xfrm>
            <a:off x="6094476" y="2377440"/>
            <a:ext cx="0" cy="228600"/>
          </a:xfrm>
          <a:prstGeom prst="line">
            <a:avLst/>
          </a:prstGeom>
          <a:ln w="19050">
            <a:solidFill>
              <a:srgbClr val="B887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319260" y="1920240"/>
            <a:ext cx="457200" cy="457200"/>
          </a:xfrm>
          <a:prstGeom prst="ellipse">
            <a:avLst/>
          </a:prstGeom>
          <a:solidFill>
            <a:srgbClr val="6B3F86"/>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84820" y="1417320"/>
            <a:ext cx="2926080" cy="365760"/>
          </a:xfrm>
          <a:prstGeom prst="rect">
            <a:avLst/>
          </a:prstGeom>
          <a:noFill/>
        </p:spPr>
        <p:txBody>
          <a:bodyPr wrap="square" lIns="0" tIns="0" rIns="0" bIns="0" anchor="t">
            <a:spAutoFit/>
          </a:bodyPr>
          <a:lstStyle/>
          <a:p>
            <a:pPr algn="ctr">
              <a:lnSpc>
                <a:spcPct val="100000"/>
              </a:lnSpc>
            </a:pPr>
            <a:r>
              <a:rPr sz="1400" b="1" i="0">
                <a:solidFill>
                  <a:srgbClr val="6B3F86"/>
                </a:solidFill>
                <a:latin typeface="Calibri"/>
              </a:rPr>
              <a:t>LONG TERM</a:t>
            </a:r>
          </a:p>
        </p:txBody>
      </p:sp>
      <p:sp>
        <p:nvSpPr>
          <p:cNvPr id="20" name="Rounded Rectangle 19"/>
          <p:cNvSpPr/>
          <p:nvPr/>
        </p:nvSpPr>
        <p:spPr>
          <a:xfrm>
            <a:off x="8016240" y="2606040"/>
            <a:ext cx="3063240" cy="283464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016240" y="2606040"/>
            <a:ext cx="3063240" cy="109728"/>
          </a:xfrm>
          <a:prstGeom prst="roundRect">
            <a:avLst>
              <a:gd name="adj" fmla="val 0"/>
            </a:avLst>
          </a:prstGeom>
          <a:solidFill>
            <a:srgbClr val="6B3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44840" y="2880360"/>
            <a:ext cx="2606040" cy="2377440"/>
          </a:xfrm>
          <a:prstGeom prst="rect">
            <a:avLst/>
          </a:prstGeom>
          <a:noFill/>
        </p:spPr>
        <p:txBody>
          <a:bodyPr wrap="square" lIns="0" tIns="0" rIns="0" bIns="0" anchor="t">
            <a:spAutoFit/>
          </a:bodyPr>
          <a:lstStyle/>
          <a:p>
            <a:pPr algn="l">
              <a:lnSpc>
                <a:spcPct val="105000"/>
              </a:lnSpc>
              <a:spcAft>
                <a:spcPts val="1200"/>
              </a:spcAft>
            </a:pPr>
            <a:r>
              <a:rPr sz="1150">
                <a:solidFill>
                  <a:srgbClr val="222733"/>
                </a:solidFill>
                <a:latin typeface="Calibri"/>
              </a:rPr>
              <a:t>•  Additional insurance product lines</a:t>
            </a:r>
          </a:p>
          <a:p>
            <a:pPr algn="l">
              <a:lnSpc>
                <a:spcPct val="105000"/>
              </a:lnSpc>
              <a:spcAft>
                <a:spcPts val="1200"/>
              </a:spcAft>
            </a:pPr>
            <a:r>
              <a:rPr sz="1150">
                <a:solidFill>
                  <a:srgbClr val="222733"/>
                </a:solidFill>
                <a:latin typeface="Calibri"/>
              </a:rPr>
              <a:t>•  Point-in-time training datasets</a:t>
            </a:r>
          </a:p>
          <a:p>
            <a:pPr algn="l">
              <a:lnSpc>
                <a:spcPct val="105000"/>
              </a:lnSpc>
              <a:spcAft>
                <a:spcPts val="1200"/>
              </a:spcAft>
            </a:pPr>
            <a:r>
              <a:rPr sz="1150">
                <a:solidFill>
                  <a:srgbClr val="222733"/>
                </a:solidFill>
                <a:latin typeface="Calibri"/>
              </a:rPr>
              <a:t>•  Online/offline consistency checks</a:t>
            </a:r>
          </a:p>
          <a:p>
            <a:pPr algn="l">
              <a:lnSpc>
                <a:spcPct val="105000"/>
              </a:lnSpc>
              <a:spcAft>
                <a:spcPts val="1200"/>
              </a:spcAft>
            </a:pPr>
            <a:r>
              <a:rPr sz="1150">
                <a:solidFill>
                  <a:srgbClr val="222733"/>
                </a:solidFill>
                <a:latin typeface="Calibri"/>
              </a:rPr>
              <a:t>•  Formal freshness &amp; availability SLOs</a:t>
            </a:r>
          </a:p>
        </p:txBody>
      </p:sp>
      <p:cxnSp>
        <p:nvCxnSpPr>
          <p:cNvPr id="23" name="Connector 22"/>
          <p:cNvCxnSpPr/>
          <p:nvPr/>
        </p:nvCxnSpPr>
        <p:spPr>
          <a:xfrm>
            <a:off x="9547860" y="2377440"/>
            <a:ext cx="0" cy="228600"/>
          </a:xfrm>
          <a:prstGeom prst="line">
            <a:avLst/>
          </a:prstGeom>
          <a:ln w="19050">
            <a:solidFill>
              <a:srgbClr val="6B3F8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2920" y="5806440"/>
            <a:ext cx="11201400" cy="640080"/>
          </a:xfrm>
          <a:prstGeom prst="roundRect">
            <a:avLst>
              <a:gd name="adj" fmla="val 12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5806440"/>
            <a:ext cx="10561320" cy="640080"/>
          </a:xfrm>
          <a:prstGeom prst="rect">
            <a:avLst/>
          </a:prstGeom>
          <a:noFill/>
        </p:spPr>
        <p:txBody>
          <a:bodyPr wrap="square" lIns="0" tIns="0" rIns="0" bIns="0" anchor="ctr">
            <a:spAutoFit/>
          </a:bodyPr>
          <a:lstStyle/>
          <a:p>
            <a:pPr algn="ctr">
              <a:lnSpc>
                <a:spcPct val="100000"/>
              </a:lnSpc>
            </a:pPr>
            <a:r>
              <a:rPr sz="1300" b="1" i="1">
                <a:solidFill>
                  <a:srgbClr val="FFFFFF"/>
                </a:solidFill>
                <a:latin typeface="Calibri"/>
              </a:rPr>
              <a:t>A reusable feature platform that delivers the right feature values to every model at the right time.</a:t>
            </a:r>
          </a:p>
        </p:txBody>
      </p:sp>
      <p:cxnSp>
        <p:nvCxnSpPr>
          <p:cNvPr id="26" name="Connector 25"/>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11480" y="6528816"/>
            <a:ext cx="548640" cy="274320"/>
          </a:xfrm>
          <a:prstGeom prst="rect">
            <a:avLst/>
          </a:prstGeom>
          <a:noFill/>
        </p:spPr>
        <p:txBody>
          <a:bodyPr wrap="square" lIns="0" tIns="0" rIns="0" bIns="0" anchor="t">
            <a:spAutoFit/>
          </a:bodyPr>
          <a:lstStyle/>
          <a:p>
            <a:pPr algn="l">
              <a:lnSpc>
                <a:spcPct val="100000"/>
              </a:lnSpc>
            </a:pPr>
            <a:r>
              <a:rPr sz="1050" b="0" i="0">
                <a:solidFill>
                  <a:srgbClr val="7C8493"/>
                </a:solidFill>
                <a:latin typeface="Calibri"/>
              </a:rPr>
              <a:t>15</a:t>
            </a:r>
          </a:p>
        </p:txBody>
      </p:sp>
      <p:sp>
        <p:nvSpPr>
          <p:cNvPr id="28" name="Block Arc 27"/>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222992" y="6473952"/>
            <a:ext cx="1554480" cy="201168"/>
          </a:xfrm>
          <a:prstGeom prst="rect">
            <a:avLst/>
          </a:prstGeom>
          <a:noFill/>
        </p:spPr>
        <p:txBody>
          <a:bodyPr wrap="square" lIns="0" tIns="0" rIns="0" bIns="0" anchor="t">
            <a:spAutoFit/>
          </a:bodyPr>
          <a:lstStyle/>
          <a:p>
            <a:pPr algn="l">
              <a:lnSpc>
                <a:spcPct val="100000"/>
              </a:lnSpc>
            </a:pPr>
            <a:r>
              <a:rPr sz="1050" b="1" i="0">
                <a:solidFill>
                  <a:srgbClr val="14255C"/>
                </a:solidFill>
                <a:latin typeface="Calibri"/>
              </a:rPr>
              <a:t>FARMERS</a:t>
            </a:r>
          </a:p>
        </p:txBody>
      </p:sp>
      <p:sp>
        <p:nvSpPr>
          <p:cNvPr id="30" name="TextBox 29"/>
          <p:cNvSpPr txBox="1"/>
          <p:nvPr/>
        </p:nvSpPr>
        <p:spPr>
          <a:xfrm>
            <a:off x="10222992" y="6647688"/>
            <a:ext cx="1554480" cy="182880"/>
          </a:xfrm>
          <a:prstGeom prst="rect">
            <a:avLst/>
          </a:prstGeom>
          <a:noFill/>
        </p:spPr>
        <p:txBody>
          <a:bodyPr wrap="square" lIns="0" tIns="0" rIns="0" bIns="0" anchor="t">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0515600" cy="274320"/>
          </a:xfrm>
          <a:prstGeom prst="rect">
            <a:avLst/>
          </a:prstGeom>
          <a:noFill/>
        </p:spPr>
        <p:txBody>
          <a:bodyPr wrap="square" lIns="0" tIns="0" rIns="0" bIns="0" anchor="t">
            <a:spAutoFit/>
          </a:bodyPr>
          <a:lstStyle/>
          <a:p>
            <a:pPr algn="l">
              <a:lnSpc>
                <a:spcPct val="100000"/>
              </a:lnSpc>
            </a:pPr>
            <a:r>
              <a:rPr sz="1100" b="1" i="0">
                <a:solidFill>
                  <a:srgbClr val="B8872E"/>
                </a:solidFill>
                <a:latin typeface="Calibri"/>
              </a:rPr>
              <a:t>REFLECTION</a:t>
            </a:r>
          </a:p>
        </p:txBody>
      </p:sp>
      <p:sp>
        <p:nvSpPr>
          <p:cNvPr id="3" name="TextBox 2"/>
          <p:cNvSpPr txBox="1"/>
          <p:nvPr/>
        </p:nvSpPr>
        <p:spPr>
          <a:xfrm>
            <a:off x="502920" y="438912"/>
            <a:ext cx="10515600" cy="594360"/>
          </a:xfrm>
          <a:prstGeom prst="rect">
            <a:avLst/>
          </a:prstGeom>
          <a:noFill/>
        </p:spPr>
        <p:txBody>
          <a:bodyPr wrap="square" lIns="0" tIns="0" rIns="0" bIns="0" anchor="t">
            <a:spAutoFit/>
          </a:bodyPr>
          <a:lstStyle/>
          <a:p>
            <a:pPr algn="l">
              <a:lnSpc>
                <a:spcPct val="100000"/>
              </a:lnSpc>
            </a:pPr>
            <a:r>
              <a:rPr sz="2600" b="1" i="0">
                <a:solidFill>
                  <a:srgbClr val="14255C"/>
                </a:solidFill>
                <a:latin typeface="Calibri"/>
              </a:rPr>
              <a:t>What I Learned</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371600"/>
            <a:ext cx="914400" cy="914400"/>
          </a:xfrm>
          <a:prstGeom prst="roundRect">
            <a:avLst>
              <a:gd name="adj" fmla="val 8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57400" y="1325880"/>
            <a:ext cx="7498079" cy="320040"/>
          </a:xfrm>
          <a:prstGeom prst="rect">
            <a:avLst/>
          </a:prstGeom>
          <a:noFill/>
        </p:spPr>
        <p:txBody>
          <a:bodyPr wrap="square" lIns="0" tIns="0" rIns="0" bIns="0" anchor="t">
            <a:spAutoFit/>
          </a:bodyPr>
          <a:lstStyle/>
          <a:p>
            <a:pPr algn="l">
              <a:lnSpc>
                <a:spcPct val="100000"/>
              </a:lnSpc>
            </a:pPr>
            <a:r>
              <a:rPr sz="1450" b="1" i="0">
                <a:solidFill>
                  <a:srgbClr val="14255C"/>
                </a:solidFill>
                <a:latin typeface="Calibri"/>
              </a:rPr>
              <a:t>Adapting to Real-World Challenges</a:t>
            </a:r>
          </a:p>
        </p:txBody>
      </p:sp>
      <p:sp>
        <p:nvSpPr>
          <p:cNvPr id="7" name="TextBox 6"/>
          <p:cNvSpPr txBox="1"/>
          <p:nvPr/>
        </p:nvSpPr>
        <p:spPr>
          <a:xfrm>
            <a:off x="2057400" y="1682496"/>
            <a:ext cx="7498079" cy="822960"/>
          </a:xfrm>
          <a:prstGeom prst="rect">
            <a:avLst/>
          </a:prstGeom>
          <a:noFill/>
        </p:spPr>
        <p:txBody>
          <a:bodyPr wrap="square" lIns="0" tIns="0" rIns="0" bIns="0" anchor="t">
            <a:spAutoFit/>
          </a:bodyPr>
          <a:lstStyle/>
          <a:p>
            <a:pPr algn="l">
              <a:lnSpc>
                <a:spcPct val="100000"/>
              </a:lnSpc>
              <a:spcAft>
                <a:spcPts val="400"/>
              </a:spcAft>
            </a:pPr>
            <a:r>
              <a:rPr sz="1100">
                <a:solidFill>
                  <a:srgbClr val="222733"/>
                </a:solidFill>
                <a:latin typeface="Calibri"/>
              </a:rPr>
              <a:t>▪  Learned to navigate ambiguity and think critically when things don't go as planned</a:t>
            </a:r>
          </a:p>
        </p:txBody>
      </p:sp>
      <p:sp>
        <p:nvSpPr>
          <p:cNvPr id="8" name="Rounded Rectangle 7"/>
          <p:cNvSpPr/>
          <p:nvPr/>
        </p:nvSpPr>
        <p:spPr>
          <a:xfrm>
            <a:off x="1325880" y="2286000"/>
            <a:ext cx="914400" cy="914400"/>
          </a:xfrm>
          <a:prstGeom prst="roundRect">
            <a:avLst>
              <a:gd name="adj" fmla="val 8000"/>
            </a:avLst>
          </a:prstGeom>
          <a:solidFill>
            <a:srgbClr val="2A4880"/>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60320" y="2240280"/>
            <a:ext cx="7498079" cy="320040"/>
          </a:xfrm>
          <a:prstGeom prst="rect">
            <a:avLst/>
          </a:prstGeom>
          <a:noFill/>
        </p:spPr>
        <p:txBody>
          <a:bodyPr wrap="square" lIns="0" tIns="0" rIns="0" bIns="0" anchor="t">
            <a:spAutoFit/>
          </a:bodyPr>
          <a:lstStyle/>
          <a:p>
            <a:pPr algn="l">
              <a:lnSpc>
                <a:spcPct val="100000"/>
              </a:lnSpc>
            </a:pPr>
            <a:r>
              <a:rPr sz="1450" b="1" i="0">
                <a:solidFill>
                  <a:srgbClr val="14255C"/>
                </a:solidFill>
                <a:latin typeface="Calibri"/>
              </a:rPr>
              <a:t>Learning Through Feedback</a:t>
            </a:r>
          </a:p>
        </p:txBody>
      </p:sp>
      <p:sp>
        <p:nvSpPr>
          <p:cNvPr id="10" name="TextBox 9"/>
          <p:cNvSpPr txBox="1"/>
          <p:nvPr/>
        </p:nvSpPr>
        <p:spPr>
          <a:xfrm>
            <a:off x="2560320" y="2596896"/>
            <a:ext cx="7498079" cy="822960"/>
          </a:xfrm>
          <a:prstGeom prst="rect">
            <a:avLst/>
          </a:prstGeom>
          <a:noFill/>
        </p:spPr>
        <p:txBody>
          <a:bodyPr wrap="square" lIns="0" tIns="0" rIns="0" bIns="0" anchor="t">
            <a:spAutoFit/>
          </a:bodyPr>
          <a:lstStyle/>
          <a:p>
            <a:pPr algn="l">
              <a:lnSpc>
                <a:spcPct val="100000"/>
              </a:lnSpc>
              <a:spcAft>
                <a:spcPts val="400"/>
              </a:spcAft>
            </a:pPr>
            <a:r>
              <a:rPr sz="1100">
                <a:solidFill>
                  <a:srgbClr val="222733"/>
                </a:solidFill>
                <a:latin typeface="Calibri"/>
              </a:rPr>
              <a:t>▪  Asking questions and seeing guidance helped build clarity and confidence</a:t>
            </a:r>
          </a:p>
        </p:txBody>
      </p:sp>
      <p:sp>
        <p:nvSpPr>
          <p:cNvPr id="11" name="Rounded Rectangle 10"/>
          <p:cNvSpPr/>
          <p:nvPr/>
        </p:nvSpPr>
        <p:spPr>
          <a:xfrm>
            <a:off x="1828800" y="3200400"/>
            <a:ext cx="914400" cy="914400"/>
          </a:xfrm>
          <a:prstGeom prst="roundRect">
            <a:avLst>
              <a:gd name="adj" fmla="val 8000"/>
            </a:avLst>
          </a:prstGeom>
          <a:solidFill>
            <a:srgbClr val="446BA3"/>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63240" y="3154680"/>
            <a:ext cx="7498079" cy="320040"/>
          </a:xfrm>
          <a:prstGeom prst="rect">
            <a:avLst/>
          </a:prstGeom>
          <a:noFill/>
        </p:spPr>
        <p:txBody>
          <a:bodyPr wrap="square" lIns="0" tIns="0" rIns="0" bIns="0" anchor="t">
            <a:spAutoFit/>
          </a:bodyPr>
          <a:lstStyle/>
          <a:p>
            <a:pPr algn="l">
              <a:lnSpc>
                <a:spcPct val="100000"/>
              </a:lnSpc>
            </a:pPr>
            <a:r>
              <a:rPr sz="1450" b="1" i="0">
                <a:solidFill>
                  <a:srgbClr val="14255C"/>
                </a:solidFill>
                <a:latin typeface="Calibri"/>
              </a:rPr>
              <a:t>Technical Skill Development</a:t>
            </a:r>
          </a:p>
        </p:txBody>
      </p:sp>
      <p:sp>
        <p:nvSpPr>
          <p:cNvPr id="13" name="TextBox 12"/>
          <p:cNvSpPr txBox="1"/>
          <p:nvPr/>
        </p:nvSpPr>
        <p:spPr>
          <a:xfrm>
            <a:off x="3063240" y="3511296"/>
            <a:ext cx="7498079" cy="822960"/>
          </a:xfrm>
          <a:prstGeom prst="rect">
            <a:avLst/>
          </a:prstGeom>
          <a:noFill/>
        </p:spPr>
        <p:txBody>
          <a:bodyPr wrap="square" lIns="0" tIns="0" rIns="0" bIns="0" anchor="t">
            <a:spAutoFit/>
          </a:bodyPr>
          <a:lstStyle/>
          <a:p>
            <a:pPr algn="l">
              <a:lnSpc>
                <a:spcPct val="100000"/>
              </a:lnSpc>
              <a:spcAft>
                <a:spcPts val="400"/>
              </a:spcAft>
            </a:pPr>
            <a:r>
              <a:rPr sz="1100">
                <a:solidFill>
                  <a:srgbClr val="222733"/>
                </a:solidFill>
                <a:latin typeface="Calibri"/>
              </a:rPr>
              <a:t>▪  Built practical skills with Databricks, PySpark, and Snowflake.</a:t>
            </a:r>
          </a:p>
          <a:p>
            <a:pPr algn="l">
              <a:lnSpc>
                <a:spcPct val="100000"/>
              </a:lnSpc>
              <a:spcAft>
                <a:spcPts val="400"/>
              </a:spcAft>
            </a:pPr>
            <a:r>
              <a:rPr sz="1100">
                <a:solidFill>
                  <a:srgbClr val="222733"/>
                </a:solidFill>
                <a:latin typeface="Calibri"/>
              </a:rPr>
              <a:t>▪  Learned how to use the online feature store in Databricks.</a:t>
            </a:r>
          </a:p>
        </p:txBody>
      </p:sp>
      <p:sp>
        <p:nvSpPr>
          <p:cNvPr id="14" name="Rounded Rectangle 13"/>
          <p:cNvSpPr/>
          <p:nvPr/>
        </p:nvSpPr>
        <p:spPr>
          <a:xfrm>
            <a:off x="2331720" y="4114800"/>
            <a:ext cx="914400" cy="914400"/>
          </a:xfrm>
          <a:prstGeom prst="roundRect">
            <a:avLst>
              <a:gd name="adj" fmla="val 8000"/>
            </a:avLst>
          </a:prstGeom>
          <a:solidFill>
            <a:srgbClr val="6F9CC7"/>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66160" y="4069080"/>
            <a:ext cx="7498079" cy="320040"/>
          </a:xfrm>
          <a:prstGeom prst="rect">
            <a:avLst/>
          </a:prstGeom>
          <a:noFill/>
        </p:spPr>
        <p:txBody>
          <a:bodyPr wrap="square" lIns="0" tIns="0" rIns="0" bIns="0" anchor="t">
            <a:spAutoFit/>
          </a:bodyPr>
          <a:lstStyle/>
          <a:p>
            <a:pPr algn="l">
              <a:lnSpc>
                <a:spcPct val="100000"/>
              </a:lnSpc>
            </a:pPr>
            <a:r>
              <a:rPr sz="1450" b="1" i="0">
                <a:solidFill>
                  <a:srgbClr val="14255C"/>
                </a:solidFill>
                <a:latin typeface="Calibri"/>
              </a:rPr>
              <a:t>Thinking in Time</a:t>
            </a:r>
          </a:p>
        </p:txBody>
      </p:sp>
      <p:sp>
        <p:nvSpPr>
          <p:cNvPr id="16" name="TextBox 15"/>
          <p:cNvSpPr txBox="1"/>
          <p:nvPr/>
        </p:nvSpPr>
        <p:spPr>
          <a:xfrm>
            <a:off x="3566160" y="4425696"/>
            <a:ext cx="7498079" cy="822960"/>
          </a:xfrm>
          <a:prstGeom prst="rect">
            <a:avLst/>
          </a:prstGeom>
          <a:noFill/>
        </p:spPr>
        <p:txBody>
          <a:bodyPr wrap="square" lIns="0" tIns="0" rIns="0" bIns="0" anchor="t">
            <a:spAutoFit/>
          </a:bodyPr>
          <a:lstStyle/>
          <a:p>
            <a:pPr algn="l">
              <a:lnSpc>
                <a:spcPct val="100000"/>
              </a:lnSpc>
              <a:spcAft>
                <a:spcPts val="400"/>
              </a:spcAft>
            </a:pPr>
            <a:r>
              <a:rPr sz="1100">
                <a:solidFill>
                  <a:srgbClr val="222733"/>
                </a:solidFill>
                <a:latin typeface="Calibri"/>
              </a:rPr>
              <a:t>▪  Learned to treat time as a first-class design dimension — distinguishing transaction time from effective time, and getting past, present, and future states right.</a:t>
            </a:r>
          </a:p>
        </p:txBody>
      </p:sp>
      <p:sp>
        <p:nvSpPr>
          <p:cNvPr id="17" name="Rounded Rectangle 16"/>
          <p:cNvSpPr/>
          <p:nvPr/>
        </p:nvSpPr>
        <p:spPr>
          <a:xfrm>
            <a:off x="2834640" y="5029200"/>
            <a:ext cx="914400" cy="914400"/>
          </a:xfrm>
          <a:prstGeom prst="roundRect">
            <a:avLst>
              <a:gd name="adj" fmla="val 8000"/>
            </a:avLst>
          </a:prstGeom>
          <a:solidFill>
            <a:srgbClr val="A4C4E0"/>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69079" y="4983480"/>
            <a:ext cx="7498079" cy="320040"/>
          </a:xfrm>
          <a:prstGeom prst="rect">
            <a:avLst/>
          </a:prstGeom>
          <a:noFill/>
        </p:spPr>
        <p:txBody>
          <a:bodyPr wrap="square" lIns="0" tIns="0" rIns="0" bIns="0" anchor="t">
            <a:spAutoFit/>
          </a:bodyPr>
          <a:lstStyle/>
          <a:p>
            <a:pPr algn="l">
              <a:lnSpc>
                <a:spcPct val="100000"/>
              </a:lnSpc>
            </a:pPr>
            <a:r>
              <a:rPr sz="1450" b="1" i="0">
                <a:solidFill>
                  <a:srgbClr val="14255C"/>
                </a:solidFill>
                <a:latin typeface="Calibri"/>
              </a:rPr>
              <a:t>Translating Technical Work into a Story</a:t>
            </a:r>
          </a:p>
        </p:txBody>
      </p:sp>
      <p:sp>
        <p:nvSpPr>
          <p:cNvPr id="19" name="TextBox 18"/>
          <p:cNvSpPr txBox="1"/>
          <p:nvPr/>
        </p:nvSpPr>
        <p:spPr>
          <a:xfrm>
            <a:off x="4069079" y="5340096"/>
            <a:ext cx="7498079" cy="822960"/>
          </a:xfrm>
          <a:prstGeom prst="rect">
            <a:avLst/>
          </a:prstGeom>
          <a:noFill/>
        </p:spPr>
        <p:txBody>
          <a:bodyPr wrap="square" lIns="0" tIns="0" rIns="0" bIns="0" anchor="t">
            <a:spAutoFit/>
          </a:bodyPr>
          <a:lstStyle/>
          <a:p>
            <a:pPr algn="l">
              <a:lnSpc>
                <a:spcPct val="100000"/>
              </a:lnSpc>
              <a:spcAft>
                <a:spcPts val="400"/>
              </a:spcAft>
            </a:pPr>
            <a:r>
              <a:rPr sz="1100">
                <a:solidFill>
                  <a:srgbClr val="222733"/>
                </a:solidFill>
                <a:latin typeface="Calibri"/>
              </a:rPr>
              <a:t>▪  Learned to build a narrative that lands with both technical and non-technical audiences — starting from why before ever showing architecture.</a:t>
            </a:r>
          </a:p>
        </p:txBody>
      </p:sp>
      <p:cxnSp>
        <p:nvCxnSpPr>
          <p:cNvPr id="20" name="Connector 19"/>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11480" y="6528816"/>
            <a:ext cx="548640" cy="274320"/>
          </a:xfrm>
          <a:prstGeom prst="rect">
            <a:avLst/>
          </a:prstGeom>
          <a:noFill/>
        </p:spPr>
        <p:txBody>
          <a:bodyPr wrap="square" lIns="0" tIns="0" rIns="0" bIns="0" anchor="t">
            <a:spAutoFit/>
          </a:bodyPr>
          <a:lstStyle/>
          <a:p>
            <a:pPr algn="l">
              <a:lnSpc>
                <a:spcPct val="100000"/>
              </a:lnSpc>
            </a:pPr>
            <a:r>
              <a:rPr sz="1050" b="0" i="0">
                <a:solidFill>
                  <a:srgbClr val="7C8493"/>
                </a:solidFill>
                <a:latin typeface="Calibri"/>
              </a:rPr>
              <a:t>16</a:t>
            </a:r>
          </a:p>
        </p:txBody>
      </p:sp>
      <p:sp>
        <p:nvSpPr>
          <p:cNvPr id="22" name="Block Arc 21"/>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222992" y="6473952"/>
            <a:ext cx="1554480" cy="201168"/>
          </a:xfrm>
          <a:prstGeom prst="rect">
            <a:avLst/>
          </a:prstGeom>
          <a:noFill/>
        </p:spPr>
        <p:txBody>
          <a:bodyPr wrap="square" lIns="0" tIns="0" rIns="0" bIns="0" anchor="t">
            <a:spAutoFit/>
          </a:bodyPr>
          <a:lstStyle/>
          <a:p>
            <a:pPr algn="l">
              <a:lnSpc>
                <a:spcPct val="100000"/>
              </a:lnSpc>
            </a:pPr>
            <a:r>
              <a:rPr sz="1050" b="1" i="0">
                <a:solidFill>
                  <a:srgbClr val="14255C"/>
                </a:solidFill>
                <a:latin typeface="Calibri"/>
              </a:rPr>
              <a:t>FARMERS</a:t>
            </a:r>
          </a:p>
        </p:txBody>
      </p:sp>
      <p:sp>
        <p:nvSpPr>
          <p:cNvPr id="24" name="TextBox 23"/>
          <p:cNvSpPr txBox="1"/>
          <p:nvPr/>
        </p:nvSpPr>
        <p:spPr>
          <a:xfrm>
            <a:off x="10222992" y="6647688"/>
            <a:ext cx="1554480" cy="182880"/>
          </a:xfrm>
          <a:prstGeom prst="rect">
            <a:avLst/>
          </a:prstGeom>
          <a:noFill/>
        </p:spPr>
        <p:txBody>
          <a:bodyPr wrap="square" lIns="0" tIns="0" rIns="0" bIns="0" anchor="t">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CE9CC2"/>
        </a:solidFill>
        <a:effectLst/>
      </p:bgPr>
    </p:bg>
    <p:spTree>
      <p:nvGrpSpPr>
        <p:cNvPr id="1" name=""/>
        <p:cNvGrpSpPr/>
        <p:nvPr/>
      </p:nvGrpSpPr>
      <p:grpSpPr>
        <a:xfrm>
          <a:off x="0" y="0"/>
          <a:ext cx="0" cy="0"/>
          <a:chOff x="0" y="0"/>
          <a:chExt cx="0" cy="0"/>
        </a:xfrm>
      </p:grpSpPr>
      <p:sp>
        <p:nvSpPr>
          <p:cNvPr id="2" name="TextBox 1"/>
          <p:cNvSpPr txBox="1"/>
          <p:nvPr/>
        </p:nvSpPr>
        <p:spPr>
          <a:xfrm>
            <a:off x="0" y="1188720"/>
            <a:ext cx="12191695" cy="822960"/>
          </a:xfrm>
          <a:prstGeom prst="rect">
            <a:avLst/>
          </a:prstGeom>
          <a:noFill/>
        </p:spPr>
        <p:txBody>
          <a:bodyPr wrap="square" lIns="0" tIns="0" rIns="0" bIns="0" anchor="t">
            <a:spAutoFit/>
          </a:bodyPr>
          <a:lstStyle/>
          <a:p>
            <a:pPr algn="ctr">
              <a:lnSpc>
                <a:spcPct val="100000"/>
              </a:lnSpc>
            </a:pPr>
            <a:r>
              <a:rPr sz="4000" b="1" i="0">
                <a:solidFill>
                  <a:srgbClr val="FFFFFF"/>
                </a:solidFill>
                <a:latin typeface="Calibri"/>
              </a:rPr>
              <a:t>Thank You</a:t>
            </a:r>
          </a:p>
        </p:txBody>
      </p:sp>
      <p:sp>
        <p:nvSpPr>
          <p:cNvPr id="3" name="Rounded Rectangle 2"/>
          <p:cNvSpPr/>
          <p:nvPr/>
        </p:nvSpPr>
        <p:spPr>
          <a:xfrm>
            <a:off x="3840480" y="2468880"/>
            <a:ext cx="4480560" cy="2834640"/>
          </a:xfrm>
          <a:prstGeom prst="roundRect">
            <a:avLst>
              <a:gd name="adj" fmla="val 8000"/>
            </a:avLst>
          </a:prstGeom>
          <a:solidFill>
            <a:srgbClr val="FFFFFF"/>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697480"/>
            <a:ext cx="3931920" cy="320040"/>
          </a:xfrm>
          <a:prstGeom prst="rect">
            <a:avLst/>
          </a:prstGeom>
          <a:noFill/>
        </p:spPr>
        <p:txBody>
          <a:bodyPr wrap="square" lIns="0" tIns="0" rIns="0" bIns="0" anchor="t">
            <a:spAutoFit/>
          </a:bodyPr>
          <a:lstStyle/>
          <a:p>
            <a:pPr algn="ctr">
              <a:lnSpc>
                <a:spcPct val="100000"/>
              </a:lnSpc>
            </a:pPr>
            <a:r>
              <a:rPr sz="1250" b="1" i="0">
                <a:solidFill>
                  <a:srgbClr val="14255C"/>
                </a:solidFill>
                <a:latin typeface="Calibri"/>
              </a:rPr>
              <a:t>HONORABLE MENTIONS</a:t>
            </a:r>
          </a:p>
        </p:txBody>
      </p:sp>
      <p:sp>
        <p:nvSpPr>
          <p:cNvPr id="5" name="TextBox 4"/>
          <p:cNvSpPr txBox="1"/>
          <p:nvPr/>
        </p:nvSpPr>
        <p:spPr>
          <a:xfrm>
            <a:off x="4114800" y="3154680"/>
            <a:ext cx="3931920" cy="1920240"/>
          </a:xfrm>
          <a:prstGeom prst="rect">
            <a:avLst/>
          </a:prstGeom>
          <a:noFill/>
        </p:spPr>
        <p:txBody>
          <a:bodyPr wrap="square" lIns="0" tIns="0" rIns="0" bIns="0" anchor="t">
            <a:spAutoFit/>
          </a:bodyPr>
          <a:lstStyle/>
          <a:p>
            <a:pPr algn="ctr">
              <a:lnSpc>
                <a:spcPct val="105000"/>
              </a:lnSpc>
              <a:spcAft>
                <a:spcPts val="1000"/>
              </a:spcAft>
            </a:pPr>
            <a:r>
              <a:rPr sz="1400">
                <a:solidFill>
                  <a:srgbClr val="222733"/>
                </a:solidFill>
                <a:latin typeface="Calibri"/>
              </a:rPr>
              <a:t>Drew Woods</a:t>
            </a:r>
          </a:p>
          <a:p>
            <a:pPr algn="ctr">
              <a:lnSpc>
                <a:spcPct val="105000"/>
              </a:lnSpc>
              <a:spcAft>
                <a:spcPts val="1000"/>
              </a:spcAft>
            </a:pPr>
            <a:r>
              <a:rPr sz="1400">
                <a:solidFill>
                  <a:srgbClr val="222733"/>
                </a:solidFill>
                <a:latin typeface="Calibri"/>
              </a:rPr>
              <a:t>Jef Huang</a:t>
            </a:r>
          </a:p>
          <a:p>
            <a:pPr algn="ctr">
              <a:lnSpc>
                <a:spcPct val="105000"/>
              </a:lnSpc>
              <a:spcAft>
                <a:spcPts val="1000"/>
              </a:spcAft>
            </a:pPr>
            <a:r>
              <a:rPr sz="1400">
                <a:solidFill>
                  <a:srgbClr val="222733"/>
                </a:solidFill>
                <a:latin typeface="Calibri"/>
              </a:rPr>
              <a:t>Mey Ali</a:t>
            </a:r>
          </a:p>
          <a:p>
            <a:pPr algn="ctr">
              <a:lnSpc>
                <a:spcPct val="105000"/>
              </a:lnSpc>
              <a:spcAft>
                <a:spcPts val="1000"/>
              </a:spcAft>
            </a:pPr>
            <a:r>
              <a:rPr sz="1400">
                <a:solidFill>
                  <a:srgbClr val="222733"/>
                </a:solidFill>
                <a:latin typeface="Calibri"/>
              </a:rPr>
              <a:t>Noel Sandico</a:t>
            </a:r>
          </a:p>
          <a:p>
            <a:pPr algn="ctr">
              <a:lnSpc>
                <a:spcPct val="105000"/>
              </a:lnSpc>
              <a:spcAft>
                <a:spcPts val="1000"/>
              </a:spcAft>
            </a:pPr>
            <a:r>
              <a:rPr sz="1400">
                <a:solidFill>
                  <a:srgbClr val="222733"/>
                </a:solidFill>
                <a:latin typeface="Calibri"/>
              </a:rPr>
              <a:t>Rajavardhan Nagolu</a:t>
            </a:r>
          </a:p>
        </p:txBody>
      </p:sp>
      <p:sp>
        <p:nvSpPr>
          <p:cNvPr id="6" name="TextBox 5"/>
          <p:cNvSpPr txBox="1"/>
          <p:nvPr/>
        </p:nvSpPr>
        <p:spPr>
          <a:xfrm>
            <a:off x="0" y="5532120"/>
            <a:ext cx="12191695" cy="457200"/>
          </a:xfrm>
          <a:prstGeom prst="rect">
            <a:avLst/>
          </a:prstGeom>
          <a:noFill/>
        </p:spPr>
        <p:txBody>
          <a:bodyPr wrap="square" lIns="0" tIns="0" rIns="0" bIns="0" anchor="t">
            <a:spAutoFit/>
          </a:bodyPr>
          <a:lstStyle/>
          <a:p>
            <a:pPr algn="ctr">
              <a:lnSpc>
                <a:spcPct val="100000"/>
              </a:lnSpc>
            </a:pPr>
            <a:r>
              <a:rPr sz="1700" b="0" i="0">
                <a:solidFill>
                  <a:srgbClr val="FFFFFF"/>
                </a:solidFill>
                <a:latin typeface="Calibri"/>
              </a:rPr>
              <a:t>Questions?</a:t>
            </a:r>
          </a:p>
        </p:txBody>
      </p:sp>
      <p:cxnSp>
        <p:nvCxnSpPr>
          <p:cNvPr id="7" name="Connector 6"/>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6528816"/>
            <a:ext cx="548640" cy="274320"/>
          </a:xfrm>
          <a:prstGeom prst="rect">
            <a:avLst/>
          </a:prstGeom>
          <a:noFill/>
        </p:spPr>
        <p:txBody>
          <a:bodyPr wrap="square" lIns="0" tIns="0" rIns="0" bIns="0" anchor="t">
            <a:spAutoFit/>
          </a:bodyPr>
          <a:lstStyle/>
          <a:p>
            <a:pPr algn="l">
              <a:lnSpc>
                <a:spcPct val="100000"/>
              </a:lnSpc>
            </a:pPr>
            <a:r>
              <a:rPr sz="1050" b="0" i="0">
                <a:solidFill>
                  <a:srgbClr val="7C8493"/>
                </a:solidFill>
                <a:latin typeface="Calibri"/>
              </a:rPr>
              <a:t>17</a:t>
            </a:r>
          </a:p>
        </p:txBody>
      </p:sp>
      <p:sp>
        <p:nvSpPr>
          <p:cNvPr id="9" name="Block Arc 8"/>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22992" y="6473952"/>
            <a:ext cx="1554480" cy="201168"/>
          </a:xfrm>
          <a:prstGeom prst="rect">
            <a:avLst/>
          </a:prstGeom>
          <a:noFill/>
        </p:spPr>
        <p:txBody>
          <a:bodyPr wrap="square" lIns="0" tIns="0" rIns="0" bIns="0" anchor="t">
            <a:spAutoFit/>
          </a:bodyPr>
          <a:lstStyle/>
          <a:p>
            <a:pPr algn="l">
              <a:lnSpc>
                <a:spcPct val="100000"/>
              </a:lnSpc>
            </a:pPr>
            <a:r>
              <a:rPr sz="1050" b="1" i="0">
                <a:solidFill>
                  <a:srgbClr val="14255C"/>
                </a:solidFill>
                <a:latin typeface="Calibri"/>
              </a:rPr>
              <a:t>FARMERS</a:t>
            </a:r>
          </a:p>
        </p:txBody>
      </p:sp>
      <p:sp>
        <p:nvSpPr>
          <p:cNvPr id="11" name="TextBox 10"/>
          <p:cNvSpPr txBox="1"/>
          <p:nvPr/>
        </p:nvSpPr>
        <p:spPr>
          <a:xfrm>
            <a:off x="10222992" y="6647688"/>
            <a:ext cx="1554480" cy="182880"/>
          </a:xfrm>
          <a:prstGeom prst="rect">
            <a:avLst/>
          </a:prstGeom>
          <a:noFill/>
        </p:spPr>
        <p:txBody>
          <a:bodyPr wrap="square" lIns="0" tIns="0" rIns="0" bIns="0" anchor="t">
            <a:spAutoFit/>
          </a:bodyPr>
          <a:lstStyle/>
          <a:p>
            <a:pPr algn="l">
              <a:lnSpc>
                <a:spcPct val="100000"/>
              </a:lnSpc>
            </a:pPr>
            <a:r>
              <a:rPr sz="700" b="1" i="0">
                <a:solidFill>
                  <a:srgbClr val="7C8493"/>
                </a:solidFill>
                <a:latin typeface="Calibri"/>
              </a:rPr>
              <a:t>INSURANCE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TotalTime>
  <Words>3410</Words>
  <Application>Microsoft Office PowerPoint</Application>
  <PresentationFormat>Widescreen</PresentationFormat>
  <Paragraphs>386</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_Sneha _</cp:lastModifiedBy>
  <cp:revision>1</cp:revision>
  <dcterms:created xsi:type="dcterms:W3CDTF">2013-01-27T09:14:16Z</dcterms:created>
  <dcterms:modified xsi:type="dcterms:W3CDTF">2026-08-04T02:28:14Z</dcterms:modified>
  <cp:category/>
</cp:coreProperties>
</file>